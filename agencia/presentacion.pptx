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Fee del estudiante</c:v>
                </c:pt>
              </c:strCache>
            </c:strRef>
          </c:tx>
          <c:spPr>
            <a:solidFill>
              <a:srgbClr val="1B4D42"/>
            </a:solidFill>
            <a:effectLst/>
          </c:spPr>
          <c:invertIfNegative val="0"/>
          <c:dLbls>
            <c:numFmt formatCode="#,##0"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Escuela de inglés</c:v>
                  </c:pt>
                  <c:pt idx="1">
                    <c:v>Community college</c:v>
                  </c:pt>
                  <c:pt idx="2">
                    <c:v>Máster privado</c:v>
                  </c:pt>
                  <c:pt idx="3">
                    <c:v>Univ. privada (pathway)</c:v>
                  </c:pt>
                  <c:pt idx="4">
                    <c:v>Colegio internado</c:v>
                  </c:pt>
                </c:lvl>
              </c:multiLvlStrCache>
            </c:multiLvlStrRef>
          </c:cat>
          <c:val>
            <c:numRef>
              <c:f>Sheet1!$B$2:$B$6</c:f>
              <c:numCache>
                <c:formatCode>General</c:formatCode>
                <c:ptCount val="5"/>
                <c:pt idx="0">
                  <c:v>400</c:v>
                </c:pt>
                <c:pt idx="1">
                  <c:v>900</c:v>
                </c:pt>
                <c:pt idx="2">
                  <c:v>1500</c:v>
                </c:pt>
                <c:pt idx="3">
                  <c:v>1500</c:v>
                </c:pt>
                <c:pt idx="4">
                  <c:v>1200</c:v>
                </c:pt>
              </c:numCache>
            </c:numRef>
          </c:val>
        </c:ser>
        <c:ser>
          <c:idx val="1"/>
          <c:order val="1"/>
          <c:tx>
            <c:strRef>
              <c:f>Sheet1!$C$1</c:f>
              <c:strCache>
                <c:ptCount val="1"/>
                <c:pt idx="0">
                  <c:v>Comisión institucional</c:v>
                </c:pt>
              </c:strCache>
            </c:strRef>
          </c:tx>
          <c:spPr>
            <a:solidFill>
              <a:srgbClr val="6FA593"/>
            </a:solidFill>
            <a:effectLst/>
          </c:spPr>
          <c:invertIfNegative val="0"/>
          <c:dLbls>
            <c:numFmt formatCode="#,##0"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Escuela de inglés</c:v>
                  </c:pt>
                  <c:pt idx="1">
                    <c:v>Community college</c:v>
                  </c:pt>
                  <c:pt idx="2">
                    <c:v>Máster privado</c:v>
                  </c:pt>
                  <c:pt idx="3">
                    <c:v>Univ. privada (pathway)</c:v>
                  </c:pt>
                  <c:pt idx="4">
                    <c:v>Colegio internado</c:v>
                  </c:pt>
                </c:lvl>
              </c:multiLvlStrCache>
            </c:multiLvlStrRef>
          </c:cat>
          <c:val>
            <c:numRef>
              <c:f>Sheet1!$C$2:$C$6</c:f>
              <c:numCache>
                <c:formatCode>General</c:formatCode>
                <c:ptCount val="5"/>
                <c:pt idx="0">
                  <c:v>900</c:v>
                </c:pt>
                <c:pt idx="1">
                  <c:v>1400</c:v>
                </c:pt>
                <c:pt idx="2">
                  <c:v>4000</c:v>
                </c:pt>
                <c:pt idx="3">
                  <c:v>6000</c:v>
                </c:pt>
                <c:pt idx="4">
                  <c:v>6500</c:v>
                </c:pt>
              </c:numCache>
            </c:numRef>
          </c:val>
        </c:ser>
        <c:dLbls>
          <c:numFmt formatCode="#,##0"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86B63"/>
                </a:solidFill>
                <a:latin typeface="Calibri"/>
              </a:defRPr>
            </a:pPr>
            <a:endParaRPr lang="en-US"/>
          </a:p>
        </c:txPr>
        <c:crossAx val="2094734552"/>
        <c:crosses val="autoZero"/>
        <c:auto val="1"/>
        <c:lblAlgn val="ctr"/>
        <c:noMultiLvlLbl val="1"/>
      </c:catAx>
      <c:valAx>
        <c:axId val="2094734552"/>
        <c:scaling>
          <c:orientation val="minMax"/>
          <c:max val="8000"/>
        </c:scaling>
        <c:delete val="0"/>
        <c:axPos val="b"/>
        <c:majorGridlines>
          <c:spPr>
            <a:ln w="12700" cap="flat">
              <a:solidFill>
                <a:srgbClr val="C9D6D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586B63"/>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586B6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Conservador</c:v>
                </c:pt>
              </c:strCache>
            </c:strRef>
          </c:tx>
          <c:spPr>
            <a:solidFill>
              <a:srgbClr val="6FA593"/>
            </a:solidFill>
            <a:effectLst/>
          </c:spPr>
          <c:invertIfNegative val="0"/>
          <c:dLbls>
            <c:numFmt formatCode="$#,##0,&quot;k&quot;" sourceLinked="0"/>
            <c:txPr>
              <a:bodyPr/>
              <a:lstStyle/>
              <a:p>
                <a:pPr>
                  <a:defRPr b="0" i="0" strike="noStrike" sz="850" u="none">
                    <a:solidFill>
                      <a:srgbClr val="586B6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Año 1</c:v>
                  </c:pt>
                  <c:pt idx="1">
                    <c:v>Año 2</c:v>
                  </c:pt>
                  <c:pt idx="2">
                    <c:v>Año 3</c:v>
                  </c:pt>
                </c:lvl>
              </c:multiLvlStrCache>
            </c:multiLvlStrRef>
          </c:cat>
          <c:val>
            <c:numRef>
              <c:f>Sheet1!$B$2:$B$4</c:f>
              <c:numCache>
                <c:formatCode>General</c:formatCode>
                <c:ptCount val="3"/>
                <c:pt idx="0">
                  <c:v>29000</c:v>
                </c:pt>
                <c:pt idx="1">
                  <c:v>104000</c:v>
                </c:pt>
                <c:pt idx="2">
                  <c:v>248000</c:v>
                </c:pt>
              </c:numCache>
            </c:numRef>
          </c:val>
        </c:ser>
        <c:ser>
          <c:idx val="1"/>
          <c:order val="1"/>
          <c:tx>
            <c:strRef>
              <c:f>Sheet1!$C$1</c:f>
              <c:strCache>
                <c:ptCount val="1"/>
                <c:pt idx="0">
                  <c:v>Base</c:v>
                </c:pt>
              </c:strCache>
            </c:strRef>
          </c:tx>
          <c:spPr>
            <a:solidFill>
              <a:srgbClr val="1B4D42"/>
            </a:solidFill>
            <a:effectLst/>
          </c:spPr>
          <c:invertIfNegative val="0"/>
          <c:dLbls>
            <c:numFmt formatCode="$#,##0,&quot;k&quot;" sourceLinked="0"/>
            <c:txPr>
              <a:bodyPr/>
              <a:lstStyle/>
              <a:p>
                <a:pPr>
                  <a:defRPr b="0" i="0" strike="noStrike" sz="850" u="none">
                    <a:solidFill>
                      <a:srgbClr val="586B6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Año 1</c:v>
                  </c:pt>
                  <c:pt idx="1">
                    <c:v>Año 2</c:v>
                  </c:pt>
                  <c:pt idx="2">
                    <c:v>Año 3</c:v>
                  </c:pt>
                </c:lvl>
              </c:multiLvlStrCache>
            </c:multiLvlStrRef>
          </c:cat>
          <c:val>
            <c:numRef>
              <c:f>Sheet1!$C$2:$C$4</c:f>
              <c:numCache>
                <c:formatCode>General</c:formatCode>
                <c:ptCount val="3"/>
                <c:pt idx="0">
                  <c:v>52000</c:v>
                </c:pt>
                <c:pt idx="1">
                  <c:v>212000</c:v>
                </c:pt>
                <c:pt idx="2">
                  <c:v>530000</c:v>
                </c:pt>
              </c:numCache>
            </c:numRef>
          </c:val>
        </c:ser>
        <c:ser>
          <c:idx val="2"/>
          <c:order val="2"/>
          <c:tx>
            <c:strRef>
              <c:f>Sheet1!$D$1</c:f>
              <c:strCache>
                <c:ptCount val="1"/>
                <c:pt idx="0">
                  <c:v>Agresivo</c:v>
                </c:pt>
              </c:strCache>
            </c:strRef>
          </c:tx>
          <c:spPr>
            <a:solidFill>
              <a:srgbClr val="D99B2B"/>
            </a:solidFill>
            <a:effectLst/>
          </c:spPr>
          <c:invertIfNegative val="0"/>
          <c:dLbls>
            <c:numFmt formatCode="$#,##0,&quot;k&quot;" sourceLinked="0"/>
            <c:txPr>
              <a:bodyPr/>
              <a:lstStyle/>
              <a:p>
                <a:pPr>
                  <a:defRPr b="0" i="0" strike="noStrike" sz="850" u="none">
                    <a:solidFill>
                      <a:srgbClr val="586B6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Año 1</c:v>
                  </c:pt>
                  <c:pt idx="1">
                    <c:v>Año 2</c:v>
                  </c:pt>
                  <c:pt idx="2">
                    <c:v>Año 3</c:v>
                  </c:pt>
                </c:lvl>
              </c:multiLvlStrCache>
            </c:multiLvlStrRef>
          </c:cat>
          <c:val>
            <c:numRef>
              <c:f>Sheet1!$D$2:$D$4</c:f>
              <c:numCache>
                <c:formatCode>General</c:formatCode>
                <c:ptCount val="3"/>
                <c:pt idx="0">
                  <c:v>81000</c:v>
                </c:pt>
                <c:pt idx="1">
                  <c:v>367000</c:v>
                </c:pt>
                <c:pt idx="2">
                  <c:v>980000</c:v>
                </c:pt>
              </c:numCache>
            </c:numRef>
          </c:val>
        </c:ser>
        <c:dLbls>
          <c:numFmt formatCode="$#,##0,&quot;k&quot;" sourceLinked="0"/>
          <c:txPr>
            <a:bodyPr/>
            <a:lstStyle/>
            <a:p>
              <a:pPr>
                <a:defRPr b="0" i="0" strike="noStrike" sz="850" u="none">
                  <a:solidFill>
                    <a:srgbClr val="586B6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86B63"/>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C9D6D0"/>
              </a:solidFill>
              <a:prstDash val="solid"/>
              <a:round/>
            </a:ln>
          </c:spPr>
        </c:majorGridlines>
        <c:numFmt formatCode="$#,##0,&quot;k&quot;" sourceLinked="0"/>
        <c:majorTickMark val="out"/>
        <c:minorTickMark val="none"/>
        <c:tickLblPos val="nextTo"/>
        <c:spPr>
          <a:ln w="12700" cap="flat">
            <a:noFill/>
            <a:prstDash val="solid"/>
            <a:round/>
          </a:ln>
        </c:spPr>
        <c:txPr>
          <a:bodyPr/>
          <a:lstStyle/>
          <a:p>
            <a:pPr>
              <a:defRPr sz="900" b="0" i="0" u="none" strike="noStrike">
                <a:solidFill>
                  <a:srgbClr val="586B63"/>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586B6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Encuadre: esto no es una idea nueva, es la versión ordenada de algo que ya existe. El objetivo de hoy no es aprobarlo todo, es cerrar las decisiones de la última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frase que quiero que se les quede: nos vamos a matar consiguiendo contratos con instituciones, no consiguiendo estudiantes.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 donde la green card deja de ser un dato personal y pasa a ser el eje de la estructura.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Preguntarlo directamente y anotar la respuesta. Todo lo demás del reparto depende de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arrancáramos solo con comisiones, habría que financiar más de un año de operación con dinero propio.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que evita la ruptura del mes dieciocho, cuando uno haya traído el 70 % de los alumnos.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no es prudencia excesiva: es lo que nos permite pasar una auditoría de AIRC en el año 2 sin reconstruir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pidiendo fecha para la siguiente: la firma del acuerdo de fundadores.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25"/>
        </a:solidFill>
      </p:bgPr>
    </p:bg>
    <p:spTree>
      <p:nvGrpSpPr>
        <p:cNvPr id="1" name=""/>
        <p:cNvGrpSpPr/>
        <p:nvPr/>
      </p:nvGrpSpPr>
      <p:grpSpPr>
        <a:xfrm>
          <a:off x="0" y="0"/>
          <a:ext cx="0" cy="0"/>
          <a:chOff x="0" y="0"/>
          <a:chExt cx="0" cy="0"/>
        </a:xfrm>
      </p:grpSpPr>
      <p:sp>
        <p:nvSpPr>
          <p:cNvPr id="2" name="Text 0"/>
          <p:cNvSpPr txBox="1"/>
          <p:nvPr/>
        </p:nvSpPr>
        <p:spPr>
          <a:xfrm>
            <a:off x="640080" y="1417320"/>
            <a:ext cx="7680960" cy="2194560"/>
          </a:xfrm>
          <a:prstGeom prst="rect">
            <a:avLst/>
          </a:prstGeom>
          <a:noFill/>
          <a:ln/>
        </p:spPr>
        <p:txBody>
          <a:bodyPr wrap="square" lIns="0" tIns="0" rIns="0" bIns="0" rtlCol="0" anchor="ctr"/>
          <a:lstStyle/>
          <a:p>
            <a:pPr indent="0" marL="0">
              <a:lnSpc>
                <a:spcPts val="5200"/>
              </a:lnSpc>
              <a:buNone/>
            </a:pPr>
            <a:r>
              <a:rPr lang="en-US" sz="4800" b="1" dirty="0">
                <a:solidFill>
                  <a:srgbClr val="FFFFFF"/>
                </a:solidFill>
                <a:latin typeface="Cambria" pitchFamily="34" charset="0"/>
                <a:ea typeface="Cambria" pitchFamily="34" charset="-122"/>
                <a:cs typeface="Cambria" pitchFamily="34" charset="-120"/>
              </a:rPr>
              <a:t>Traer estudiantes</a:t>
            </a:r>
            <a:endParaRPr lang="en-US" sz="4800" dirty="0"/>
          </a:p>
          <a:p>
            <a:pPr indent="0" marL="0">
              <a:lnSpc>
                <a:spcPts val="5200"/>
              </a:lnSpc>
              <a:buNone/>
            </a:pPr>
            <a:r>
              <a:rPr lang="en-US" sz="4800" b="1" dirty="0">
                <a:solidFill>
                  <a:srgbClr val="FFFFFF"/>
                </a:solidFill>
                <a:latin typeface="Cambria" pitchFamily="34" charset="0"/>
                <a:ea typeface="Cambria" pitchFamily="34" charset="-122"/>
                <a:cs typeface="Cambria" pitchFamily="34" charset="-120"/>
              </a:rPr>
              <a:t>a Estados Unidos</a:t>
            </a:r>
            <a:endParaRPr lang="en-US" sz="4800" dirty="0"/>
          </a:p>
        </p:txBody>
      </p:sp>
      <p:sp>
        <p:nvSpPr>
          <p:cNvPr id="3" name="Text 1"/>
          <p:cNvSpPr txBox="1"/>
          <p:nvPr/>
        </p:nvSpPr>
        <p:spPr>
          <a:xfrm>
            <a:off x="640080" y="3749040"/>
            <a:ext cx="7680960" cy="365760"/>
          </a:xfrm>
          <a:prstGeom prst="rect">
            <a:avLst/>
          </a:prstGeom>
          <a:noFill/>
          <a:ln/>
        </p:spPr>
        <p:txBody>
          <a:bodyPr wrap="square" lIns="0" tIns="0" rIns="0" bIns="0" rtlCol="0" anchor="ctr"/>
          <a:lstStyle/>
          <a:p>
            <a:pPr indent="0" marL="0">
              <a:buNone/>
            </a:pPr>
            <a:r>
              <a:rPr lang="en-US" sz="1700" dirty="0">
                <a:solidFill>
                  <a:srgbClr val="D99B2B"/>
                </a:solidFill>
                <a:latin typeface="Calibri" pitchFamily="34" charset="0"/>
                <a:ea typeface="Calibri" pitchFamily="34" charset="-122"/>
                <a:cs typeface="Calibri" pitchFamily="34" charset="-120"/>
              </a:rPr>
              <a:t>Plan fundacional de la agencia · Borrador 1</a:t>
            </a:r>
            <a:endParaRPr lang="en-US" sz="1700" dirty="0"/>
          </a:p>
        </p:txBody>
      </p:sp>
      <p:sp>
        <p:nvSpPr>
          <p:cNvPr id="4" name="Text 2"/>
          <p:cNvSpPr txBox="1"/>
          <p:nvPr/>
        </p:nvSpPr>
        <p:spPr>
          <a:xfrm>
            <a:off x="640080" y="4224528"/>
            <a:ext cx="7680960" cy="822960"/>
          </a:xfrm>
          <a:prstGeom prst="rect">
            <a:avLst/>
          </a:prstGeom>
          <a:noFill/>
          <a:ln/>
        </p:spPr>
        <p:txBody>
          <a:bodyPr wrap="square" lIns="0" tIns="0" rIns="0" bIns="0" rtlCol="0" anchor="ctr"/>
          <a:lstStyle/>
          <a:p>
            <a:pPr indent="0" marL="0">
              <a:lnSpc>
                <a:spcPts val="2200"/>
              </a:lnSpc>
              <a:buNone/>
            </a:pPr>
            <a:r>
              <a:rPr lang="en-US" sz="1400" dirty="0">
                <a:solidFill>
                  <a:srgbClr val="E9F0EC"/>
                </a:solidFill>
                <a:latin typeface="Calibri" pitchFamily="34" charset="0"/>
                <a:ea typeface="Calibri" pitchFamily="34" charset="-122"/>
                <a:cs typeface="Calibri" pitchFamily="34" charset="-120"/>
              </a:rPr>
              <a:t>España · México · Chile  →  Estados Unidos</a:t>
            </a:r>
            <a:endParaRPr lang="en-US" sz="1400" dirty="0"/>
          </a:p>
          <a:p>
            <a:pPr indent="0" marL="0">
              <a:lnSpc>
                <a:spcPts val="2200"/>
              </a:lnSpc>
              <a:buNone/>
            </a:pPr>
            <a:r>
              <a:rPr lang="en-US" sz="1400" dirty="0">
                <a:solidFill>
                  <a:srgbClr val="E9F0EC"/>
                </a:solidFill>
                <a:latin typeface="Calibri" pitchFamily="34" charset="0"/>
                <a:ea typeface="Calibri" pitchFamily="34" charset="-122"/>
                <a:cs typeface="Calibri" pitchFamily="34" charset="-120"/>
              </a:rPr>
              <a:t>Tres socios, un mercado cada uno, una entidad en EE. UU.</a:t>
            </a:r>
            <a:endParaRPr lang="en-US" sz="1400" dirty="0"/>
          </a:p>
        </p:txBody>
      </p:sp>
      <p:sp>
        <p:nvSpPr>
          <p:cNvPr id="5" name="Shape 3"/>
          <p:cNvSpPr/>
          <p:nvPr/>
        </p:nvSpPr>
        <p:spPr>
          <a:xfrm>
            <a:off x="9601200" y="1737360"/>
            <a:ext cx="713232" cy="713232"/>
          </a:xfrm>
          <a:prstGeom prst="ellipse">
            <a:avLst/>
          </a:prstGeom>
          <a:solidFill>
            <a:srgbClr val="1B4D42"/>
          </a:solidFill>
          <a:ln/>
        </p:spPr>
      </p:sp>
      <p:sp>
        <p:nvSpPr>
          <p:cNvPr id="6" name="Text 4"/>
          <p:cNvSpPr txBox="1"/>
          <p:nvPr/>
        </p:nvSpPr>
        <p:spPr>
          <a:xfrm>
            <a:off x="9601200" y="1737360"/>
            <a:ext cx="713232"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a:t>
            </a:r>
            <a:endParaRPr lang="en-US" sz="1400" dirty="0"/>
          </a:p>
        </p:txBody>
      </p:sp>
      <p:sp>
        <p:nvSpPr>
          <p:cNvPr id="7" name="Shape 5"/>
          <p:cNvSpPr/>
          <p:nvPr/>
        </p:nvSpPr>
        <p:spPr>
          <a:xfrm>
            <a:off x="9601200" y="2880360"/>
            <a:ext cx="713232" cy="713232"/>
          </a:xfrm>
          <a:prstGeom prst="ellipse">
            <a:avLst/>
          </a:prstGeom>
          <a:solidFill>
            <a:srgbClr val="D99B2B"/>
          </a:solidFill>
          <a:ln/>
        </p:spPr>
      </p:sp>
      <p:sp>
        <p:nvSpPr>
          <p:cNvPr id="8" name="Text 6"/>
          <p:cNvSpPr txBox="1"/>
          <p:nvPr/>
        </p:nvSpPr>
        <p:spPr>
          <a:xfrm>
            <a:off x="9601200" y="2880360"/>
            <a:ext cx="713232" cy="713232"/>
          </a:xfrm>
          <a:prstGeom prst="rect">
            <a:avLst/>
          </a:prstGeom>
          <a:noFill/>
          <a:ln/>
        </p:spPr>
        <p:txBody>
          <a:bodyPr wrap="square" lIns="0" tIns="0" rIns="0" bIns="0" rtlCol="0" anchor="ctr"/>
          <a:lstStyle/>
          <a:p>
            <a:pPr algn="ctr" indent="0" marL="0">
              <a:buNone/>
            </a:pPr>
            <a:r>
              <a:rPr lang="en-US" sz="1400" b="1" dirty="0">
                <a:solidFill>
                  <a:srgbClr val="0F2A25"/>
                </a:solidFill>
                <a:latin typeface="Calibri" pitchFamily="34" charset="0"/>
                <a:ea typeface="Calibri" pitchFamily="34" charset="-122"/>
                <a:cs typeface="Calibri" pitchFamily="34" charset="-120"/>
              </a:rPr>
              <a:t>MX</a:t>
            </a:r>
            <a:endParaRPr lang="en-US" sz="1400" dirty="0"/>
          </a:p>
        </p:txBody>
      </p:sp>
      <p:sp>
        <p:nvSpPr>
          <p:cNvPr id="9" name="Shape 7"/>
          <p:cNvSpPr/>
          <p:nvPr/>
        </p:nvSpPr>
        <p:spPr>
          <a:xfrm>
            <a:off x="9601200" y="4023360"/>
            <a:ext cx="713232" cy="713232"/>
          </a:xfrm>
          <a:prstGeom prst="ellipse">
            <a:avLst/>
          </a:prstGeom>
          <a:solidFill>
            <a:srgbClr val="1B4D42"/>
          </a:solidFill>
          <a:ln/>
        </p:spPr>
      </p:sp>
      <p:sp>
        <p:nvSpPr>
          <p:cNvPr id="10" name="Text 8"/>
          <p:cNvSpPr txBox="1"/>
          <p:nvPr/>
        </p:nvSpPr>
        <p:spPr>
          <a:xfrm>
            <a:off x="9601200" y="4023360"/>
            <a:ext cx="713232"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a:t>
            </a:r>
            <a:endParaRPr lang="en-US" sz="1400" dirty="0"/>
          </a:p>
        </p:txBody>
      </p:sp>
      <p:sp>
        <p:nvSpPr>
          <p:cNvPr id="11" name="Shape 9"/>
          <p:cNvSpPr/>
          <p:nvPr/>
        </p:nvSpPr>
        <p:spPr>
          <a:xfrm>
            <a:off x="9957816" y="2450592"/>
            <a:ext cx="0" cy="429768"/>
          </a:xfrm>
          <a:prstGeom prst="line">
            <a:avLst/>
          </a:prstGeom>
          <a:noFill/>
          <a:ln w="19050">
            <a:solidFill>
              <a:srgbClr val="6FA593"/>
            </a:solidFill>
            <a:prstDash val="solid"/>
          </a:ln>
        </p:spPr>
      </p:sp>
      <p:sp>
        <p:nvSpPr>
          <p:cNvPr id="12" name="Shape 10"/>
          <p:cNvSpPr/>
          <p:nvPr/>
        </p:nvSpPr>
        <p:spPr>
          <a:xfrm>
            <a:off x="9957816" y="3593592"/>
            <a:ext cx="0" cy="429768"/>
          </a:xfrm>
          <a:prstGeom prst="line">
            <a:avLst/>
          </a:prstGeom>
          <a:noFill/>
          <a:ln w="19050">
            <a:solidFill>
              <a:srgbClr val="6FA593"/>
            </a:solidFill>
            <a:prstDash val="solid"/>
          </a:ln>
        </p:spPr>
      </p:sp>
      <p:sp>
        <p:nvSpPr>
          <p:cNvPr id="13" name="Text 11"/>
          <p:cNvSpPr txBox="1"/>
          <p:nvPr/>
        </p:nvSpPr>
        <p:spPr>
          <a:xfrm>
            <a:off x="640080" y="5989320"/>
            <a:ext cx="4572000" cy="274320"/>
          </a:xfrm>
          <a:prstGeom prst="rect">
            <a:avLst/>
          </a:prstGeom>
          <a:noFill/>
          <a:ln/>
        </p:spPr>
        <p:txBody>
          <a:bodyPr wrap="square" lIns="0" tIns="0" rIns="0" bIns="0" rtlCol="0" anchor="ctr"/>
          <a:lstStyle/>
          <a:p>
            <a:pPr indent="0" marL="0">
              <a:buNone/>
            </a:pPr>
            <a:r>
              <a:rPr lang="en-US" sz="1100" spc="150" kern="0" dirty="0">
                <a:solidFill>
                  <a:srgbClr val="6FA593"/>
                </a:solidFill>
                <a:latin typeface="Calibri" pitchFamily="34" charset="0"/>
                <a:ea typeface="Calibri" pitchFamily="34" charset="-122"/>
                <a:cs typeface="Calibri" pitchFamily="34" charset="-120"/>
              </a:rPr>
              <a:t>Septiembre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2A25"/>
        </a:solidFill>
      </p:bgPr>
    </p:bg>
    <p:spTree>
      <p:nvGrpSpPr>
        <p:cNvPr id="1" name=""/>
        <p:cNvGrpSpPr/>
        <p:nvPr/>
      </p:nvGrpSpPr>
      <p:grpSpPr>
        <a:xfrm>
          <a:off x="0" y="0"/>
          <a:ext cx="0" cy="0"/>
          <a:chOff x="0" y="0"/>
          <a:chExt cx="0" cy="0"/>
        </a:xfrm>
      </p:grpSpPr>
      <p:sp>
        <p:nvSpPr>
          <p:cNvPr id="2" name="Text 0"/>
          <p:cNvSpPr txBox="1"/>
          <p:nvPr/>
        </p:nvSpPr>
        <p:spPr>
          <a:xfrm>
            <a:off x="640080" y="685800"/>
            <a:ext cx="7315200" cy="228600"/>
          </a:xfrm>
          <a:prstGeom prst="rect">
            <a:avLst/>
          </a:prstGeom>
          <a:noFill/>
          <a:ln/>
        </p:spPr>
        <p:txBody>
          <a:bodyPr wrap="square" lIns="0" tIns="0" rIns="0" bIns="0" rtlCol="0" anchor="ctr"/>
          <a:lstStyle/>
          <a:p>
            <a:pPr indent="0" marL="0">
              <a:buNone/>
            </a:pPr>
            <a:r>
              <a:rPr lang="en-US" sz="1100" b="1" spc="200" kern="0" dirty="0">
                <a:solidFill>
                  <a:srgbClr val="6FA593"/>
                </a:solidFill>
                <a:latin typeface="Calibri" pitchFamily="34" charset="0"/>
                <a:ea typeface="Calibri" pitchFamily="34" charset="-122"/>
                <a:cs typeface="Calibri" pitchFamily="34" charset="-120"/>
              </a:rPr>
              <a:t>EL PUNTO DE PARTIDA</a:t>
            </a:r>
            <a:endParaRPr lang="en-US" sz="1100" dirty="0"/>
          </a:p>
        </p:txBody>
      </p:sp>
      <p:sp>
        <p:nvSpPr>
          <p:cNvPr id="3" name="Text 1"/>
          <p:cNvSpPr txBox="1"/>
          <p:nvPr/>
        </p:nvSpPr>
        <p:spPr>
          <a:xfrm>
            <a:off x="640080" y="1051560"/>
            <a:ext cx="6949440" cy="146304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El activo escaso no es</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el estudiante.</a:t>
            </a:r>
            <a:endParaRPr lang="en-US" sz="3800" dirty="0"/>
          </a:p>
        </p:txBody>
      </p:sp>
      <p:sp>
        <p:nvSpPr>
          <p:cNvPr id="4" name="Text 2"/>
          <p:cNvSpPr txBox="1"/>
          <p:nvPr/>
        </p:nvSpPr>
        <p:spPr>
          <a:xfrm>
            <a:off x="640080" y="2697480"/>
            <a:ext cx="6309360" cy="1371600"/>
          </a:xfrm>
          <a:prstGeom prst="rect">
            <a:avLst/>
          </a:prstGeom>
          <a:noFill/>
          <a:ln/>
        </p:spPr>
        <p:txBody>
          <a:bodyPr wrap="square" lIns="0" tIns="0" rIns="0" bIns="0" rtlCol="0" anchor="ctr"/>
          <a:lstStyle/>
          <a:p>
            <a:pPr indent="0" marL="0">
              <a:lnSpc>
                <a:spcPts val="2400"/>
              </a:lnSpc>
              <a:buNone/>
            </a:pPr>
            <a:r>
              <a:rPr lang="en-US" sz="1500" dirty="0">
                <a:solidFill>
                  <a:srgbClr val="E9F0EC"/>
                </a:solidFill>
                <a:latin typeface="Calibri" pitchFamily="34" charset="0"/>
                <a:ea typeface="Calibri" pitchFamily="34" charset="-122"/>
                <a:cs typeface="Calibri" pitchFamily="34" charset="-120"/>
              </a:rPr>
              <a:t>Estudiantes hay de sobra. Lo escaso es el contrato de representación con la institución estadounidense — porque es lo que convierte a un estudiante en dinero recurrente, y lo que nos separa de ser tres asesores cobrando por hora.</a:t>
            </a:r>
            <a:endParaRPr lang="en-US" sz="1500" dirty="0"/>
          </a:p>
        </p:txBody>
      </p:sp>
      <p:sp>
        <p:nvSpPr>
          <p:cNvPr id="5" name="Text 3"/>
          <p:cNvSpPr txBox="1"/>
          <p:nvPr/>
        </p:nvSpPr>
        <p:spPr>
          <a:xfrm>
            <a:off x="640080" y="4114800"/>
            <a:ext cx="6309360" cy="822960"/>
          </a:xfrm>
          <a:prstGeom prst="rect">
            <a:avLst/>
          </a:prstGeom>
          <a:noFill/>
          <a:ln/>
        </p:spPr>
        <p:txBody>
          <a:bodyPr wrap="square" lIns="0" tIns="0" rIns="0" bIns="0" rtlCol="0" anchor="ctr"/>
          <a:lstStyle/>
          <a:p>
            <a:pPr indent="0" marL="0">
              <a:lnSpc>
                <a:spcPts val="2400"/>
              </a:lnSpc>
              <a:buNone/>
            </a:pPr>
            <a:r>
              <a:rPr lang="en-US" sz="1500" b="1" dirty="0">
                <a:solidFill>
                  <a:srgbClr val="D99B2B"/>
                </a:solidFill>
                <a:latin typeface="Calibri" pitchFamily="34" charset="0"/>
                <a:ea typeface="Calibri" pitchFamily="34" charset="-122"/>
                <a:cs typeface="Calibri" pitchFamily="34" charset="-120"/>
              </a:rPr>
              <a:t>Ese contrato solo lo firma una entidad de EE. UU., con cuenta bancaria de EE. UU. y una persona con estatus para ser dueña de ella.</a:t>
            </a:r>
            <a:endParaRPr lang="en-US" sz="1500" dirty="0"/>
          </a:p>
        </p:txBody>
      </p:sp>
      <p:sp>
        <p:nvSpPr>
          <p:cNvPr id="6" name="Text 4"/>
          <p:cNvSpPr txBox="1"/>
          <p:nvPr/>
        </p:nvSpPr>
        <p:spPr>
          <a:xfrm>
            <a:off x="7863840" y="1371600"/>
            <a:ext cx="3657600" cy="594360"/>
          </a:xfrm>
          <a:prstGeom prst="rect">
            <a:avLst/>
          </a:prstGeom>
          <a:noFill/>
          <a:ln/>
        </p:spPr>
        <p:txBody>
          <a:bodyPr wrap="square" lIns="0" tIns="0" rIns="0" bIns="0" rtlCol="0" anchor="ctr"/>
          <a:lstStyle/>
          <a:p>
            <a:pPr indent="0" marL="0">
              <a:buNone/>
            </a:pPr>
            <a:r>
              <a:rPr lang="en-US" sz="3400" b="1" dirty="0">
                <a:solidFill>
                  <a:srgbClr val="D99B2B"/>
                </a:solidFill>
                <a:latin typeface="Cambria" pitchFamily="34" charset="0"/>
                <a:ea typeface="Cambria" pitchFamily="34" charset="-122"/>
                <a:cs typeface="Cambria" pitchFamily="34" charset="-120"/>
              </a:rPr>
              <a:t>≈ 15.000</a:t>
            </a:r>
            <a:endParaRPr lang="en-US" sz="3400" dirty="0"/>
          </a:p>
        </p:txBody>
      </p:sp>
      <p:sp>
        <p:nvSpPr>
          <p:cNvPr id="7" name="Text 5"/>
          <p:cNvSpPr txBox="1"/>
          <p:nvPr/>
        </p:nvSpPr>
        <p:spPr>
          <a:xfrm>
            <a:off x="7863840" y="1938528"/>
            <a:ext cx="3657600" cy="457200"/>
          </a:xfrm>
          <a:prstGeom prst="rect">
            <a:avLst/>
          </a:prstGeom>
          <a:noFill/>
          <a:ln/>
        </p:spPr>
        <p:txBody>
          <a:bodyPr wrap="square" lIns="0" tIns="0" rIns="0" bIns="0" rtlCol="0" anchor="ctr"/>
          <a:lstStyle/>
          <a:p>
            <a:pPr indent="0" marL="0">
              <a:buNone/>
            </a:pPr>
            <a:r>
              <a:rPr lang="en-US" sz="1200" dirty="0">
                <a:solidFill>
                  <a:srgbClr val="E9F0EC"/>
                </a:solidFill>
                <a:latin typeface="Calibri" pitchFamily="34" charset="0"/>
                <a:ea typeface="Calibri" pitchFamily="34" charset="-122"/>
                <a:cs typeface="Calibri" pitchFamily="34" charset="-120"/>
              </a:rPr>
              <a:t>estudiantes mexicanos al año</a:t>
            </a:r>
            <a:endParaRPr lang="en-US" sz="1200" dirty="0"/>
          </a:p>
        </p:txBody>
      </p:sp>
      <p:sp>
        <p:nvSpPr>
          <p:cNvPr id="8" name="Text 6"/>
          <p:cNvSpPr txBox="1"/>
          <p:nvPr/>
        </p:nvSpPr>
        <p:spPr>
          <a:xfrm>
            <a:off x="7863840" y="2788920"/>
            <a:ext cx="3657600" cy="594360"/>
          </a:xfrm>
          <a:prstGeom prst="rect">
            <a:avLst/>
          </a:prstGeom>
          <a:noFill/>
          <a:ln/>
        </p:spPr>
        <p:txBody>
          <a:bodyPr wrap="square" lIns="0" tIns="0" rIns="0" bIns="0" rtlCol="0" anchor="ctr"/>
          <a:lstStyle/>
          <a:p>
            <a:pPr indent="0" marL="0">
              <a:buNone/>
            </a:pPr>
            <a:r>
              <a:rPr lang="en-US" sz="3400" b="1" dirty="0">
                <a:solidFill>
                  <a:srgbClr val="D99B2B"/>
                </a:solidFill>
                <a:latin typeface="Cambria" pitchFamily="34" charset="0"/>
                <a:ea typeface="Cambria" pitchFamily="34" charset="-122"/>
                <a:cs typeface="Cambria" pitchFamily="34" charset="-120"/>
              </a:rPr>
              <a:t>≈ 6.000</a:t>
            </a:r>
            <a:endParaRPr lang="en-US" sz="3400" dirty="0"/>
          </a:p>
        </p:txBody>
      </p:sp>
      <p:sp>
        <p:nvSpPr>
          <p:cNvPr id="9" name="Text 7"/>
          <p:cNvSpPr txBox="1"/>
          <p:nvPr/>
        </p:nvSpPr>
        <p:spPr>
          <a:xfrm>
            <a:off x="7863840" y="3355848"/>
            <a:ext cx="3657600" cy="457200"/>
          </a:xfrm>
          <a:prstGeom prst="rect">
            <a:avLst/>
          </a:prstGeom>
          <a:noFill/>
          <a:ln/>
        </p:spPr>
        <p:txBody>
          <a:bodyPr wrap="square" lIns="0" tIns="0" rIns="0" bIns="0" rtlCol="0" anchor="ctr"/>
          <a:lstStyle/>
          <a:p>
            <a:pPr indent="0" marL="0">
              <a:buNone/>
            </a:pPr>
            <a:r>
              <a:rPr lang="en-US" sz="1200" dirty="0">
                <a:solidFill>
                  <a:srgbClr val="E9F0EC"/>
                </a:solidFill>
                <a:latin typeface="Calibri" pitchFamily="34" charset="0"/>
                <a:ea typeface="Calibri" pitchFamily="34" charset="-122"/>
                <a:cs typeface="Calibri" pitchFamily="34" charset="-120"/>
              </a:rPr>
              <a:t>estudiantes españoles al año</a:t>
            </a:r>
            <a:endParaRPr lang="en-US" sz="1200" dirty="0"/>
          </a:p>
        </p:txBody>
      </p:sp>
      <p:sp>
        <p:nvSpPr>
          <p:cNvPr id="10" name="Text 8"/>
          <p:cNvSpPr txBox="1"/>
          <p:nvPr/>
        </p:nvSpPr>
        <p:spPr>
          <a:xfrm>
            <a:off x="7863840" y="4206240"/>
            <a:ext cx="3657600" cy="594360"/>
          </a:xfrm>
          <a:prstGeom prst="rect">
            <a:avLst/>
          </a:prstGeom>
          <a:noFill/>
          <a:ln/>
        </p:spPr>
        <p:txBody>
          <a:bodyPr wrap="square" lIns="0" tIns="0" rIns="0" bIns="0" rtlCol="0" anchor="ctr"/>
          <a:lstStyle/>
          <a:p>
            <a:pPr indent="0" marL="0">
              <a:buNone/>
            </a:pPr>
            <a:r>
              <a:rPr lang="en-US" sz="3400" b="1" dirty="0">
                <a:solidFill>
                  <a:srgbClr val="D99B2B"/>
                </a:solidFill>
                <a:latin typeface="Cambria" pitchFamily="34" charset="0"/>
                <a:ea typeface="Cambria" pitchFamily="34" charset="-122"/>
                <a:cs typeface="Cambria" pitchFamily="34" charset="-120"/>
              </a:rPr>
              <a:t>≈ 2.500</a:t>
            </a:r>
            <a:endParaRPr lang="en-US" sz="3400" dirty="0"/>
          </a:p>
        </p:txBody>
      </p:sp>
      <p:sp>
        <p:nvSpPr>
          <p:cNvPr id="11" name="Text 9"/>
          <p:cNvSpPr txBox="1"/>
          <p:nvPr/>
        </p:nvSpPr>
        <p:spPr>
          <a:xfrm>
            <a:off x="7863840" y="4773168"/>
            <a:ext cx="3657600" cy="457200"/>
          </a:xfrm>
          <a:prstGeom prst="rect">
            <a:avLst/>
          </a:prstGeom>
          <a:noFill/>
          <a:ln/>
        </p:spPr>
        <p:txBody>
          <a:bodyPr wrap="square" lIns="0" tIns="0" rIns="0" bIns="0" rtlCol="0" anchor="ctr"/>
          <a:lstStyle/>
          <a:p>
            <a:pPr indent="0" marL="0">
              <a:buNone/>
            </a:pPr>
            <a:r>
              <a:rPr lang="en-US" sz="1200" dirty="0">
                <a:solidFill>
                  <a:srgbClr val="E9F0EC"/>
                </a:solidFill>
                <a:latin typeface="Calibri" pitchFamily="34" charset="0"/>
                <a:ea typeface="Calibri" pitchFamily="34" charset="-122"/>
                <a:cs typeface="Calibri" pitchFamily="34" charset="-120"/>
              </a:rPr>
              <a:t>estudiantes chilenos al año</a:t>
            </a:r>
            <a:endParaRPr lang="en-US" sz="1200" dirty="0"/>
          </a:p>
        </p:txBody>
      </p:sp>
      <p:sp>
        <p:nvSpPr>
          <p:cNvPr id="12" name="Text 10"/>
          <p:cNvSpPr txBox="1"/>
          <p:nvPr/>
        </p:nvSpPr>
        <p:spPr>
          <a:xfrm>
            <a:off x="7863840" y="5669280"/>
            <a:ext cx="3749040" cy="457200"/>
          </a:xfrm>
          <a:prstGeom prst="rect">
            <a:avLst/>
          </a:prstGeom>
          <a:noFill/>
          <a:ln/>
        </p:spPr>
        <p:txBody>
          <a:bodyPr wrap="square" lIns="0" tIns="0" rIns="0" bIns="0" rtlCol="0" anchor="ctr"/>
          <a:lstStyle/>
          <a:p>
            <a:pPr indent="0" marL="0">
              <a:buNone/>
            </a:pPr>
            <a:r>
              <a:rPr lang="en-US" sz="950" i="1" dirty="0">
                <a:solidFill>
                  <a:srgbClr val="6FA593"/>
                </a:solidFill>
                <a:latin typeface="Calibri" pitchFamily="34" charset="0"/>
                <a:ea typeface="Calibri" pitchFamily="34" charset="-122"/>
                <a:cs typeface="Calibri" pitchFamily="34" charset="-120"/>
              </a:rPr>
              <a:t>Órdenes de magnitud. Verificar en Open Doors (IIE) antes de usarlos fuera.</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28600"/>
          </a:xfrm>
          <a:prstGeom prst="rect">
            <a:avLst/>
          </a:prstGeom>
          <a:noFill/>
          <a:ln/>
        </p:spPr>
        <p:txBody>
          <a:bodyPr wrap="square" lIns="0" tIns="0" rIns="0" bIns="0" rtlCol="0" anchor="ctr"/>
          <a:lstStyle/>
          <a:p>
            <a:pPr indent="0" marL="0">
              <a:buNone/>
            </a:pPr>
            <a:r>
              <a:rPr lang="en-US" sz="1100" b="1" spc="200" kern="0" dirty="0">
                <a:solidFill>
                  <a:srgbClr val="6FA593"/>
                </a:solidFill>
                <a:latin typeface="Calibri" pitchFamily="34" charset="0"/>
                <a:ea typeface="Calibri" pitchFamily="34" charset="-122"/>
                <a:cs typeface="Calibri" pitchFamily="34" charset="-120"/>
              </a:rPr>
              <a:t>QUIÉNES SOMOS</a:t>
            </a:r>
            <a:endParaRPr lang="en-US" sz="1100" dirty="0"/>
          </a:p>
        </p:txBody>
      </p:sp>
      <p:sp>
        <p:nvSpPr>
          <p:cNvPr id="3" name="Text 1"/>
          <p:cNvSpPr txBox="1"/>
          <p:nvPr/>
        </p:nvSpPr>
        <p:spPr>
          <a:xfrm>
            <a:off x="640080" y="621792"/>
            <a:ext cx="10911535" cy="658368"/>
          </a:xfrm>
          <a:prstGeom prst="rect">
            <a:avLst/>
          </a:prstGeom>
          <a:noFill/>
          <a:ln/>
        </p:spPr>
        <p:txBody>
          <a:bodyPr wrap="square" lIns="0" tIns="0" rIns="0" bIns="0" rtlCol="0" anchor="t"/>
          <a:lstStyle/>
          <a:p>
            <a:pPr indent="0" marL="0">
              <a:buNone/>
            </a:pPr>
            <a:r>
              <a:rPr lang="en-US" sz="3000" b="1" dirty="0">
                <a:solidFill>
                  <a:srgbClr val="1B4D42"/>
                </a:solidFill>
                <a:latin typeface="Cambria" pitchFamily="34" charset="0"/>
                <a:ea typeface="Cambria" pitchFamily="34" charset="-122"/>
                <a:cs typeface="Cambria" pitchFamily="34" charset="-120"/>
              </a:rPr>
              <a:t>Un socio por mercado, y uno dentro del sistema</a:t>
            </a:r>
            <a:endParaRPr lang="en-US" sz="3000" dirty="0"/>
          </a:p>
        </p:txBody>
      </p:sp>
      <p:sp>
        <p:nvSpPr>
          <p:cNvPr id="4" name="Shape 2"/>
          <p:cNvSpPr/>
          <p:nvPr/>
        </p:nvSpPr>
        <p:spPr>
          <a:xfrm>
            <a:off x="640080" y="1572768"/>
            <a:ext cx="3520440" cy="3977640"/>
          </a:xfrm>
          <a:prstGeom prst="roundRect">
            <a:avLst>
              <a:gd name="adj" fmla="val 1558"/>
            </a:avLst>
          </a:prstGeom>
          <a:solidFill>
            <a:srgbClr val="EAF0ED"/>
          </a:solidFill>
          <a:ln w="12700">
            <a:solidFill>
              <a:srgbClr val="EAF0ED"/>
            </a:solidFill>
            <a:prstDash val="solid"/>
          </a:ln>
        </p:spPr>
      </p:sp>
      <p:sp>
        <p:nvSpPr>
          <p:cNvPr id="5" name="Shape 3"/>
          <p:cNvSpPr/>
          <p:nvPr/>
        </p:nvSpPr>
        <p:spPr>
          <a:xfrm>
            <a:off x="914400" y="1828800"/>
            <a:ext cx="566928" cy="566928"/>
          </a:xfrm>
          <a:prstGeom prst="ellipse">
            <a:avLst/>
          </a:prstGeom>
          <a:solidFill>
            <a:srgbClr val="1B4D42"/>
          </a:solidFill>
          <a:ln/>
        </p:spPr>
      </p:sp>
      <p:sp>
        <p:nvSpPr>
          <p:cNvPr id="6" name="Text 4"/>
          <p:cNvSpPr txBox="1"/>
          <p:nvPr/>
        </p:nvSpPr>
        <p:spPr>
          <a:xfrm>
            <a:off x="914400" y="18288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a:t>
            </a:r>
            <a:endParaRPr lang="en-US" sz="1400" dirty="0"/>
          </a:p>
        </p:txBody>
      </p:sp>
      <p:sp>
        <p:nvSpPr>
          <p:cNvPr id="7" name="Text 5"/>
          <p:cNvSpPr txBox="1"/>
          <p:nvPr/>
        </p:nvSpPr>
        <p:spPr>
          <a:xfrm>
            <a:off x="914400" y="2514600"/>
            <a:ext cx="2971800" cy="274320"/>
          </a:xfrm>
          <a:prstGeom prst="rect">
            <a:avLst/>
          </a:prstGeom>
          <a:noFill/>
          <a:ln/>
        </p:spPr>
        <p:txBody>
          <a:bodyPr wrap="square" lIns="0" tIns="0" rIns="0" bIns="0" rtlCol="0" anchor="ctr"/>
          <a:lstStyle/>
          <a:p>
            <a:pPr indent="0" marL="0">
              <a:buNone/>
            </a:pPr>
            <a:r>
              <a:rPr lang="en-US" sz="950" b="1" spc="120" kern="0" dirty="0">
                <a:solidFill>
                  <a:srgbClr val="6FA593"/>
                </a:solidFill>
                <a:latin typeface="Calibri" pitchFamily="34" charset="0"/>
                <a:ea typeface="Calibri" pitchFamily="34" charset="-122"/>
                <a:cs typeface="Calibri" pitchFamily="34" charset="-120"/>
              </a:rPr>
              <a:t>SOCIO ESPAÑOL</a:t>
            </a:r>
            <a:endParaRPr lang="en-US" sz="950" dirty="0"/>
          </a:p>
        </p:txBody>
      </p:sp>
      <p:sp>
        <p:nvSpPr>
          <p:cNvPr id="8" name="Text 6"/>
          <p:cNvSpPr txBox="1"/>
          <p:nvPr/>
        </p:nvSpPr>
        <p:spPr>
          <a:xfrm>
            <a:off x="914400" y="2770632"/>
            <a:ext cx="2971800" cy="548640"/>
          </a:xfrm>
          <a:prstGeom prst="rect">
            <a:avLst/>
          </a:prstGeom>
          <a:noFill/>
          <a:ln/>
        </p:spPr>
        <p:txBody>
          <a:bodyPr wrap="square" lIns="0" tIns="0" rIns="0" bIns="0" rtlCol="0" anchor="ctr"/>
          <a:lstStyle/>
          <a:p>
            <a:pPr indent="0" marL="0">
              <a:lnSpc>
                <a:spcPts val="2000"/>
              </a:lnSpc>
              <a:buNone/>
            </a:pPr>
            <a:r>
              <a:rPr lang="en-US" sz="1600" b="1" dirty="0">
                <a:solidFill>
                  <a:srgbClr val="1B4D42"/>
                </a:solidFill>
                <a:latin typeface="Cambria" pitchFamily="34" charset="0"/>
                <a:ea typeface="Cambria" pitchFamily="34" charset="-122"/>
                <a:cs typeface="Cambria" pitchFamily="34" charset="-120"/>
              </a:rPr>
              <a:t>España · UE</a:t>
            </a:r>
            <a:endParaRPr lang="en-US" sz="1600" dirty="0"/>
          </a:p>
        </p:txBody>
      </p:sp>
      <p:sp>
        <p:nvSpPr>
          <p:cNvPr id="9" name="Text 7"/>
          <p:cNvSpPr txBox="1"/>
          <p:nvPr/>
        </p:nvSpPr>
        <p:spPr>
          <a:xfrm>
            <a:off x="914400" y="3383280"/>
            <a:ext cx="2953512" cy="201168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Máster y año de intercambio:</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el ticket más alto de los tres</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Captación y asesoría</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en horario europeo</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Universidades y escuelas</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de negocio españolas</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Cumplimiento RGPD</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de toda la agencia</a:t>
            </a:r>
            <a:endParaRPr lang="en-US" sz="1150" dirty="0"/>
          </a:p>
        </p:txBody>
      </p:sp>
      <p:sp>
        <p:nvSpPr>
          <p:cNvPr id="10" name="Shape 8"/>
          <p:cNvSpPr/>
          <p:nvPr/>
        </p:nvSpPr>
        <p:spPr>
          <a:xfrm>
            <a:off x="4544568" y="1572768"/>
            <a:ext cx="3520440" cy="3977640"/>
          </a:xfrm>
          <a:prstGeom prst="roundRect">
            <a:avLst>
              <a:gd name="adj" fmla="val 1558"/>
            </a:avLst>
          </a:prstGeom>
          <a:solidFill>
            <a:srgbClr val="1B4D42"/>
          </a:solidFill>
          <a:ln w="12700">
            <a:solidFill>
              <a:srgbClr val="1B4D42"/>
            </a:solidFill>
            <a:prstDash val="solid"/>
          </a:ln>
        </p:spPr>
      </p:sp>
      <p:sp>
        <p:nvSpPr>
          <p:cNvPr id="11" name="Shape 9"/>
          <p:cNvSpPr/>
          <p:nvPr/>
        </p:nvSpPr>
        <p:spPr>
          <a:xfrm>
            <a:off x="4818888" y="1828800"/>
            <a:ext cx="566928" cy="566928"/>
          </a:xfrm>
          <a:prstGeom prst="ellipse">
            <a:avLst/>
          </a:prstGeom>
          <a:solidFill>
            <a:srgbClr val="D99B2B"/>
          </a:solidFill>
          <a:ln/>
        </p:spPr>
      </p:sp>
      <p:sp>
        <p:nvSpPr>
          <p:cNvPr id="12" name="Text 10"/>
          <p:cNvSpPr txBox="1"/>
          <p:nvPr/>
        </p:nvSpPr>
        <p:spPr>
          <a:xfrm>
            <a:off x="4818888" y="1828800"/>
            <a:ext cx="566928" cy="566928"/>
          </a:xfrm>
          <a:prstGeom prst="rect">
            <a:avLst/>
          </a:prstGeom>
          <a:noFill/>
          <a:ln/>
        </p:spPr>
        <p:txBody>
          <a:bodyPr wrap="square" lIns="0" tIns="0" rIns="0" bIns="0" rtlCol="0" anchor="ctr"/>
          <a:lstStyle/>
          <a:p>
            <a:pPr algn="ctr" indent="0" marL="0">
              <a:buNone/>
            </a:pPr>
            <a:r>
              <a:rPr lang="en-US" sz="1400" b="1" dirty="0">
                <a:solidFill>
                  <a:srgbClr val="0F2A25"/>
                </a:solidFill>
                <a:latin typeface="Calibri" pitchFamily="34" charset="0"/>
                <a:ea typeface="Calibri" pitchFamily="34" charset="-122"/>
                <a:cs typeface="Calibri" pitchFamily="34" charset="-120"/>
              </a:rPr>
              <a:t>MX</a:t>
            </a:r>
            <a:endParaRPr lang="en-US" sz="1400" dirty="0"/>
          </a:p>
        </p:txBody>
      </p:sp>
      <p:sp>
        <p:nvSpPr>
          <p:cNvPr id="13" name="Text 11"/>
          <p:cNvSpPr txBox="1"/>
          <p:nvPr/>
        </p:nvSpPr>
        <p:spPr>
          <a:xfrm>
            <a:off x="4818888" y="2514600"/>
            <a:ext cx="2971800" cy="274320"/>
          </a:xfrm>
          <a:prstGeom prst="rect">
            <a:avLst/>
          </a:prstGeom>
          <a:noFill/>
          <a:ln/>
        </p:spPr>
        <p:txBody>
          <a:bodyPr wrap="square" lIns="0" tIns="0" rIns="0" bIns="0" rtlCol="0" anchor="ctr"/>
          <a:lstStyle/>
          <a:p>
            <a:pPr indent="0" marL="0">
              <a:buNone/>
            </a:pPr>
            <a:r>
              <a:rPr lang="en-US" sz="950" b="1" spc="120" kern="0" dirty="0">
                <a:solidFill>
                  <a:srgbClr val="D99B2B"/>
                </a:solidFill>
                <a:latin typeface="Calibri" pitchFamily="34" charset="0"/>
                <a:ea typeface="Calibri" pitchFamily="34" charset="-122"/>
                <a:cs typeface="Calibri" pitchFamily="34" charset="-120"/>
              </a:rPr>
              <a:t>SOCIO MEXICANO · GREEN CARD</a:t>
            </a:r>
            <a:endParaRPr lang="en-US" sz="950" dirty="0"/>
          </a:p>
        </p:txBody>
      </p:sp>
      <p:sp>
        <p:nvSpPr>
          <p:cNvPr id="14" name="Text 12"/>
          <p:cNvSpPr txBox="1"/>
          <p:nvPr/>
        </p:nvSpPr>
        <p:spPr>
          <a:xfrm>
            <a:off x="4818888" y="2770632"/>
            <a:ext cx="2971800" cy="548640"/>
          </a:xfrm>
          <a:prstGeom prst="rect">
            <a:avLst/>
          </a:prstGeom>
          <a:noFill/>
          <a:ln/>
        </p:spPr>
        <p:txBody>
          <a:bodyPr wrap="square" lIns="0" tIns="0" rIns="0" bIns="0" rtlCol="0" anchor="ctr"/>
          <a:lstStyle/>
          <a:p>
            <a:pPr indent="0" marL="0">
              <a:lnSpc>
                <a:spcPts val="2000"/>
              </a:lnSpc>
              <a:buNone/>
            </a:pPr>
            <a:r>
              <a:rPr lang="en-US" sz="1600" b="1" dirty="0">
                <a:solidFill>
                  <a:srgbClr val="FFFFFF"/>
                </a:solidFill>
                <a:latin typeface="Cambria" pitchFamily="34" charset="0"/>
                <a:ea typeface="Cambria" pitchFamily="34" charset="-122"/>
                <a:cs typeface="Cambria" pitchFamily="34" charset="-120"/>
              </a:rPr>
              <a:t>Estructura EE. UU. · México</a:t>
            </a:r>
            <a:endParaRPr lang="en-US" sz="1600" dirty="0"/>
          </a:p>
        </p:txBody>
      </p:sp>
      <p:sp>
        <p:nvSpPr>
          <p:cNvPr id="15" name="Text 13"/>
          <p:cNvSpPr txBox="1"/>
          <p:nvPr/>
        </p:nvSpPr>
        <p:spPr>
          <a:xfrm>
            <a:off x="4818888" y="3383280"/>
            <a:ext cx="2953512" cy="201168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50" dirty="0">
                <a:solidFill>
                  <a:srgbClr val="E9F0EC"/>
                </a:solidFill>
                <a:latin typeface="Calibri" pitchFamily="34" charset="0"/>
                <a:ea typeface="Calibri" pitchFamily="34" charset="-122"/>
                <a:cs typeface="Calibri" pitchFamily="34" charset="-120"/>
              </a:rPr>
              <a:t>Titular de la LLC, EIN</a:t>
            </a:r>
            <a:endParaRPr lang="en-US" sz="1150" dirty="0"/>
          </a:p>
          <a:p>
            <a:pPr marL="342900" indent="-342900">
              <a:lnSpc>
                <a:spcPts val="1500"/>
              </a:lnSpc>
              <a:spcAft>
                <a:spcPts val="800"/>
              </a:spcAft>
              <a:buSzPct val="100000"/>
              <a:buChar char="•"/>
            </a:pPr>
            <a:r>
              <a:rPr lang="en-US" sz="1150" dirty="0">
                <a:solidFill>
                  <a:srgbClr val="E9F0EC"/>
                </a:solidFill>
                <a:latin typeface="Calibri" pitchFamily="34" charset="0"/>
                <a:ea typeface="Calibri" pitchFamily="34" charset="-122"/>
                <a:cs typeface="Calibri" pitchFamily="34" charset="-120"/>
              </a:rPr>
              <a:t>y cuenta bancaria</a:t>
            </a:r>
            <a:endParaRPr lang="en-US" sz="1150" dirty="0"/>
          </a:p>
          <a:p>
            <a:pPr marL="342900" indent="-342900">
              <a:lnSpc>
                <a:spcPts val="1500"/>
              </a:lnSpc>
              <a:spcAft>
                <a:spcPts val="800"/>
              </a:spcAft>
              <a:buSzPct val="100000"/>
              <a:buChar char="•"/>
            </a:pPr>
            <a:r>
              <a:rPr lang="en-US" sz="1150" dirty="0">
                <a:solidFill>
                  <a:srgbClr val="E9F0EC"/>
                </a:solidFill>
                <a:latin typeface="Calibri" pitchFamily="34" charset="0"/>
                <a:ea typeface="Calibri" pitchFamily="34" charset="-122"/>
                <a:cs typeface="Calibri" pitchFamily="34" charset="-120"/>
              </a:rPr>
              <a:t>Firma los contratos</a:t>
            </a:r>
            <a:endParaRPr lang="en-US" sz="1150" dirty="0"/>
          </a:p>
          <a:p>
            <a:pPr marL="342900" indent="-342900">
              <a:lnSpc>
                <a:spcPts val="1500"/>
              </a:lnSpc>
              <a:spcAft>
                <a:spcPts val="800"/>
              </a:spcAft>
              <a:buSzPct val="100000"/>
              <a:buChar char="•"/>
            </a:pPr>
            <a:r>
              <a:rPr lang="en-US" sz="1150" dirty="0">
                <a:solidFill>
                  <a:srgbClr val="E9F0EC"/>
                </a:solidFill>
                <a:latin typeface="Calibri" pitchFamily="34" charset="0"/>
                <a:ea typeface="Calibri" pitchFamily="34" charset="-122"/>
                <a:cs typeface="Calibri" pitchFamily="34" charset="-120"/>
              </a:rPr>
              <a:t>con las instituciones</a:t>
            </a:r>
            <a:endParaRPr lang="en-US" sz="1150" dirty="0"/>
          </a:p>
          <a:p>
            <a:pPr marL="342900" indent="-342900">
              <a:lnSpc>
                <a:spcPts val="1500"/>
              </a:lnSpc>
              <a:spcAft>
                <a:spcPts val="800"/>
              </a:spcAft>
              <a:buSzPct val="100000"/>
              <a:buChar char="•"/>
            </a:pPr>
            <a:r>
              <a:rPr lang="en-US" sz="1150" dirty="0">
                <a:solidFill>
                  <a:srgbClr val="E9F0EC"/>
                </a:solidFill>
                <a:latin typeface="Calibri" pitchFamily="34" charset="0"/>
                <a:ea typeface="Calibri" pitchFamily="34" charset="-122"/>
                <a:cs typeface="Calibri" pitchFamily="34" charset="-120"/>
              </a:rPr>
              <a:t>Cobra y concilia comisiones</a:t>
            </a:r>
            <a:endParaRPr lang="en-US" sz="1150" dirty="0"/>
          </a:p>
          <a:p>
            <a:pPr marL="342900" indent="-342900">
              <a:lnSpc>
                <a:spcPts val="1500"/>
              </a:lnSpc>
              <a:spcAft>
                <a:spcPts val="800"/>
              </a:spcAft>
              <a:buSzPct val="100000"/>
              <a:buChar char="•"/>
            </a:pPr>
            <a:r>
              <a:rPr lang="en-US" sz="1150" dirty="0">
                <a:solidFill>
                  <a:srgbClr val="E9F0EC"/>
                </a:solidFill>
                <a:latin typeface="Calibri" pitchFamily="34" charset="0"/>
                <a:ea typeface="Calibri" pitchFamily="34" charset="-122"/>
                <a:cs typeface="Calibri" pitchFamily="34" charset="-120"/>
              </a:rPr>
              <a:t>Red y captación en México</a:t>
            </a:r>
            <a:endParaRPr lang="en-US" sz="1150" dirty="0"/>
          </a:p>
        </p:txBody>
      </p:sp>
      <p:sp>
        <p:nvSpPr>
          <p:cNvPr id="16" name="Shape 14"/>
          <p:cNvSpPr/>
          <p:nvPr/>
        </p:nvSpPr>
        <p:spPr>
          <a:xfrm>
            <a:off x="8449056" y="1572768"/>
            <a:ext cx="3520440" cy="3977640"/>
          </a:xfrm>
          <a:prstGeom prst="roundRect">
            <a:avLst>
              <a:gd name="adj" fmla="val 1558"/>
            </a:avLst>
          </a:prstGeom>
          <a:solidFill>
            <a:srgbClr val="EAF0ED"/>
          </a:solidFill>
          <a:ln w="12700">
            <a:solidFill>
              <a:srgbClr val="EAF0ED"/>
            </a:solidFill>
            <a:prstDash val="solid"/>
          </a:ln>
        </p:spPr>
      </p:sp>
      <p:sp>
        <p:nvSpPr>
          <p:cNvPr id="17" name="Shape 15"/>
          <p:cNvSpPr/>
          <p:nvPr/>
        </p:nvSpPr>
        <p:spPr>
          <a:xfrm>
            <a:off x="8723376" y="1828800"/>
            <a:ext cx="566928" cy="566928"/>
          </a:xfrm>
          <a:prstGeom prst="ellipse">
            <a:avLst/>
          </a:prstGeom>
          <a:solidFill>
            <a:srgbClr val="1B4D42"/>
          </a:solidFill>
          <a:ln/>
        </p:spPr>
      </p:sp>
      <p:sp>
        <p:nvSpPr>
          <p:cNvPr id="18" name="Text 16"/>
          <p:cNvSpPr txBox="1"/>
          <p:nvPr/>
        </p:nvSpPr>
        <p:spPr>
          <a:xfrm>
            <a:off x="8723376" y="18288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a:t>
            </a:r>
            <a:endParaRPr lang="en-US" sz="1400" dirty="0"/>
          </a:p>
        </p:txBody>
      </p:sp>
      <p:sp>
        <p:nvSpPr>
          <p:cNvPr id="19" name="Text 17"/>
          <p:cNvSpPr txBox="1"/>
          <p:nvPr/>
        </p:nvSpPr>
        <p:spPr>
          <a:xfrm>
            <a:off x="8723376" y="2514600"/>
            <a:ext cx="2971800" cy="274320"/>
          </a:xfrm>
          <a:prstGeom prst="rect">
            <a:avLst/>
          </a:prstGeom>
          <a:noFill/>
          <a:ln/>
        </p:spPr>
        <p:txBody>
          <a:bodyPr wrap="square" lIns="0" tIns="0" rIns="0" bIns="0" rtlCol="0" anchor="ctr"/>
          <a:lstStyle/>
          <a:p>
            <a:pPr indent="0" marL="0">
              <a:buNone/>
            </a:pPr>
            <a:r>
              <a:rPr lang="en-US" sz="950" b="1" spc="120" kern="0" dirty="0">
                <a:solidFill>
                  <a:srgbClr val="6FA593"/>
                </a:solidFill>
                <a:latin typeface="Calibri" pitchFamily="34" charset="0"/>
                <a:ea typeface="Calibri" pitchFamily="34" charset="-122"/>
                <a:cs typeface="Calibri" pitchFamily="34" charset="-120"/>
              </a:rPr>
              <a:t>SOCIO CHILENO</a:t>
            </a:r>
            <a:endParaRPr lang="en-US" sz="950" dirty="0"/>
          </a:p>
        </p:txBody>
      </p:sp>
      <p:sp>
        <p:nvSpPr>
          <p:cNvPr id="20" name="Text 18"/>
          <p:cNvSpPr txBox="1"/>
          <p:nvPr/>
        </p:nvSpPr>
        <p:spPr>
          <a:xfrm>
            <a:off x="8723376" y="2770632"/>
            <a:ext cx="2971800" cy="548640"/>
          </a:xfrm>
          <a:prstGeom prst="rect">
            <a:avLst/>
          </a:prstGeom>
          <a:noFill/>
          <a:ln/>
        </p:spPr>
        <p:txBody>
          <a:bodyPr wrap="square" lIns="0" tIns="0" rIns="0" bIns="0" rtlCol="0" anchor="ctr"/>
          <a:lstStyle/>
          <a:p>
            <a:pPr indent="0" marL="0">
              <a:lnSpc>
                <a:spcPts val="2000"/>
              </a:lnSpc>
              <a:buNone/>
            </a:pPr>
            <a:r>
              <a:rPr lang="en-US" sz="1600" b="1" dirty="0">
                <a:solidFill>
                  <a:srgbClr val="1B4D42"/>
                </a:solidFill>
                <a:latin typeface="Cambria" pitchFamily="34" charset="0"/>
                <a:ea typeface="Cambria" pitchFamily="34" charset="-122"/>
                <a:cs typeface="Cambria" pitchFamily="34" charset="-120"/>
              </a:rPr>
              <a:t>Chile · Cono Sur</a:t>
            </a:r>
            <a:endParaRPr lang="en-US" sz="1600" dirty="0"/>
          </a:p>
        </p:txBody>
      </p:sp>
      <p:sp>
        <p:nvSpPr>
          <p:cNvPr id="21" name="Text 19"/>
          <p:cNvSpPr txBox="1"/>
          <p:nvPr/>
        </p:nvSpPr>
        <p:spPr>
          <a:xfrm>
            <a:off x="8723376" y="3383280"/>
            <a:ext cx="2953512" cy="201168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Colegios y universidades</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chilenas</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Laboratorio de precios</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y guiones de venta</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Operación del proceso</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de visa</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Proveedores: seguro,</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alojamiento, vuelos</a:t>
            </a:r>
            <a:endParaRPr lang="en-US" sz="1150" dirty="0"/>
          </a:p>
        </p:txBody>
      </p:sp>
      <p:sp>
        <p:nvSpPr>
          <p:cNvPr id="22" name="Text 20"/>
          <p:cNvSpPr txBox="1"/>
          <p:nvPr/>
        </p:nvSpPr>
        <p:spPr>
          <a:xfrm>
            <a:off x="640080" y="6291072"/>
            <a:ext cx="10911535" cy="274320"/>
          </a:xfrm>
          <a:prstGeom prst="rect">
            <a:avLst/>
          </a:prstGeom>
          <a:noFill/>
          <a:ln/>
        </p:spPr>
        <p:txBody>
          <a:bodyPr wrap="square" lIns="0" tIns="0" rIns="0" bIns="0" rtlCol="0" anchor="ctr"/>
          <a:lstStyle/>
          <a:p>
            <a:pPr indent="0" marL="0">
              <a:buNone/>
            </a:pPr>
            <a:r>
              <a:rPr lang="en-US" sz="1000" i="1" dirty="0">
                <a:solidFill>
                  <a:srgbClr val="586B63"/>
                </a:solidFill>
                <a:latin typeface="Calibri" pitchFamily="34" charset="0"/>
                <a:ea typeface="Calibri" pitchFamily="34" charset="-122"/>
                <a:cs typeface="Calibri" pitchFamily="34" charset="-120"/>
              </a:rPr>
              <a:t>Es la mayor ventaja frente a una agencia con oficina única: nadie tiene que abrir mercado desde cero, y el que firma con las universidades ya está dentro del país.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28600"/>
          </a:xfrm>
          <a:prstGeom prst="rect">
            <a:avLst/>
          </a:prstGeom>
          <a:noFill/>
          <a:ln/>
        </p:spPr>
        <p:txBody>
          <a:bodyPr wrap="square" lIns="0" tIns="0" rIns="0" bIns="0" rtlCol="0" anchor="ctr"/>
          <a:lstStyle/>
          <a:p>
            <a:pPr indent="0" marL="0">
              <a:buNone/>
            </a:pPr>
            <a:r>
              <a:rPr lang="en-US" sz="1100" b="1" spc="200" kern="0" dirty="0">
                <a:solidFill>
                  <a:srgbClr val="6FA593"/>
                </a:solidFill>
                <a:latin typeface="Calibri" pitchFamily="34" charset="0"/>
                <a:ea typeface="Calibri" pitchFamily="34" charset="-122"/>
                <a:cs typeface="Calibri" pitchFamily="34" charset="-120"/>
              </a:rPr>
              <a:t>ANTES DE SEGUIR</a:t>
            </a:r>
            <a:endParaRPr lang="en-US" sz="1100" dirty="0"/>
          </a:p>
        </p:txBody>
      </p:sp>
      <p:sp>
        <p:nvSpPr>
          <p:cNvPr id="3" name="Text 1"/>
          <p:cNvSpPr txBox="1"/>
          <p:nvPr/>
        </p:nvSpPr>
        <p:spPr>
          <a:xfrm>
            <a:off x="640080" y="621792"/>
            <a:ext cx="10911535" cy="658368"/>
          </a:xfrm>
          <a:prstGeom prst="rect">
            <a:avLst/>
          </a:prstGeom>
          <a:noFill/>
          <a:ln/>
        </p:spPr>
        <p:txBody>
          <a:bodyPr wrap="square" lIns="0" tIns="0" rIns="0" bIns="0" rtlCol="0" anchor="t"/>
          <a:lstStyle/>
          <a:p>
            <a:pPr indent="0" marL="0">
              <a:buNone/>
            </a:pPr>
            <a:r>
              <a:rPr lang="en-US" sz="3000" b="1" dirty="0">
                <a:solidFill>
                  <a:srgbClr val="1B4D42"/>
                </a:solidFill>
                <a:latin typeface="Cambria" pitchFamily="34" charset="0"/>
                <a:ea typeface="Cambria" pitchFamily="34" charset="-122"/>
                <a:cs typeface="Cambria" pitchFamily="34" charset="-120"/>
              </a:rPr>
              <a:t>Una pregunta que hay que resolver hoy</a:t>
            </a:r>
            <a:endParaRPr lang="en-US" sz="3000" dirty="0"/>
          </a:p>
        </p:txBody>
      </p:sp>
      <p:sp>
        <p:nvSpPr>
          <p:cNvPr id="4" name="Shape 2"/>
          <p:cNvSpPr/>
          <p:nvPr/>
        </p:nvSpPr>
        <p:spPr>
          <a:xfrm>
            <a:off x="640080" y="1737360"/>
            <a:ext cx="10911535" cy="1783080"/>
          </a:xfrm>
          <a:prstGeom prst="roundRect">
            <a:avLst>
              <a:gd name="adj" fmla="val 3077"/>
            </a:avLst>
          </a:prstGeom>
          <a:solidFill>
            <a:srgbClr val="EAF0ED"/>
          </a:solidFill>
          <a:ln w="12700">
            <a:solidFill>
              <a:srgbClr val="EAF0ED"/>
            </a:solidFill>
            <a:prstDash val="solid"/>
          </a:ln>
        </p:spPr>
      </p:sp>
      <p:sp>
        <p:nvSpPr>
          <p:cNvPr id="5" name="Shape 3"/>
          <p:cNvSpPr/>
          <p:nvPr/>
        </p:nvSpPr>
        <p:spPr>
          <a:xfrm>
            <a:off x="1024128" y="2121408"/>
            <a:ext cx="566928" cy="566928"/>
          </a:xfrm>
          <a:prstGeom prst="ellipse">
            <a:avLst/>
          </a:prstGeom>
          <a:solidFill>
            <a:srgbClr val="A8452F"/>
          </a:solidFill>
          <a:ln/>
        </p:spPr>
      </p:sp>
      <p:sp>
        <p:nvSpPr>
          <p:cNvPr id="6" name="Text 4"/>
          <p:cNvSpPr txBox="1"/>
          <p:nvPr/>
        </p:nvSpPr>
        <p:spPr>
          <a:xfrm>
            <a:off x="1024128" y="2121408"/>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828800" y="2029968"/>
            <a:ext cx="9326880" cy="411480"/>
          </a:xfrm>
          <a:prstGeom prst="rect">
            <a:avLst/>
          </a:prstGeom>
          <a:noFill/>
          <a:ln/>
        </p:spPr>
        <p:txBody>
          <a:bodyPr wrap="square" lIns="0" tIns="0" rIns="0" bIns="0" rtlCol="0" anchor="ctr"/>
          <a:lstStyle/>
          <a:p>
            <a:pPr indent="0" marL="0">
              <a:buNone/>
            </a:pPr>
            <a:r>
              <a:rPr lang="en-US" sz="2100" b="1" dirty="0">
                <a:solidFill>
                  <a:srgbClr val="1B4D42"/>
                </a:solidFill>
                <a:latin typeface="Cambria" pitchFamily="34" charset="0"/>
                <a:ea typeface="Cambria" pitchFamily="34" charset="-122"/>
                <a:cs typeface="Cambria" pitchFamily="34" charset="-120"/>
              </a:rPr>
              <a:t>¿Dónde vive el socio con green card?</a:t>
            </a:r>
            <a:endParaRPr lang="en-US" sz="2100" dirty="0"/>
          </a:p>
        </p:txBody>
      </p:sp>
      <p:sp>
        <p:nvSpPr>
          <p:cNvPr id="8" name="Text 6"/>
          <p:cNvSpPr txBox="1"/>
          <p:nvPr/>
        </p:nvSpPr>
        <p:spPr>
          <a:xfrm>
            <a:off x="1828800" y="2487168"/>
            <a:ext cx="9326880" cy="868680"/>
          </a:xfrm>
          <a:prstGeom prst="rect">
            <a:avLst/>
          </a:prstGeom>
          <a:noFill/>
          <a:ln/>
        </p:spPr>
        <p:txBody>
          <a:bodyPr wrap="square" lIns="0" tIns="0" rIns="0" bIns="0" rtlCol="0" anchor="ctr"/>
          <a:lstStyle/>
          <a:p>
            <a:pPr indent="0" marL="0">
              <a:lnSpc>
                <a:spcPts val="2000"/>
              </a:lnSpc>
              <a:buNone/>
            </a:pPr>
            <a:r>
              <a:rPr lang="en-US" sz="1350" dirty="0">
                <a:solidFill>
                  <a:srgbClr val="586B63"/>
                </a:solidFill>
                <a:latin typeface="Calibri" pitchFamily="34" charset="0"/>
                <a:ea typeface="Calibri" pitchFamily="34" charset="-122"/>
                <a:cs typeface="Calibri" pitchFamily="34" charset="-120"/>
              </a:rPr>
              <a:t>La ley federal permite pagar comisión por reclutar estudiantes extranjeros, pero el reclutamiento tiene que ocurrir fuera de Estados Unidos. Si vive allí de forma permanente, no puede ser él quien capte a las familias mexicanas.</a:t>
            </a:r>
            <a:endParaRPr lang="en-US" sz="1350" dirty="0"/>
          </a:p>
        </p:txBody>
      </p:sp>
      <p:sp>
        <p:nvSpPr>
          <p:cNvPr id="9" name="Shape 7"/>
          <p:cNvSpPr/>
          <p:nvPr/>
        </p:nvSpPr>
        <p:spPr>
          <a:xfrm>
            <a:off x="640080" y="3794760"/>
            <a:ext cx="5285232" cy="1783080"/>
          </a:xfrm>
          <a:prstGeom prst="roundRect">
            <a:avLst>
              <a:gd name="adj" fmla="val 3077"/>
            </a:avLst>
          </a:prstGeom>
          <a:solidFill>
            <a:srgbClr val="EAF0ED"/>
          </a:solidFill>
          <a:ln w="12700">
            <a:solidFill>
              <a:srgbClr val="EAF0ED"/>
            </a:solidFill>
            <a:prstDash val="solid"/>
          </a:ln>
        </p:spPr>
      </p:sp>
      <p:sp>
        <p:nvSpPr>
          <p:cNvPr id="10" name="Text 8"/>
          <p:cNvSpPr txBox="1"/>
          <p:nvPr/>
        </p:nvSpPr>
        <p:spPr>
          <a:xfrm>
            <a:off x="960120" y="4041648"/>
            <a:ext cx="4663440" cy="320040"/>
          </a:xfrm>
          <a:prstGeom prst="rect">
            <a:avLst/>
          </a:prstGeom>
          <a:noFill/>
          <a:ln/>
        </p:spPr>
        <p:txBody>
          <a:bodyPr wrap="square" lIns="0" tIns="0" rIns="0" bIns="0" rtlCol="0" anchor="ctr"/>
          <a:lstStyle/>
          <a:p>
            <a:pPr indent="0" marL="0">
              <a:buNone/>
            </a:pPr>
            <a:r>
              <a:rPr lang="en-US" sz="1600" b="1" dirty="0">
                <a:solidFill>
                  <a:srgbClr val="1B4D42"/>
                </a:solidFill>
                <a:latin typeface="Cambria" pitchFamily="34" charset="0"/>
                <a:ea typeface="Cambria" pitchFamily="34" charset="-122"/>
                <a:cs typeface="Cambria" pitchFamily="34" charset="-120"/>
              </a:rPr>
              <a:t>Si vive en México o viaja</a:t>
            </a:r>
            <a:endParaRPr lang="en-US" sz="1600" dirty="0"/>
          </a:p>
        </p:txBody>
      </p:sp>
      <p:sp>
        <p:nvSpPr>
          <p:cNvPr id="11" name="Text 9"/>
          <p:cNvSpPr txBox="1"/>
          <p:nvPr/>
        </p:nvSpPr>
        <p:spPr>
          <a:xfrm>
            <a:off x="960120" y="4434840"/>
            <a:ext cx="4663440" cy="1005840"/>
          </a:xfrm>
          <a:prstGeom prst="rect">
            <a:avLst/>
          </a:prstGeom>
          <a:noFill/>
          <a:ln/>
        </p:spPr>
        <p:txBody>
          <a:bodyPr wrap="square" lIns="0" tIns="0" rIns="0" bIns="0" rtlCol="0" anchor="ctr"/>
          <a:lstStyle/>
          <a:p>
            <a:pPr indent="0" marL="0">
              <a:lnSpc>
                <a:spcPts val="1800"/>
              </a:lnSpc>
              <a:buNone/>
            </a:pPr>
            <a:r>
              <a:rPr lang="en-US" sz="1250" dirty="0">
                <a:solidFill>
                  <a:srgbClr val="586B63"/>
                </a:solidFill>
                <a:latin typeface="Calibri" pitchFamily="34" charset="0"/>
                <a:ea typeface="Calibri" pitchFamily="34" charset="-122"/>
                <a:cs typeface="Calibri" pitchFamily="34" charset="-120"/>
              </a:rPr>
              <a:t>Se queda con los dos asientos: la estructura en EE. UU. y la captación en México. El plan funciona tal como está.</a:t>
            </a:r>
            <a:endParaRPr lang="en-US" sz="1250" dirty="0"/>
          </a:p>
        </p:txBody>
      </p:sp>
      <p:sp>
        <p:nvSpPr>
          <p:cNvPr id="12" name="Shape 10"/>
          <p:cNvSpPr/>
          <p:nvPr/>
        </p:nvSpPr>
        <p:spPr>
          <a:xfrm>
            <a:off x="6263640" y="3794760"/>
            <a:ext cx="5285232" cy="1783080"/>
          </a:xfrm>
          <a:prstGeom prst="roundRect">
            <a:avLst>
              <a:gd name="adj" fmla="val 3077"/>
            </a:avLst>
          </a:prstGeom>
          <a:solidFill>
            <a:srgbClr val="EAF0ED"/>
          </a:solidFill>
          <a:ln w="12700">
            <a:solidFill>
              <a:srgbClr val="EAF0ED"/>
            </a:solidFill>
            <a:prstDash val="solid"/>
          </a:ln>
        </p:spPr>
      </p:sp>
      <p:sp>
        <p:nvSpPr>
          <p:cNvPr id="13" name="Text 11"/>
          <p:cNvSpPr txBox="1"/>
          <p:nvPr/>
        </p:nvSpPr>
        <p:spPr>
          <a:xfrm>
            <a:off x="6583680" y="4041648"/>
            <a:ext cx="4663440" cy="320040"/>
          </a:xfrm>
          <a:prstGeom prst="rect">
            <a:avLst/>
          </a:prstGeom>
          <a:noFill/>
          <a:ln/>
        </p:spPr>
        <p:txBody>
          <a:bodyPr wrap="square" lIns="0" tIns="0" rIns="0" bIns="0" rtlCol="0" anchor="ctr"/>
          <a:lstStyle/>
          <a:p>
            <a:pPr indent="0" marL="0">
              <a:buNone/>
            </a:pPr>
            <a:r>
              <a:rPr lang="en-US" sz="1600" b="1" dirty="0">
                <a:solidFill>
                  <a:srgbClr val="A8452F"/>
                </a:solidFill>
                <a:latin typeface="Cambria" pitchFamily="34" charset="0"/>
                <a:ea typeface="Cambria" pitchFamily="34" charset="-122"/>
                <a:cs typeface="Cambria" pitchFamily="34" charset="-120"/>
              </a:rPr>
              <a:t>Si reside en EE. UU.</a:t>
            </a:r>
            <a:endParaRPr lang="en-US" sz="1600" dirty="0"/>
          </a:p>
        </p:txBody>
      </p:sp>
      <p:sp>
        <p:nvSpPr>
          <p:cNvPr id="14" name="Text 12"/>
          <p:cNvSpPr txBox="1"/>
          <p:nvPr/>
        </p:nvSpPr>
        <p:spPr>
          <a:xfrm>
            <a:off x="6583680" y="4434840"/>
            <a:ext cx="4663440" cy="1005840"/>
          </a:xfrm>
          <a:prstGeom prst="rect">
            <a:avLst/>
          </a:prstGeom>
          <a:noFill/>
          <a:ln/>
        </p:spPr>
        <p:txBody>
          <a:bodyPr wrap="square" lIns="0" tIns="0" rIns="0" bIns="0" rtlCol="0" anchor="ctr"/>
          <a:lstStyle/>
          <a:p>
            <a:pPr indent="0" marL="0">
              <a:lnSpc>
                <a:spcPts val="1800"/>
              </a:lnSpc>
              <a:buNone/>
            </a:pPr>
            <a:r>
              <a:rPr lang="en-US" sz="1250" dirty="0">
                <a:solidFill>
                  <a:srgbClr val="586B63"/>
                </a:solidFill>
                <a:latin typeface="Calibri" pitchFamily="34" charset="0"/>
                <a:ea typeface="Calibri" pitchFamily="34" charset="-122"/>
                <a:cs typeface="Calibri" pitchFamily="34" charset="-120"/>
              </a:rPr>
              <a:t>Se queda solo con la estructura y las alianzas. México necesita a alguien en tierra: un cuarto socio o un subagente a comisión.</a:t>
            </a:r>
            <a:endParaRPr lang="en-US" sz="1250" dirty="0"/>
          </a:p>
        </p:txBody>
      </p:sp>
      <p:sp>
        <p:nvSpPr>
          <p:cNvPr id="15" name="Text 13"/>
          <p:cNvSpPr txBox="1"/>
          <p:nvPr/>
        </p:nvSpPr>
        <p:spPr>
          <a:xfrm>
            <a:off x="640080" y="6291072"/>
            <a:ext cx="10911535" cy="274320"/>
          </a:xfrm>
          <a:prstGeom prst="rect">
            <a:avLst/>
          </a:prstGeom>
          <a:noFill/>
          <a:ln/>
        </p:spPr>
        <p:txBody>
          <a:bodyPr wrap="square" lIns="0" tIns="0" rIns="0" bIns="0" rtlCol="0" anchor="ctr"/>
          <a:lstStyle/>
          <a:p>
            <a:pPr indent="0" marL="0">
              <a:buNone/>
            </a:pPr>
            <a:r>
              <a:rPr lang="en-US" sz="1000" i="1" dirty="0">
                <a:solidFill>
                  <a:srgbClr val="586B63"/>
                </a:solidFill>
                <a:latin typeface="Calibri" pitchFamily="34" charset="0"/>
                <a:ea typeface="Calibri" pitchFamily="34" charset="-122"/>
                <a:cs typeface="Calibri" pitchFamily="34" charset="-120"/>
              </a:rPr>
              <a:t>No es un detalle formal: México es el mercado de mayor volumen del plan.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28600"/>
          </a:xfrm>
          <a:prstGeom prst="rect">
            <a:avLst/>
          </a:prstGeom>
          <a:noFill/>
          <a:ln/>
        </p:spPr>
        <p:txBody>
          <a:bodyPr wrap="square" lIns="0" tIns="0" rIns="0" bIns="0" rtlCol="0" anchor="ctr"/>
          <a:lstStyle/>
          <a:p>
            <a:pPr indent="0" marL="0">
              <a:buNone/>
            </a:pPr>
            <a:r>
              <a:rPr lang="en-US" sz="1100" b="1" spc="200" kern="0" dirty="0">
                <a:solidFill>
                  <a:srgbClr val="6FA593"/>
                </a:solidFill>
                <a:latin typeface="Calibri" pitchFamily="34" charset="0"/>
                <a:ea typeface="Calibri" pitchFamily="34" charset="-122"/>
                <a:cs typeface="Calibri" pitchFamily="34" charset="-120"/>
              </a:rPr>
              <a:t>EL MODELO DE INGRESOS</a:t>
            </a:r>
            <a:endParaRPr lang="en-US" sz="1100" dirty="0"/>
          </a:p>
        </p:txBody>
      </p:sp>
      <p:sp>
        <p:nvSpPr>
          <p:cNvPr id="3" name="Text 1"/>
          <p:cNvSpPr txBox="1"/>
          <p:nvPr/>
        </p:nvSpPr>
        <p:spPr>
          <a:xfrm>
            <a:off x="640080" y="621792"/>
            <a:ext cx="10911535" cy="658368"/>
          </a:xfrm>
          <a:prstGeom prst="rect">
            <a:avLst/>
          </a:prstGeom>
          <a:noFill/>
          <a:ln/>
        </p:spPr>
        <p:txBody>
          <a:bodyPr wrap="square" lIns="0" tIns="0" rIns="0" bIns="0" rtlCol="0" anchor="t"/>
          <a:lstStyle/>
          <a:p>
            <a:pPr indent="0" marL="0">
              <a:buNone/>
            </a:pPr>
            <a:r>
              <a:rPr lang="en-US" sz="3000" b="1" dirty="0">
                <a:solidFill>
                  <a:srgbClr val="1B4D42"/>
                </a:solidFill>
                <a:latin typeface="Cambria" pitchFamily="34" charset="0"/>
                <a:ea typeface="Cambria" pitchFamily="34" charset="-122"/>
                <a:cs typeface="Cambria" pitchFamily="34" charset="-120"/>
              </a:rPr>
              <a:t>Cobramos por los dos lados, pero no al mismo tiempo</a:t>
            </a:r>
            <a:endParaRPr lang="en-US" sz="3000" dirty="0"/>
          </a:p>
        </p:txBody>
      </p:sp>
      <p:sp>
        <p:nvSpPr>
          <p:cNvPr id="4" name="Shape 2"/>
          <p:cNvSpPr/>
          <p:nvPr/>
        </p:nvSpPr>
        <p:spPr>
          <a:xfrm>
            <a:off x="640080" y="1600200"/>
            <a:ext cx="5285232" cy="2834640"/>
          </a:xfrm>
          <a:prstGeom prst="roundRect">
            <a:avLst>
              <a:gd name="adj" fmla="val 1935"/>
            </a:avLst>
          </a:prstGeom>
          <a:solidFill>
            <a:srgbClr val="EAF0ED"/>
          </a:solidFill>
          <a:ln w="12700">
            <a:solidFill>
              <a:srgbClr val="EAF0ED"/>
            </a:solidFill>
            <a:prstDash val="solid"/>
          </a:ln>
        </p:spPr>
      </p:sp>
      <p:sp>
        <p:nvSpPr>
          <p:cNvPr id="5" name="Shape 3"/>
          <p:cNvSpPr/>
          <p:nvPr/>
        </p:nvSpPr>
        <p:spPr>
          <a:xfrm>
            <a:off x="960120" y="1874520"/>
            <a:ext cx="502920" cy="502920"/>
          </a:xfrm>
          <a:prstGeom prst="ellipse">
            <a:avLst/>
          </a:prstGeom>
          <a:solidFill>
            <a:srgbClr val="1B4D42"/>
          </a:solidFill>
          <a:ln/>
        </p:spPr>
      </p:sp>
      <p:sp>
        <p:nvSpPr>
          <p:cNvPr id="6" name="Text 4"/>
          <p:cNvSpPr txBox="1"/>
          <p:nvPr/>
        </p:nvSpPr>
        <p:spPr>
          <a:xfrm>
            <a:off x="960120" y="187452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7" name="Text 5"/>
          <p:cNvSpPr txBox="1"/>
          <p:nvPr/>
        </p:nvSpPr>
        <p:spPr>
          <a:xfrm>
            <a:off x="1600200" y="1920240"/>
            <a:ext cx="4023360" cy="228600"/>
          </a:xfrm>
          <a:prstGeom prst="rect">
            <a:avLst/>
          </a:prstGeom>
          <a:noFill/>
          <a:ln/>
        </p:spPr>
        <p:txBody>
          <a:bodyPr wrap="square" lIns="0" tIns="0" rIns="0" bIns="0" rtlCol="0" anchor="ctr"/>
          <a:lstStyle/>
          <a:p>
            <a:pPr indent="0" marL="0">
              <a:buNone/>
            </a:pPr>
            <a:r>
              <a:rPr lang="en-US" sz="950" b="1" spc="140" kern="0" dirty="0">
                <a:solidFill>
                  <a:srgbClr val="1B4D42"/>
                </a:solidFill>
                <a:latin typeface="Calibri" pitchFamily="34" charset="0"/>
                <a:ea typeface="Calibri" pitchFamily="34" charset="-122"/>
                <a:cs typeface="Calibri" pitchFamily="34" charset="-120"/>
              </a:rPr>
              <a:t>COBRA HOY</a:t>
            </a:r>
            <a:endParaRPr lang="en-US" sz="950" dirty="0"/>
          </a:p>
        </p:txBody>
      </p:sp>
      <p:sp>
        <p:nvSpPr>
          <p:cNvPr id="8" name="Text 6"/>
          <p:cNvSpPr txBox="1"/>
          <p:nvPr/>
        </p:nvSpPr>
        <p:spPr>
          <a:xfrm>
            <a:off x="1600200" y="2139696"/>
            <a:ext cx="4023360" cy="347472"/>
          </a:xfrm>
          <a:prstGeom prst="rect">
            <a:avLst/>
          </a:prstGeom>
          <a:noFill/>
          <a:ln/>
        </p:spPr>
        <p:txBody>
          <a:bodyPr wrap="square" lIns="0" tIns="0" rIns="0" bIns="0" rtlCol="0" anchor="ctr"/>
          <a:lstStyle/>
          <a:p>
            <a:pPr indent="0" marL="0">
              <a:buNone/>
            </a:pPr>
            <a:r>
              <a:rPr lang="en-US" sz="1900" b="1" dirty="0">
                <a:solidFill>
                  <a:srgbClr val="1B4D42"/>
                </a:solidFill>
                <a:latin typeface="Cambria" pitchFamily="34" charset="0"/>
                <a:ea typeface="Cambria" pitchFamily="34" charset="-122"/>
                <a:cs typeface="Cambria" pitchFamily="34" charset="-120"/>
              </a:rPr>
              <a:t>Fee del estudiante</a:t>
            </a:r>
            <a:endParaRPr lang="en-US" sz="1900" dirty="0"/>
          </a:p>
        </p:txBody>
      </p:sp>
      <p:sp>
        <p:nvSpPr>
          <p:cNvPr id="9" name="Text 7"/>
          <p:cNvSpPr txBox="1"/>
          <p:nvPr/>
        </p:nvSpPr>
        <p:spPr>
          <a:xfrm>
            <a:off x="960120" y="2670048"/>
            <a:ext cx="4663440" cy="914400"/>
          </a:xfrm>
          <a:prstGeom prst="rect">
            <a:avLst/>
          </a:prstGeom>
          <a:noFill/>
          <a:ln/>
        </p:spPr>
        <p:txBody>
          <a:bodyPr wrap="square" lIns="0" tIns="0" rIns="0" bIns="0" rtlCol="0" anchor="ctr"/>
          <a:lstStyle/>
          <a:p>
            <a:pPr indent="0" marL="0">
              <a:lnSpc>
                <a:spcPts val="1800"/>
              </a:lnSpc>
              <a:buNone/>
            </a:pPr>
            <a:r>
              <a:rPr lang="en-US" sz="1200" dirty="0">
                <a:solidFill>
                  <a:srgbClr val="586B63"/>
                </a:solidFill>
                <a:latin typeface="Calibri" pitchFamily="34" charset="0"/>
                <a:ea typeface="Calibri" pitchFamily="34" charset="-122"/>
                <a:cs typeface="Calibri" pitchFamily="34" charset="-120"/>
              </a:rPr>
              <a:t>La familia paga por la asesoría: elegir instituciones, armar el expediente, aplicaciones, carpeta financiera y entrenamiento de la entrevista consular.</a:t>
            </a:r>
            <a:endParaRPr lang="en-US" sz="1200" dirty="0"/>
          </a:p>
        </p:txBody>
      </p:sp>
      <p:sp>
        <p:nvSpPr>
          <p:cNvPr id="10" name="Text 8"/>
          <p:cNvSpPr txBox="1"/>
          <p:nvPr/>
        </p:nvSpPr>
        <p:spPr>
          <a:xfrm>
            <a:off x="960120" y="3611880"/>
            <a:ext cx="4663440" cy="731520"/>
          </a:xfrm>
          <a:prstGeom prst="rect">
            <a:avLst/>
          </a:prstGeom>
          <a:noFill/>
          <a:ln/>
        </p:spPr>
        <p:txBody>
          <a:bodyPr wrap="square" lIns="0" tIns="0" rIns="0" bIns="0" rtlCol="0" anchor="ctr"/>
          <a:lstStyle/>
          <a:p>
            <a:pPr marL="342900" indent="-342900">
              <a:lnSpc>
                <a:spcPts val="1400"/>
              </a:lnSpc>
              <a:spcAft>
                <a:spcPts val="400"/>
              </a:spcAft>
              <a:buSzPct val="100000"/>
              <a:buChar char="•"/>
            </a:pPr>
            <a:r>
              <a:rPr lang="en-US" sz="1100" dirty="0">
                <a:solidFill>
                  <a:srgbClr val="586B63"/>
                </a:solidFill>
                <a:latin typeface="Calibri" pitchFamily="34" charset="0"/>
                <a:ea typeface="Calibri" pitchFamily="34" charset="-122"/>
                <a:cs typeface="Calibri" pitchFamily="34" charset="-120"/>
              </a:rPr>
              <a:t>Rápido, predecible, no depende de nadie más.</a:t>
            </a:r>
            <a:endParaRPr lang="en-US" sz="1100" dirty="0"/>
          </a:p>
          <a:p>
            <a:pPr marL="342900" indent="-342900">
              <a:lnSpc>
                <a:spcPts val="1400"/>
              </a:lnSpc>
              <a:spcAft>
                <a:spcPts val="400"/>
              </a:spcAft>
              <a:buSzPct val="100000"/>
              <a:buChar char="•"/>
            </a:pPr>
            <a:r>
              <a:rPr lang="en-US" sz="1100" dirty="0">
                <a:solidFill>
                  <a:srgbClr val="586B63"/>
                </a:solidFill>
                <a:latin typeface="Calibri" pitchFamily="34" charset="0"/>
                <a:ea typeface="Calibri" pitchFamily="34" charset="-122"/>
                <a:cs typeface="Calibri" pitchFamily="34" charset="-120"/>
              </a:rPr>
              <a:t>Techo bajo: hay un límite de familias que se atienden bien a la vez.</a:t>
            </a:r>
            <a:endParaRPr lang="en-US" sz="1100" dirty="0"/>
          </a:p>
        </p:txBody>
      </p:sp>
      <p:sp>
        <p:nvSpPr>
          <p:cNvPr id="11" name="Shape 9"/>
          <p:cNvSpPr/>
          <p:nvPr/>
        </p:nvSpPr>
        <p:spPr>
          <a:xfrm>
            <a:off x="6263640" y="1600200"/>
            <a:ext cx="5285232" cy="2834640"/>
          </a:xfrm>
          <a:prstGeom prst="roundRect">
            <a:avLst>
              <a:gd name="adj" fmla="val 1935"/>
            </a:avLst>
          </a:prstGeom>
          <a:solidFill>
            <a:srgbClr val="EAF0ED"/>
          </a:solidFill>
          <a:ln w="12700">
            <a:solidFill>
              <a:srgbClr val="EAF0ED"/>
            </a:solidFill>
            <a:prstDash val="solid"/>
          </a:ln>
        </p:spPr>
      </p:sp>
      <p:sp>
        <p:nvSpPr>
          <p:cNvPr id="12" name="Shape 10"/>
          <p:cNvSpPr/>
          <p:nvPr/>
        </p:nvSpPr>
        <p:spPr>
          <a:xfrm>
            <a:off x="6583680" y="1874520"/>
            <a:ext cx="502920" cy="502920"/>
          </a:xfrm>
          <a:prstGeom prst="ellipse">
            <a:avLst/>
          </a:prstGeom>
          <a:solidFill>
            <a:srgbClr val="D99B2B"/>
          </a:solidFill>
          <a:ln/>
        </p:spPr>
      </p:sp>
      <p:sp>
        <p:nvSpPr>
          <p:cNvPr id="13" name="Text 11"/>
          <p:cNvSpPr txBox="1"/>
          <p:nvPr/>
        </p:nvSpPr>
        <p:spPr>
          <a:xfrm>
            <a:off x="6583680" y="1874520"/>
            <a:ext cx="502920" cy="502920"/>
          </a:xfrm>
          <a:prstGeom prst="rect">
            <a:avLst/>
          </a:prstGeom>
          <a:noFill/>
          <a:ln/>
        </p:spPr>
        <p:txBody>
          <a:bodyPr wrap="square" lIns="0" tIns="0" rIns="0" bIns="0" rtlCol="0" anchor="ctr"/>
          <a:lstStyle/>
          <a:p>
            <a:pPr algn="ctr" indent="0" marL="0">
              <a:buNone/>
            </a:pPr>
            <a:r>
              <a:rPr lang="en-US" sz="1100" b="1" dirty="0">
                <a:solidFill>
                  <a:srgbClr val="0F2A25"/>
                </a:solidFill>
                <a:latin typeface="Calibri" pitchFamily="34" charset="0"/>
                <a:ea typeface="Calibri" pitchFamily="34" charset="-122"/>
                <a:cs typeface="Calibri" pitchFamily="34" charset="-120"/>
              </a:rPr>
              <a:t>B</a:t>
            </a:r>
            <a:endParaRPr lang="en-US" sz="1100" dirty="0"/>
          </a:p>
        </p:txBody>
      </p:sp>
      <p:sp>
        <p:nvSpPr>
          <p:cNvPr id="14" name="Text 12"/>
          <p:cNvSpPr txBox="1"/>
          <p:nvPr/>
        </p:nvSpPr>
        <p:spPr>
          <a:xfrm>
            <a:off x="7223760" y="1920240"/>
            <a:ext cx="4023360" cy="228600"/>
          </a:xfrm>
          <a:prstGeom prst="rect">
            <a:avLst/>
          </a:prstGeom>
          <a:noFill/>
          <a:ln/>
        </p:spPr>
        <p:txBody>
          <a:bodyPr wrap="square" lIns="0" tIns="0" rIns="0" bIns="0" rtlCol="0" anchor="ctr"/>
          <a:lstStyle/>
          <a:p>
            <a:pPr indent="0" marL="0">
              <a:buNone/>
            </a:pPr>
            <a:r>
              <a:rPr lang="en-US" sz="950" b="1" spc="140" kern="0" dirty="0">
                <a:solidFill>
                  <a:srgbClr val="D99B2B"/>
                </a:solidFill>
                <a:latin typeface="Calibri" pitchFamily="34" charset="0"/>
                <a:ea typeface="Calibri" pitchFamily="34" charset="-122"/>
                <a:cs typeface="Calibri" pitchFamily="34" charset="-120"/>
              </a:rPr>
              <a:t>COBRA EN 9–15 MESES</a:t>
            </a:r>
            <a:endParaRPr lang="en-US" sz="950" dirty="0"/>
          </a:p>
        </p:txBody>
      </p:sp>
      <p:sp>
        <p:nvSpPr>
          <p:cNvPr id="15" name="Text 13"/>
          <p:cNvSpPr txBox="1"/>
          <p:nvPr/>
        </p:nvSpPr>
        <p:spPr>
          <a:xfrm>
            <a:off x="7223760" y="2139696"/>
            <a:ext cx="4023360" cy="347472"/>
          </a:xfrm>
          <a:prstGeom prst="rect">
            <a:avLst/>
          </a:prstGeom>
          <a:noFill/>
          <a:ln/>
        </p:spPr>
        <p:txBody>
          <a:bodyPr wrap="square" lIns="0" tIns="0" rIns="0" bIns="0" rtlCol="0" anchor="ctr"/>
          <a:lstStyle/>
          <a:p>
            <a:pPr indent="0" marL="0">
              <a:buNone/>
            </a:pPr>
            <a:r>
              <a:rPr lang="en-US" sz="1900" b="1" dirty="0">
                <a:solidFill>
                  <a:srgbClr val="1B4D42"/>
                </a:solidFill>
                <a:latin typeface="Cambria" pitchFamily="34" charset="0"/>
                <a:ea typeface="Cambria" pitchFamily="34" charset="-122"/>
                <a:cs typeface="Cambria" pitchFamily="34" charset="-120"/>
              </a:rPr>
              <a:t>Comisión de la institución</a:t>
            </a:r>
            <a:endParaRPr lang="en-US" sz="1900" dirty="0"/>
          </a:p>
        </p:txBody>
      </p:sp>
      <p:sp>
        <p:nvSpPr>
          <p:cNvPr id="16" name="Text 14"/>
          <p:cNvSpPr txBox="1"/>
          <p:nvPr/>
        </p:nvSpPr>
        <p:spPr>
          <a:xfrm>
            <a:off x="6583680" y="2670048"/>
            <a:ext cx="4663440" cy="914400"/>
          </a:xfrm>
          <a:prstGeom prst="rect">
            <a:avLst/>
          </a:prstGeom>
          <a:noFill/>
          <a:ln/>
        </p:spPr>
        <p:txBody>
          <a:bodyPr wrap="square" lIns="0" tIns="0" rIns="0" bIns="0" rtlCol="0" anchor="ctr"/>
          <a:lstStyle/>
          <a:p>
            <a:pPr indent="0" marL="0">
              <a:lnSpc>
                <a:spcPts val="1800"/>
              </a:lnSpc>
              <a:buNone/>
            </a:pPr>
            <a:r>
              <a:rPr lang="en-US" sz="1200" dirty="0">
                <a:solidFill>
                  <a:srgbClr val="586B63"/>
                </a:solidFill>
                <a:latin typeface="Calibri" pitchFamily="34" charset="0"/>
                <a:ea typeface="Calibri" pitchFamily="34" charset="-122"/>
                <a:cs typeface="Calibri" pitchFamily="34" charset="-120"/>
              </a:rPr>
              <a:t>La universidad o la escuela paga por cada estudiante matriculado, de su propio presupuesto de admisiones. No encarece la matrícula de la familia.</a:t>
            </a:r>
            <a:endParaRPr lang="en-US" sz="1200" dirty="0"/>
          </a:p>
        </p:txBody>
      </p:sp>
      <p:sp>
        <p:nvSpPr>
          <p:cNvPr id="17" name="Text 15"/>
          <p:cNvSpPr txBox="1"/>
          <p:nvPr/>
        </p:nvSpPr>
        <p:spPr>
          <a:xfrm>
            <a:off x="6583680" y="3611880"/>
            <a:ext cx="4663440" cy="731520"/>
          </a:xfrm>
          <a:prstGeom prst="rect">
            <a:avLst/>
          </a:prstGeom>
          <a:noFill/>
          <a:ln/>
        </p:spPr>
        <p:txBody>
          <a:bodyPr wrap="square" lIns="0" tIns="0" rIns="0" bIns="0" rtlCol="0" anchor="ctr"/>
          <a:lstStyle/>
          <a:p>
            <a:pPr marL="342900" indent="-342900">
              <a:lnSpc>
                <a:spcPts val="1400"/>
              </a:lnSpc>
              <a:spcAft>
                <a:spcPts val="400"/>
              </a:spcAft>
              <a:buSzPct val="100000"/>
              <a:buChar char="•"/>
            </a:pPr>
            <a:r>
              <a:rPr lang="en-US" sz="1100" dirty="0">
                <a:solidFill>
                  <a:srgbClr val="586B63"/>
                </a:solidFill>
                <a:latin typeface="Calibri" pitchFamily="34" charset="0"/>
                <a:ea typeface="Calibri" pitchFamily="34" charset="-122"/>
                <a:cs typeface="Calibri" pitchFamily="34" charset="-120"/>
              </a:rPr>
              <a:t>Escala, se renueva y no se la cobramos al cliente.</a:t>
            </a:r>
            <a:endParaRPr lang="en-US" sz="1100" dirty="0"/>
          </a:p>
          <a:p>
            <a:pPr marL="342900" indent="-342900">
              <a:lnSpc>
                <a:spcPts val="1400"/>
              </a:lnSpc>
              <a:spcAft>
                <a:spcPts val="400"/>
              </a:spcAft>
              <a:buSzPct val="100000"/>
              <a:buChar char="•"/>
            </a:pPr>
            <a:r>
              <a:rPr lang="en-US" sz="1100" dirty="0">
                <a:solidFill>
                  <a:srgbClr val="586B63"/>
                </a:solidFill>
                <a:latin typeface="Calibri" pitchFamily="34" charset="0"/>
                <a:ea typeface="Calibri" pitchFamily="34" charset="-122"/>
                <a:cs typeface="Calibri" pitchFamily="34" charset="-120"/>
              </a:rPr>
              <a:t>Se paga después del census date y se puede devolver si el alumno se retira.</a:t>
            </a:r>
            <a:endParaRPr lang="en-US" sz="1100" dirty="0"/>
          </a:p>
        </p:txBody>
      </p:sp>
      <p:sp>
        <p:nvSpPr>
          <p:cNvPr id="18" name="Shape 16"/>
          <p:cNvSpPr/>
          <p:nvPr/>
        </p:nvSpPr>
        <p:spPr>
          <a:xfrm>
            <a:off x="640080" y="4617720"/>
            <a:ext cx="10911535" cy="1234440"/>
          </a:xfrm>
          <a:prstGeom prst="roundRect">
            <a:avLst>
              <a:gd name="adj" fmla="val 4444"/>
            </a:avLst>
          </a:prstGeom>
          <a:solidFill>
            <a:srgbClr val="1B4D42"/>
          </a:solidFill>
          <a:ln w="12700">
            <a:solidFill>
              <a:srgbClr val="1B4D42"/>
            </a:solidFill>
            <a:prstDash val="solid"/>
          </a:ln>
        </p:spPr>
      </p:sp>
      <p:sp>
        <p:nvSpPr>
          <p:cNvPr id="19" name="Text 17"/>
          <p:cNvSpPr txBox="1"/>
          <p:nvPr/>
        </p:nvSpPr>
        <p:spPr>
          <a:xfrm>
            <a:off x="1051560" y="4800600"/>
            <a:ext cx="10424160" cy="347472"/>
          </a:xfrm>
          <a:prstGeom prst="rect">
            <a:avLst/>
          </a:prstGeom>
          <a:noFill/>
          <a:ln/>
        </p:spPr>
        <p:txBody>
          <a:bodyPr wrap="square" lIns="0" tIns="0" rIns="0" bIns="0" rtlCol="0" anchor="ctr"/>
          <a:lstStyle/>
          <a:p>
            <a:pPr indent="0" marL="0">
              <a:buNone/>
            </a:pPr>
            <a:r>
              <a:rPr lang="en-US" sz="1900" b="1" dirty="0">
                <a:solidFill>
                  <a:srgbClr val="D99B2B"/>
                </a:solidFill>
                <a:latin typeface="Cambria" pitchFamily="34" charset="0"/>
                <a:ea typeface="Cambria" pitchFamily="34" charset="-122"/>
                <a:cs typeface="Cambria" pitchFamily="34" charset="-120"/>
              </a:rPr>
              <a:t>Por eso empezamos cobrando al estudiante.</a:t>
            </a:r>
            <a:endParaRPr lang="en-US" sz="1900" dirty="0"/>
          </a:p>
        </p:txBody>
      </p:sp>
      <p:sp>
        <p:nvSpPr>
          <p:cNvPr id="20" name="Text 18"/>
          <p:cNvSpPr txBox="1"/>
          <p:nvPr/>
        </p:nvSpPr>
        <p:spPr>
          <a:xfrm>
            <a:off x="1051560" y="5193792"/>
            <a:ext cx="10424160" cy="548640"/>
          </a:xfrm>
          <a:prstGeom prst="rect">
            <a:avLst/>
          </a:prstGeom>
          <a:noFill/>
          <a:ln/>
        </p:spPr>
        <p:txBody>
          <a:bodyPr wrap="square" lIns="0" tIns="0" rIns="0" bIns="0" rtlCol="0" anchor="ctr"/>
          <a:lstStyle/>
          <a:p>
            <a:pPr indent="0" marL="0">
              <a:lnSpc>
                <a:spcPts val="1900"/>
              </a:lnSpc>
              <a:buNone/>
            </a:pPr>
            <a:r>
              <a:rPr lang="en-US" sz="1300" dirty="0">
                <a:solidFill>
                  <a:srgbClr val="E9F0EC"/>
                </a:solidFill>
                <a:latin typeface="Calibri" pitchFamily="34" charset="0"/>
                <a:ea typeface="Calibri" pitchFamily="34" charset="-122"/>
                <a:cs typeface="Calibri" pitchFamily="34" charset="-120"/>
              </a:rPr>
              <a:t>Entre la primera llamada con una familia y el primer dólar de comisión pasan de 9 a 15 meses. El fee cierra exactamente ese hueco: paga los costes fijos mientras madura la primera cosecha de comisiones.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28600"/>
          </a:xfrm>
          <a:prstGeom prst="rect">
            <a:avLst/>
          </a:prstGeom>
          <a:noFill/>
          <a:ln/>
        </p:spPr>
        <p:txBody>
          <a:bodyPr wrap="square" lIns="0" tIns="0" rIns="0" bIns="0" rtlCol="0" anchor="ctr"/>
          <a:lstStyle/>
          <a:p>
            <a:pPr indent="0" marL="0">
              <a:buNone/>
            </a:pPr>
            <a:r>
              <a:rPr lang="en-US" sz="1100" b="1" spc="200" kern="0" dirty="0">
                <a:solidFill>
                  <a:srgbClr val="6FA593"/>
                </a:solidFill>
                <a:latin typeface="Calibri" pitchFamily="34" charset="0"/>
                <a:ea typeface="Calibri" pitchFamily="34" charset="-122"/>
                <a:cs typeface="Calibri" pitchFamily="34" charset="-120"/>
              </a:rPr>
              <a:t>CUÁNTO DEJA CADA ESTUDIANTE</a:t>
            </a:r>
            <a:endParaRPr lang="en-US" sz="1100" dirty="0"/>
          </a:p>
        </p:txBody>
      </p:sp>
      <p:sp>
        <p:nvSpPr>
          <p:cNvPr id="3" name="Text 1"/>
          <p:cNvSpPr txBox="1"/>
          <p:nvPr/>
        </p:nvSpPr>
        <p:spPr>
          <a:xfrm>
            <a:off x="640080" y="621792"/>
            <a:ext cx="10911535" cy="658368"/>
          </a:xfrm>
          <a:prstGeom prst="rect">
            <a:avLst/>
          </a:prstGeom>
          <a:noFill/>
          <a:ln/>
        </p:spPr>
        <p:txBody>
          <a:bodyPr wrap="square" lIns="0" tIns="0" rIns="0" bIns="0" rtlCol="0" anchor="t"/>
          <a:lstStyle/>
          <a:p>
            <a:pPr indent="0" marL="0">
              <a:buNone/>
            </a:pPr>
            <a:r>
              <a:rPr lang="en-US" sz="3000" b="1" dirty="0">
                <a:solidFill>
                  <a:srgbClr val="1B4D42"/>
                </a:solidFill>
                <a:latin typeface="Cambria" pitchFamily="34" charset="0"/>
                <a:ea typeface="Cambria" pitchFamily="34" charset="-122"/>
                <a:cs typeface="Cambria" pitchFamily="34" charset="-120"/>
              </a:rPr>
              <a:t>Un alumno de universidad vale seis veces uno de inglés</a:t>
            </a:r>
            <a:endParaRPr lang="en-US" sz="3000" dirty="0"/>
          </a:p>
        </p:txBody>
      </p:sp>
      <p:graphicFrame>
        <p:nvGraphicFramePr>
          <p:cNvPr id="4" name="Chart 0" descr=""/>
          <p:cNvGraphicFramePr/>
          <p:nvPr/>
        </p:nvGraphicFramePr>
        <p:xfrm>
          <a:off x="640080" y="1600200"/>
          <a:ext cx="777240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732520" y="1600200"/>
            <a:ext cx="2816352" cy="3977640"/>
          </a:xfrm>
          <a:prstGeom prst="roundRect">
            <a:avLst>
              <a:gd name="adj" fmla="val 1948"/>
            </a:avLst>
          </a:prstGeom>
          <a:solidFill>
            <a:srgbClr val="EAF0ED"/>
          </a:solidFill>
          <a:ln w="12700">
            <a:solidFill>
              <a:srgbClr val="EAF0ED"/>
            </a:solidFill>
            <a:prstDash val="solid"/>
          </a:ln>
        </p:spPr>
      </p:sp>
      <p:sp>
        <p:nvSpPr>
          <p:cNvPr id="6" name="Text 3"/>
          <p:cNvSpPr txBox="1"/>
          <p:nvPr/>
        </p:nvSpPr>
        <p:spPr>
          <a:xfrm>
            <a:off x="9052560" y="1874520"/>
            <a:ext cx="2286000" cy="274320"/>
          </a:xfrm>
          <a:prstGeom prst="rect">
            <a:avLst/>
          </a:prstGeom>
          <a:noFill/>
          <a:ln/>
        </p:spPr>
        <p:txBody>
          <a:bodyPr wrap="square" lIns="0" tIns="0" rIns="0" bIns="0" rtlCol="0" anchor="ctr"/>
          <a:lstStyle/>
          <a:p>
            <a:pPr indent="0" marL="0">
              <a:buNone/>
            </a:pPr>
            <a:r>
              <a:rPr lang="en-US" sz="950" b="1" spc="140" kern="0" dirty="0">
                <a:solidFill>
                  <a:srgbClr val="6FA593"/>
                </a:solidFill>
                <a:latin typeface="Calibri" pitchFamily="34" charset="0"/>
                <a:ea typeface="Calibri" pitchFamily="34" charset="-122"/>
                <a:cs typeface="Calibri" pitchFamily="34" charset="-120"/>
              </a:rPr>
              <a:t>Qué implica</a:t>
            </a:r>
            <a:endParaRPr lang="en-US" sz="950" dirty="0"/>
          </a:p>
        </p:txBody>
      </p:sp>
      <p:sp>
        <p:nvSpPr>
          <p:cNvPr id="7" name="Text 4"/>
          <p:cNvSpPr txBox="1"/>
          <p:nvPr/>
        </p:nvSpPr>
        <p:spPr>
          <a:xfrm>
            <a:off x="9052560" y="2212848"/>
            <a:ext cx="2240280" cy="3108960"/>
          </a:xfrm>
          <a:prstGeom prst="rect">
            <a:avLst/>
          </a:prstGeom>
          <a:noFill/>
          <a:ln/>
        </p:spPr>
        <p:txBody>
          <a:bodyPr wrap="square" lIns="0" tIns="0" rIns="0" bIns="0" rtlCol="0" anchor="ctr"/>
          <a:lstStyle/>
          <a:p>
            <a:pPr indent="0" marL="0">
              <a:lnSpc>
                <a:spcPts val="1500"/>
              </a:lnSpc>
              <a:spcAft>
                <a:spcPts val="900"/>
              </a:spcAft>
              <a:buNone/>
            </a:pPr>
            <a:r>
              <a:rPr lang="en-US" sz="1100" dirty="0">
                <a:solidFill>
                  <a:srgbClr val="586B63"/>
                </a:solidFill>
                <a:latin typeface="Calibri" pitchFamily="34" charset="0"/>
                <a:ea typeface="Calibri" pitchFamily="34" charset="-122"/>
                <a:cs typeface="Calibri" pitchFamily="34" charset="-120"/>
              </a:rPr>
              <a:t>El mismo esfuerzo de captación produce resultados muy distintos.</a:t>
            </a:r>
            <a:endParaRPr lang="en-US" sz="1100" dirty="0"/>
          </a:p>
          <a:p>
            <a:pPr indent="0" marL="0">
              <a:lnSpc>
                <a:spcPts val="1500"/>
              </a:lnSpc>
              <a:spcAft>
                <a:spcPts val="900"/>
              </a:spcAft>
              <a:buNone/>
            </a:pPr>
            <a:r>
              <a:rPr lang="en-US" sz="1100" dirty="0">
                <a:solidFill>
                  <a:srgbClr val="586B63"/>
                </a:solidFill>
                <a:latin typeface="Calibri" pitchFamily="34" charset="0"/>
                <a:ea typeface="Calibri" pitchFamily="34" charset="-122"/>
                <a:cs typeface="Calibri" pitchFamily="34" charset="-120"/>
              </a:rPr>
              <a:t>Año 1: base de inglés y community college, que cierran rápido y validan la operación.</a:t>
            </a:r>
            <a:endParaRPr lang="en-US" sz="1100" dirty="0"/>
          </a:p>
          <a:p>
            <a:pPr indent="0" marL="0">
              <a:lnSpc>
                <a:spcPts val="1500"/>
              </a:lnSpc>
              <a:spcAft>
                <a:spcPts val="900"/>
              </a:spcAft>
              <a:buNone/>
            </a:pPr>
            <a:r>
              <a:rPr lang="en-US" sz="1100" dirty="0">
                <a:solidFill>
                  <a:srgbClr val="586B63"/>
                </a:solidFill>
                <a:latin typeface="Calibri" pitchFamily="34" charset="0"/>
                <a:ea typeface="Calibri" pitchFamily="34" charset="-122"/>
                <a:cs typeface="Calibri" pitchFamily="34" charset="-120"/>
              </a:rPr>
              <a:t>Encima, dos o tres apuestas de pathway universitario: son las que pagan el año.</a:t>
            </a:r>
            <a:endParaRPr lang="en-US" sz="1100" dirty="0"/>
          </a:p>
          <a:p>
            <a:pPr indent="0" marL="0">
              <a:lnSpc>
                <a:spcPts val="1500"/>
              </a:lnSpc>
              <a:spcAft>
                <a:spcPts val="900"/>
              </a:spcAft>
              <a:buNone/>
            </a:pPr>
            <a:r>
              <a:rPr lang="en-US" sz="1100" dirty="0">
                <a:solidFill>
                  <a:srgbClr val="586B63"/>
                </a:solidFill>
                <a:latin typeface="Calibri" pitchFamily="34" charset="0"/>
                <a:ea typeface="Calibri" pitchFamily="34" charset="-122"/>
                <a:cs typeface="Calibri" pitchFamily="34" charset="-120"/>
              </a:rPr>
              <a:t>Pedir siempre comisión de continuación en los años 2 a 4. Convierte un cobro puntual en una renta.</a:t>
            </a:r>
            <a:endParaRPr lang="en-US" sz="1100" dirty="0"/>
          </a:p>
        </p:txBody>
      </p:sp>
      <p:sp>
        <p:nvSpPr>
          <p:cNvPr id="8" name="Text 5"/>
          <p:cNvSpPr txBox="1"/>
          <p:nvPr/>
        </p:nvSpPr>
        <p:spPr>
          <a:xfrm>
            <a:off x="640080" y="6291072"/>
            <a:ext cx="10911535" cy="274320"/>
          </a:xfrm>
          <a:prstGeom prst="rect">
            <a:avLst/>
          </a:prstGeom>
          <a:noFill/>
          <a:ln/>
        </p:spPr>
        <p:txBody>
          <a:bodyPr wrap="square" lIns="0" tIns="0" rIns="0" bIns="0" rtlCol="0" anchor="ctr"/>
          <a:lstStyle/>
          <a:p>
            <a:pPr indent="0" marL="0">
              <a:buNone/>
            </a:pPr>
            <a:r>
              <a:rPr lang="en-US" sz="1000" i="1" dirty="0">
                <a:solidFill>
                  <a:srgbClr val="586B63"/>
                </a:solidFill>
                <a:latin typeface="Calibri" pitchFamily="34" charset="0"/>
                <a:ea typeface="Calibri" pitchFamily="34" charset="-122"/>
                <a:cs typeface="Calibri" pitchFamily="34" charset="-120"/>
              </a:rPr>
              <a:t>Supuestos de trabajo en USD por estudiante matriculado, no cotizaciones. Se sustituyen por los números de nuestros contratos en cuanto los tengamos firmados.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28600"/>
          </a:xfrm>
          <a:prstGeom prst="rect">
            <a:avLst/>
          </a:prstGeom>
          <a:noFill/>
          <a:ln/>
        </p:spPr>
        <p:txBody>
          <a:bodyPr wrap="square" lIns="0" tIns="0" rIns="0" bIns="0" rtlCol="0" anchor="ctr"/>
          <a:lstStyle/>
          <a:p>
            <a:pPr indent="0" marL="0">
              <a:buNone/>
            </a:pPr>
            <a:r>
              <a:rPr lang="en-US" sz="1100" b="1" spc="200" kern="0" dirty="0">
                <a:solidFill>
                  <a:srgbClr val="6FA593"/>
                </a:solidFill>
                <a:latin typeface="Calibri" pitchFamily="34" charset="0"/>
                <a:ea typeface="Calibri" pitchFamily="34" charset="-122"/>
                <a:cs typeface="Calibri" pitchFamily="34" charset="-120"/>
              </a:rPr>
              <a:t>QUÉ LE COBRAMOS A LA FAMILIA</a:t>
            </a:r>
            <a:endParaRPr lang="en-US" sz="1100" dirty="0"/>
          </a:p>
        </p:txBody>
      </p:sp>
      <p:sp>
        <p:nvSpPr>
          <p:cNvPr id="3" name="Text 1"/>
          <p:cNvSpPr txBox="1"/>
          <p:nvPr/>
        </p:nvSpPr>
        <p:spPr>
          <a:xfrm>
            <a:off x="640080" y="621792"/>
            <a:ext cx="10911535" cy="658368"/>
          </a:xfrm>
          <a:prstGeom prst="rect">
            <a:avLst/>
          </a:prstGeom>
          <a:noFill/>
          <a:ln/>
        </p:spPr>
        <p:txBody>
          <a:bodyPr wrap="square" lIns="0" tIns="0" rIns="0" bIns="0" rtlCol="0" anchor="t"/>
          <a:lstStyle/>
          <a:p>
            <a:pPr indent="0" marL="0">
              <a:buNone/>
            </a:pPr>
            <a:r>
              <a:rPr lang="en-US" sz="3000" b="1" dirty="0">
                <a:solidFill>
                  <a:srgbClr val="1B4D42"/>
                </a:solidFill>
                <a:latin typeface="Cambria" pitchFamily="34" charset="0"/>
                <a:ea typeface="Cambria" pitchFamily="34" charset="-122"/>
                <a:cs typeface="Cambria" pitchFamily="34" charset="-120"/>
              </a:rPr>
              <a:t>Precio cerrado, publicado y por etapas</a:t>
            </a:r>
            <a:endParaRPr lang="en-US" sz="3000" dirty="0"/>
          </a:p>
        </p:txBody>
      </p:sp>
      <p:sp>
        <p:nvSpPr>
          <p:cNvPr id="4" name="Shape 2"/>
          <p:cNvSpPr/>
          <p:nvPr/>
        </p:nvSpPr>
        <p:spPr>
          <a:xfrm>
            <a:off x="640080" y="1572768"/>
            <a:ext cx="3520440" cy="3657600"/>
          </a:xfrm>
          <a:prstGeom prst="roundRect">
            <a:avLst>
              <a:gd name="adj" fmla="val 1558"/>
            </a:avLst>
          </a:prstGeom>
          <a:solidFill>
            <a:srgbClr val="EAF0ED"/>
          </a:solidFill>
          <a:ln w="12700">
            <a:solidFill>
              <a:srgbClr val="EAF0ED"/>
            </a:solidFill>
            <a:prstDash val="solid"/>
          </a:ln>
        </p:spPr>
      </p:sp>
      <p:sp>
        <p:nvSpPr>
          <p:cNvPr id="5" name="Text 3"/>
          <p:cNvSpPr txBox="1"/>
          <p:nvPr/>
        </p:nvSpPr>
        <p:spPr>
          <a:xfrm>
            <a:off x="932688" y="1810512"/>
            <a:ext cx="2935224" cy="256032"/>
          </a:xfrm>
          <a:prstGeom prst="rect">
            <a:avLst/>
          </a:prstGeom>
          <a:noFill/>
          <a:ln/>
        </p:spPr>
        <p:txBody>
          <a:bodyPr wrap="square" lIns="0" tIns="0" rIns="0" bIns="0" rtlCol="0" anchor="ctr"/>
          <a:lstStyle/>
          <a:p>
            <a:pPr indent="0" marL="0">
              <a:buNone/>
            </a:pPr>
            <a:r>
              <a:rPr lang="en-US" sz="950" b="1" spc="140" kern="0" dirty="0">
                <a:solidFill>
                  <a:srgbClr val="6FA593"/>
                </a:solidFill>
                <a:latin typeface="Calibri" pitchFamily="34" charset="0"/>
                <a:ea typeface="Calibri" pitchFamily="34" charset="-122"/>
                <a:cs typeface="Calibri" pitchFamily="34" charset="-120"/>
              </a:rPr>
              <a:t>ESENCIAL</a:t>
            </a:r>
            <a:endParaRPr lang="en-US" sz="950" dirty="0"/>
          </a:p>
        </p:txBody>
      </p:sp>
      <p:sp>
        <p:nvSpPr>
          <p:cNvPr id="6" name="Text 4"/>
          <p:cNvSpPr txBox="1"/>
          <p:nvPr/>
        </p:nvSpPr>
        <p:spPr>
          <a:xfrm>
            <a:off x="932688" y="2066544"/>
            <a:ext cx="2935224" cy="566928"/>
          </a:xfrm>
          <a:prstGeom prst="rect">
            <a:avLst/>
          </a:prstGeom>
          <a:noFill/>
          <a:ln/>
        </p:spPr>
        <p:txBody>
          <a:bodyPr wrap="square" lIns="0" tIns="0" rIns="0" bIns="0" rtlCol="0" anchor="ctr"/>
          <a:lstStyle/>
          <a:p>
            <a:pPr indent="0" marL="0">
              <a:buNone/>
            </a:pPr>
            <a:r>
              <a:rPr lang="en-US" sz="3400" b="1" dirty="0">
                <a:solidFill>
                  <a:srgbClr val="1B4D42"/>
                </a:solidFill>
                <a:latin typeface="Cambria" pitchFamily="34" charset="0"/>
                <a:ea typeface="Cambria" pitchFamily="34" charset="-122"/>
                <a:cs typeface="Cambria" pitchFamily="34" charset="-120"/>
              </a:rPr>
              <a:t>$890</a:t>
            </a:r>
            <a:endParaRPr lang="en-US" sz="3400" dirty="0"/>
          </a:p>
        </p:txBody>
      </p:sp>
      <p:sp>
        <p:nvSpPr>
          <p:cNvPr id="7" name="Text 5"/>
          <p:cNvSpPr txBox="1"/>
          <p:nvPr/>
        </p:nvSpPr>
        <p:spPr>
          <a:xfrm>
            <a:off x="932688" y="2651760"/>
            <a:ext cx="2935224" cy="320040"/>
          </a:xfrm>
          <a:prstGeom prst="rect">
            <a:avLst/>
          </a:prstGeom>
          <a:noFill/>
          <a:ln/>
        </p:spPr>
        <p:txBody>
          <a:bodyPr wrap="square" lIns="0" tIns="0" rIns="0" bIns="0" rtlCol="0" anchor="ctr"/>
          <a:lstStyle/>
          <a:p>
            <a:pPr indent="0" marL="0">
              <a:buNone/>
            </a:pPr>
            <a:r>
              <a:rPr lang="en-US" sz="1150" i="1" dirty="0">
                <a:solidFill>
                  <a:srgbClr val="586B63"/>
                </a:solidFill>
                <a:latin typeface="Calibri" pitchFamily="34" charset="0"/>
                <a:ea typeface="Calibri" pitchFamily="34" charset="-122"/>
                <a:cs typeface="Calibri" pitchFamily="34" charset="-120"/>
              </a:rPr>
              <a:t>Para quien ya sabe qué quiere estudiar.</a:t>
            </a:r>
            <a:endParaRPr lang="en-US" sz="1150" dirty="0"/>
          </a:p>
        </p:txBody>
      </p:sp>
      <p:sp>
        <p:nvSpPr>
          <p:cNvPr id="8" name="Text 6"/>
          <p:cNvSpPr txBox="1"/>
          <p:nvPr/>
        </p:nvSpPr>
        <p:spPr>
          <a:xfrm>
            <a:off x="932688" y="3063240"/>
            <a:ext cx="2971800" cy="141732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586B63"/>
                </a:solidFill>
                <a:latin typeface="Calibri" pitchFamily="34" charset="0"/>
                <a:ea typeface="Calibri" pitchFamily="34" charset="-122"/>
                <a:cs typeface="Calibri" pitchFamily="34" charset="-120"/>
              </a:rPr>
              <a:t>Hasta 4 aplicaciones</a:t>
            </a:r>
            <a:endParaRPr lang="en-US" sz="1150" dirty="0"/>
          </a:p>
          <a:p>
            <a:pPr marL="342900" indent="-342900">
              <a:lnSpc>
                <a:spcPts val="1500"/>
              </a:lnSpc>
              <a:spcAft>
                <a:spcPts val="600"/>
              </a:spcAft>
              <a:buSzPct val="100000"/>
              <a:buChar char="•"/>
            </a:pPr>
            <a:r>
              <a:rPr lang="en-US" sz="1150" dirty="0">
                <a:solidFill>
                  <a:srgbClr val="586B63"/>
                </a:solidFill>
                <a:latin typeface="Calibri" pitchFamily="34" charset="0"/>
                <a:ea typeface="Calibri" pitchFamily="34" charset="-122"/>
                <a:cs typeface="Calibri" pitchFamily="34" charset="-120"/>
              </a:rPr>
              <a:t>Revisión del expediente</a:t>
            </a:r>
            <a:endParaRPr lang="en-US" sz="1150" dirty="0"/>
          </a:p>
          <a:p>
            <a:pPr marL="342900" indent="-342900">
              <a:lnSpc>
                <a:spcPts val="1500"/>
              </a:lnSpc>
              <a:spcAft>
                <a:spcPts val="600"/>
              </a:spcAft>
              <a:buSzPct val="100000"/>
              <a:buChar char="•"/>
            </a:pPr>
            <a:r>
              <a:rPr lang="en-US" sz="1150" dirty="0">
                <a:solidFill>
                  <a:srgbClr val="586B63"/>
                </a:solidFill>
                <a:latin typeface="Calibri" pitchFamily="34" charset="0"/>
                <a:ea typeface="Calibri" pitchFamily="34" charset="-122"/>
                <a:cs typeface="Calibri" pitchFamily="34" charset="-120"/>
              </a:rPr>
              <a:t>Guía de apostilla y traducciones</a:t>
            </a:r>
            <a:endParaRPr lang="en-US" sz="1150" dirty="0"/>
          </a:p>
          <a:p>
            <a:pPr marL="342900" indent="-342900">
              <a:lnSpc>
                <a:spcPts val="1500"/>
              </a:lnSpc>
              <a:spcAft>
                <a:spcPts val="600"/>
              </a:spcAft>
              <a:buSzPct val="100000"/>
              <a:buChar char="•"/>
            </a:pPr>
            <a:r>
              <a:rPr lang="en-US" sz="1150" dirty="0">
                <a:solidFill>
                  <a:srgbClr val="586B63"/>
                </a:solidFill>
                <a:latin typeface="Calibri" pitchFamily="34" charset="0"/>
                <a:ea typeface="Calibri" pitchFamily="34" charset="-122"/>
                <a:cs typeface="Calibri" pitchFamily="34" charset="-120"/>
              </a:rPr>
              <a:t>Seguimiento hasta la admisión</a:t>
            </a:r>
            <a:endParaRPr lang="en-US" sz="1150" dirty="0"/>
          </a:p>
        </p:txBody>
      </p:sp>
      <p:sp>
        <p:nvSpPr>
          <p:cNvPr id="9" name="Text 7"/>
          <p:cNvSpPr txBox="1"/>
          <p:nvPr/>
        </p:nvSpPr>
        <p:spPr>
          <a:xfrm>
            <a:off x="932688" y="4617720"/>
            <a:ext cx="2935224" cy="457200"/>
          </a:xfrm>
          <a:prstGeom prst="rect">
            <a:avLst/>
          </a:prstGeom>
          <a:noFill/>
          <a:ln/>
        </p:spPr>
        <p:txBody>
          <a:bodyPr wrap="square" lIns="0" tIns="0" rIns="0" bIns="0" rtlCol="0" anchor="ctr"/>
          <a:lstStyle/>
          <a:p>
            <a:pPr indent="0" marL="0">
              <a:lnSpc>
                <a:spcPts val="1400"/>
              </a:lnSpc>
              <a:buNone/>
            </a:pPr>
            <a:r>
              <a:rPr lang="en-US" sz="1000" dirty="0">
                <a:solidFill>
                  <a:srgbClr val="6FA593"/>
                </a:solidFill>
                <a:latin typeface="Calibri" pitchFamily="34" charset="0"/>
                <a:ea typeface="Calibri" pitchFamily="34" charset="-122"/>
                <a:cs typeface="Calibri" pitchFamily="34" charset="-120"/>
              </a:rPr>
              <a:t>50 % al firmar · 50 % en la primera aplicación</a:t>
            </a:r>
            <a:endParaRPr lang="en-US" sz="1000" dirty="0"/>
          </a:p>
        </p:txBody>
      </p:sp>
      <p:sp>
        <p:nvSpPr>
          <p:cNvPr id="10" name="Shape 8"/>
          <p:cNvSpPr/>
          <p:nvPr/>
        </p:nvSpPr>
        <p:spPr>
          <a:xfrm>
            <a:off x="4544568" y="1572768"/>
            <a:ext cx="3520440" cy="3657600"/>
          </a:xfrm>
          <a:prstGeom prst="roundRect">
            <a:avLst>
              <a:gd name="adj" fmla="val 1558"/>
            </a:avLst>
          </a:prstGeom>
          <a:solidFill>
            <a:srgbClr val="1B4D42"/>
          </a:solidFill>
          <a:ln w="12700">
            <a:solidFill>
              <a:srgbClr val="1B4D42"/>
            </a:solidFill>
            <a:prstDash val="solid"/>
          </a:ln>
        </p:spPr>
      </p:sp>
      <p:sp>
        <p:nvSpPr>
          <p:cNvPr id="11" name="Text 9"/>
          <p:cNvSpPr txBox="1"/>
          <p:nvPr/>
        </p:nvSpPr>
        <p:spPr>
          <a:xfrm>
            <a:off x="4837176" y="1810512"/>
            <a:ext cx="2935224" cy="256032"/>
          </a:xfrm>
          <a:prstGeom prst="rect">
            <a:avLst/>
          </a:prstGeom>
          <a:noFill/>
          <a:ln/>
        </p:spPr>
        <p:txBody>
          <a:bodyPr wrap="square" lIns="0" tIns="0" rIns="0" bIns="0" rtlCol="0" anchor="ctr"/>
          <a:lstStyle/>
          <a:p>
            <a:pPr indent="0" marL="0">
              <a:buNone/>
            </a:pPr>
            <a:r>
              <a:rPr lang="en-US" sz="950" b="1" spc="140" kern="0" dirty="0">
                <a:solidFill>
                  <a:srgbClr val="D99B2B"/>
                </a:solidFill>
                <a:latin typeface="Calibri" pitchFamily="34" charset="0"/>
                <a:ea typeface="Calibri" pitchFamily="34" charset="-122"/>
                <a:cs typeface="Calibri" pitchFamily="34" charset="-120"/>
              </a:rPr>
              <a:t>COMPLETO</a:t>
            </a:r>
            <a:endParaRPr lang="en-US" sz="950" dirty="0"/>
          </a:p>
        </p:txBody>
      </p:sp>
      <p:sp>
        <p:nvSpPr>
          <p:cNvPr id="12" name="Text 10"/>
          <p:cNvSpPr txBox="1"/>
          <p:nvPr/>
        </p:nvSpPr>
        <p:spPr>
          <a:xfrm>
            <a:off x="4837176" y="2066544"/>
            <a:ext cx="2935224"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$1.950</a:t>
            </a:r>
            <a:endParaRPr lang="en-US" sz="3400" dirty="0"/>
          </a:p>
        </p:txBody>
      </p:sp>
      <p:sp>
        <p:nvSpPr>
          <p:cNvPr id="13" name="Text 11"/>
          <p:cNvSpPr txBox="1"/>
          <p:nvPr/>
        </p:nvSpPr>
        <p:spPr>
          <a:xfrm>
            <a:off x="4837176" y="2651760"/>
            <a:ext cx="2935224" cy="320040"/>
          </a:xfrm>
          <a:prstGeom prst="rect">
            <a:avLst/>
          </a:prstGeom>
          <a:noFill/>
          <a:ln/>
        </p:spPr>
        <p:txBody>
          <a:bodyPr wrap="square" lIns="0" tIns="0" rIns="0" bIns="0" rtlCol="0" anchor="ctr"/>
          <a:lstStyle/>
          <a:p>
            <a:pPr indent="0" marL="0">
              <a:buNone/>
            </a:pPr>
            <a:r>
              <a:rPr lang="en-US" sz="1150" i="1" dirty="0">
                <a:solidFill>
                  <a:srgbClr val="E9F0EC"/>
                </a:solidFill>
                <a:latin typeface="Calibri" pitchFamily="34" charset="0"/>
                <a:ea typeface="Calibri" pitchFamily="34" charset="-122"/>
                <a:cs typeface="Calibri" pitchFamily="34" charset="-120"/>
              </a:rPr>
              <a:t>Todo el camino, incluida la visa.</a:t>
            </a:r>
            <a:endParaRPr lang="en-US" sz="1150" dirty="0"/>
          </a:p>
        </p:txBody>
      </p:sp>
      <p:sp>
        <p:nvSpPr>
          <p:cNvPr id="14" name="Text 12"/>
          <p:cNvSpPr txBox="1"/>
          <p:nvPr/>
        </p:nvSpPr>
        <p:spPr>
          <a:xfrm>
            <a:off x="4837176" y="3063240"/>
            <a:ext cx="2971800" cy="141732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E9F0EC"/>
                </a:solidFill>
                <a:latin typeface="Calibri" pitchFamily="34" charset="0"/>
                <a:ea typeface="Calibri" pitchFamily="34" charset="-122"/>
                <a:cs typeface="Calibri" pitchFamily="34" charset="-120"/>
              </a:rPr>
              <a:t>Hasta 10 aplicaciones</a:t>
            </a:r>
            <a:endParaRPr lang="en-US" sz="1150" dirty="0"/>
          </a:p>
          <a:p>
            <a:pPr marL="342900" indent="-342900">
              <a:lnSpc>
                <a:spcPts val="1500"/>
              </a:lnSpc>
              <a:spcAft>
                <a:spcPts val="600"/>
              </a:spcAft>
              <a:buSzPct val="100000"/>
              <a:buChar char="•"/>
            </a:pPr>
            <a:r>
              <a:rPr lang="en-US" sz="1150" dirty="0">
                <a:solidFill>
                  <a:srgbClr val="E9F0EC"/>
                </a:solidFill>
                <a:latin typeface="Calibri" pitchFamily="34" charset="0"/>
                <a:ea typeface="Calibri" pitchFamily="34" charset="-122"/>
                <a:cs typeface="Calibri" pitchFamily="34" charset="-120"/>
              </a:rPr>
              <a:t>Ensayos y cartas</a:t>
            </a:r>
            <a:endParaRPr lang="en-US" sz="1150" dirty="0"/>
          </a:p>
          <a:p>
            <a:pPr marL="342900" indent="-342900">
              <a:lnSpc>
                <a:spcPts val="1500"/>
              </a:lnSpc>
              <a:spcAft>
                <a:spcPts val="600"/>
              </a:spcAft>
              <a:buSzPct val="100000"/>
              <a:buChar char="•"/>
            </a:pPr>
            <a:r>
              <a:rPr lang="en-US" sz="1150" dirty="0">
                <a:solidFill>
                  <a:srgbClr val="E9F0EC"/>
                </a:solidFill>
                <a:latin typeface="Calibri" pitchFamily="34" charset="0"/>
                <a:ea typeface="Calibri" pitchFamily="34" charset="-122"/>
                <a:cs typeface="Calibri" pitchFamily="34" charset="-120"/>
              </a:rPr>
              <a:t>Búsqueda de becas</a:t>
            </a:r>
            <a:endParaRPr lang="en-US" sz="1150" dirty="0"/>
          </a:p>
          <a:p>
            <a:pPr marL="342900" indent="-342900">
              <a:lnSpc>
                <a:spcPts val="1500"/>
              </a:lnSpc>
              <a:spcAft>
                <a:spcPts val="600"/>
              </a:spcAft>
              <a:buSzPct val="100000"/>
              <a:buChar char="•"/>
            </a:pPr>
            <a:r>
              <a:rPr lang="en-US" sz="1150" dirty="0">
                <a:solidFill>
                  <a:srgbClr val="E9F0EC"/>
                </a:solidFill>
                <a:latin typeface="Calibri" pitchFamily="34" charset="0"/>
                <a:ea typeface="Calibri" pitchFamily="34" charset="-122"/>
                <a:cs typeface="Calibri" pitchFamily="34" charset="-120"/>
              </a:rPr>
              <a:t>Carpeta financiera</a:t>
            </a:r>
            <a:endParaRPr lang="en-US" sz="1150" dirty="0"/>
          </a:p>
          <a:p>
            <a:pPr marL="342900" indent="-342900">
              <a:lnSpc>
                <a:spcPts val="1500"/>
              </a:lnSpc>
              <a:spcAft>
                <a:spcPts val="600"/>
              </a:spcAft>
              <a:buSzPct val="100000"/>
              <a:buChar char="•"/>
            </a:pPr>
            <a:r>
              <a:rPr lang="en-US" sz="1150" dirty="0">
                <a:solidFill>
                  <a:srgbClr val="E9F0EC"/>
                </a:solidFill>
                <a:latin typeface="Calibri" pitchFamily="34" charset="0"/>
                <a:ea typeface="Calibri" pitchFamily="34" charset="-122"/>
                <a:cs typeface="Calibri" pitchFamily="34" charset="-120"/>
              </a:rPr>
              <a:t>Visa F‑1 y dos simulacros</a:t>
            </a:r>
            <a:endParaRPr lang="en-US" sz="1150" dirty="0"/>
          </a:p>
        </p:txBody>
      </p:sp>
      <p:sp>
        <p:nvSpPr>
          <p:cNvPr id="15" name="Text 13"/>
          <p:cNvSpPr txBox="1"/>
          <p:nvPr/>
        </p:nvSpPr>
        <p:spPr>
          <a:xfrm>
            <a:off x="4837176" y="4617720"/>
            <a:ext cx="2935224" cy="457200"/>
          </a:xfrm>
          <a:prstGeom prst="rect">
            <a:avLst/>
          </a:prstGeom>
          <a:noFill/>
          <a:ln/>
        </p:spPr>
        <p:txBody>
          <a:bodyPr wrap="square" lIns="0" tIns="0" rIns="0" bIns="0" rtlCol="0" anchor="ctr"/>
          <a:lstStyle/>
          <a:p>
            <a:pPr indent="0" marL="0">
              <a:lnSpc>
                <a:spcPts val="1400"/>
              </a:lnSpc>
              <a:buNone/>
            </a:pPr>
            <a:r>
              <a:rPr lang="en-US" sz="1000" dirty="0">
                <a:solidFill>
                  <a:srgbClr val="D99B2B"/>
                </a:solidFill>
                <a:latin typeface="Calibri" pitchFamily="34" charset="0"/>
                <a:ea typeface="Calibri" pitchFamily="34" charset="-122"/>
                <a:cs typeface="Calibri" pitchFamily="34" charset="-120"/>
              </a:rPr>
              <a:t>40 % al firmar · 30 % aplicaciones · 30 % al I‑20</a:t>
            </a:r>
            <a:endParaRPr lang="en-US" sz="1000" dirty="0"/>
          </a:p>
        </p:txBody>
      </p:sp>
      <p:sp>
        <p:nvSpPr>
          <p:cNvPr id="16" name="Shape 14"/>
          <p:cNvSpPr/>
          <p:nvPr/>
        </p:nvSpPr>
        <p:spPr>
          <a:xfrm>
            <a:off x="8449056" y="1572768"/>
            <a:ext cx="3520440" cy="3657600"/>
          </a:xfrm>
          <a:prstGeom prst="roundRect">
            <a:avLst>
              <a:gd name="adj" fmla="val 1558"/>
            </a:avLst>
          </a:prstGeom>
          <a:solidFill>
            <a:srgbClr val="EAF0ED"/>
          </a:solidFill>
          <a:ln w="12700">
            <a:solidFill>
              <a:srgbClr val="EAF0ED"/>
            </a:solidFill>
            <a:prstDash val="solid"/>
          </a:ln>
        </p:spPr>
      </p:sp>
      <p:sp>
        <p:nvSpPr>
          <p:cNvPr id="17" name="Text 15"/>
          <p:cNvSpPr txBox="1"/>
          <p:nvPr/>
        </p:nvSpPr>
        <p:spPr>
          <a:xfrm>
            <a:off x="8741664" y="1810512"/>
            <a:ext cx="2935224" cy="256032"/>
          </a:xfrm>
          <a:prstGeom prst="rect">
            <a:avLst/>
          </a:prstGeom>
          <a:noFill/>
          <a:ln/>
        </p:spPr>
        <p:txBody>
          <a:bodyPr wrap="square" lIns="0" tIns="0" rIns="0" bIns="0" rtlCol="0" anchor="ctr"/>
          <a:lstStyle/>
          <a:p>
            <a:pPr indent="0" marL="0">
              <a:buNone/>
            </a:pPr>
            <a:r>
              <a:rPr lang="en-US" sz="950" b="1" spc="140" kern="0" dirty="0">
                <a:solidFill>
                  <a:srgbClr val="6FA593"/>
                </a:solidFill>
                <a:latin typeface="Calibri" pitchFamily="34" charset="0"/>
                <a:ea typeface="Calibri" pitchFamily="34" charset="-122"/>
                <a:cs typeface="Calibri" pitchFamily="34" charset="-120"/>
              </a:rPr>
              <a:t>SOLO VISA F‑1</a:t>
            </a:r>
            <a:endParaRPr lang="en-US" sz="950" dirty="0"/>
          </a:p>
        </p:txBody>
      </p:sp>
      <p:sp>
        <p:nvSpPr>
          <p:cNvPr id="18" name="Text 16"/>
          <p:cNvSpPr txBox="1"/>
          <p:nvPr/>
        </p:nvSpPr>
        <p:spPr>
          <a:xfrm>
            <a:off x="8741664" y="2066544"/>
            <a:ext cx="2935224" cy="566928"/>
          </a:xfrm>
          <a:prstGeom prst="rect">
            <a:avLst/>
          </a:prstGeom>
          <a:noFill/>
          <a:ln/>
        </p:spPr>
        <p:txBody>
          <a:bodyPr wrap="square" lIns="0" tIns="0" rIns="0" bIns="0" rtlCol="0" anchor="ctr"/>
          <a:lstStyle/>
          <a:p>
            <a:pPr indent="0" marL="0">
              <a:buNone/>
            </a:pPr>
            <a:r>
              <a:rPr lang="en-US" sz="3400" b="1" dirty="0">
                <a:solidFill>
                  <a:srgbClr val="1B4D42"/>
                </a:solidFill>
                <a:latin typeface="Cambria" pitchFamily="34" charset="0"/>
                <a:ea typeface="Cambria" pitchFamily="34" charset="-122"/>
                <a:cs typeface="Cambria" pitchFamily="34" charset="-120"/>
              </a:rPr>
              <a:t>$490</a:t>
            </a:r>
            <a:endParaRPr lang="en-US" sz="3400" dirty="0"/>
          </a:p>
        </p:txBody>
      </p:sp>
      <p:sp>
        <p:nvSpPr>
          <p:cNvPr id="19" name="Text 17"/>
          <p:cNvSpPr txBox="1"/>
          <p:nvPr/>
        </p:nvSpPr>
        <p:spPr>
          <a:xfrm>
            <a:off x="8741664" y="2651760"/>
            <a:ext cx="2935224" cy="320040"/>
          </a:xfrm>
          <a:prstGeom prst="rect">
            <a:avLst/>
          </a:prstGeom>
          <a:noFill/>
          <a:ln/>
        </p:spPr>
        <p:txBody>
          <a:bodyPr wrap="square" lIns="0" tIns="0" rIns="0" bIns="0" rtlCol="0" anchor="ctr"/>
          <a:lstStyle/>
          <a:p>
            <a:pPr indent="0" marL="0">
              <a:buNone/>
            </a:pPr>
            <a:r>
              <a:rPr lang="en-US" sz="1150" i="1" dirty="0">
                <a:solidFill>
                  <a:srgbClr val="586B63"/>
                </a:solidFill>
                <a:latin typeface="Calibri" pitchFamily="34" charset="0"/>
                <a:ea typeface="Calibri" pitchFamily="34" charset="-122"/>
                <a:cs typeface="Calibri" pitchFamily="34" charset="-120"/>
              </a:rPr>
              <a:t>Ya tiene admisión y falta lo difícil.</a:t>
            </a:r>
            <a:endParaRPr lang="en-US" sz="1150" dirty="0"/>
          </a:p>
        </p:txBody>
      </p:sp>
      <p:sp>
        <p:nvSpPr>
          <p:cNvPr id="20" name="Text 18"/>
          <p:cNvSpPr txBox="1"/>
          <p:nvPr/>
        </p:nvSpPr>
        <p:spPr>
          <a:xfrm>
            <a:off x="8741664" y="3063240"/>
            <a:ext cx="2971800" cy="141732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586B63"/>
                </a:solidFill>
                <a:latin typeface="Calibri" pitchFamily="34" charset="0"/>
                <a:ea typeface="Calibri" pitchFamily="34" charset="-122"/>
                <a:cs typeface="Calibri" pitchFamily="34" charset="-120"/>
              </a:rPr>
              <a:t>Revisión del I‑20</a:t>
            </a:r>
            <a:endParaRPr lang="en-US" sz="1150" dirty="0"/>
          </a:p>
          <a:p>
            <a:pPr marL="342900" indent="-342900">
              <a:lnSpc>
                <a:spcPts val="1500"/>
              </a:lnSpc>
              <a:spcAft>
                <a:spcPts val="600"/>
              </a:spcAft>
              <a:buSzPct val="100000"/>
              <a:buChar char="•"/>
            </a:pPr>
            <a:r>
              <a:rPr lang="en-US" sz="1150" dirty="0">
                <a:solidFill>
                  <a:srgbClr val="586B63"/>
                </a:solidFill>
                <a:latin typeface="Calibri" pitchFamily="34" charset="0"/>
                <a:ea typeface="Calibri" pitchFamily="34" charset="-122"/>
                <a:cs typeface="Calibri" pitchFamily="34" charset="-120"/>
              </a:rPr>
              <a:t>DS‑160 y tasas</a:t>
            </a:r>
            <a:endParaRPr lang="en-US" sz="1150" dirty="0"/>
          </a:p>
          <a:p>
            <a:pPr marL="342900" indent="-342900">
              <a:lnSpc>
                <a:spcPts val="1500"/>
              </a:lnSpc>
              <a:spcAft>
                <a:spcPts val="600"/>
              </a:spcAft>
              <a:buSzPct val="100000"/>
              <a:buChar char="•"/>
            </a:pPr>
            <a:r>
              <a:rPr lang="en-US" sz="1150" dirty="0">
                <a:solidFill>
                  <a:srgbClr val="586B63"/>
                </a:solidFill>
                <a:latin typeface="Calibri" pitchFamily="34" charset="0"/>
                <a:ea typeface="Calibri" pitchFamily="34" charset="-122"/>
                <a:cs typeface="Calibri" pitchFamily="34" charset="-120"/>
              </a:rPr>
              <a:t>Carpeta financiera</a:t>
            </a:r>
            <a:endParaRPr lang="en-US" sz="1150" dirty="0"/>
          </a:p>
          <a:p>
            <a:pPr marL="342900" indent="-342900">
              <a:lnSpc>
                <a:spcPts val="1500"/>
              </a:lnSpc>
              <a:spcAft>
                <a:spcPts val="600"/>
              </a:spcAft>
              <a:buSzPct val="100000"/>
              <a:buChar char="•"/>
            </a:pPr>
            <a:r>
              <a:rPr lang="en-US" sz="1150" dirty="0">
                <a:solidFill>
                  <a:srgbClr val="586B63"/>
                </a:solidFill>
                <a:latin typeface="Calibri" pitchFamily="34" charset="0"/>
                <a:ea typeface="Calibri" pitchFamily="34" charset="-122"/>
                <a:cs typeface="Calibri" pitchFamily="34" charset="-120"/>
              </a:rPr>
              <a:t>Dos simulacros de entrevista</a:t>
            </a:r>
            <a:endParaRPr lang="en-US" sz="1150" dirty="0"/>
          </a:p>
        </p:txBody>
      </p:sp>
      <p:sp>
        <p:nvSpPr>
          <p:cNvPr id="21" name="Text 19"/>
          <p:cNvSpPr txBox="1"/>
          <p:nvPr/>
        </p:nvSpPr>
        <p:spPr>
          <a:xfrm>
            <a:off x="8741664" y="4617720"/>
            <a:ext cx="2935224" cy="457200"/>
          </a:xfrm>
          <a:prstGeom prst="rect">
            <a:avLst/>
          </a:prstGeom>
          <a:noFill/>
          <a:ln/>
        </p:spPr>
        <p:txBody>
          <a:bodyPr wrap="square" lIns="0" tIns="0" rIns="0" bIns="0" rtlCol="0" anchor="ctr"/>
          <a:lstStyle/>
          <a:p>
            <a:pPr indent="0" marL="0">
              <a:lnSpc>
                <a:spcPts val="1400"/>
              </a:lnSpc>
              <a:buNone/>
            </a:pPr>
            <a:r>
              <a:rPr lang="en-US" sz="1000" dirty="0">
                <a:solidFill>
                  <a:srgbClr val="6FA593"/>
                </a:solidFill>
                <a:latin typeface="Calibri" pitchFamily="34" charset="0"/>
                <a:ea typeface="Calibri" pitchFamily="34" charset="-122"/>
                <a:cs typeface="Calibri" pitchFamily="34" charset="-120"/>
              </a:rPr>
              <a:t>100 % al firmar</a:t>
            </a:r>
            <a:endParaRPr lang="en-US" sz="1000" dirty="0"/>
          </a:p>
        </p:txBody>
      </p:sp>
      <p:sp>
        <p:nvSpPr>
          <p:cNvPr id="22" name="Text 20"/>
          <p:cNvSpPr txBox="1"/>
          <p:nvPr/>
        </p:nvSpPr>
        <p:spPr>
          <a:xfrm>
            <a:off x="640080" y="5440680"/>
            <a:ext cx="10911535" cy="457200"/>
          </a:xfrm>
          <a:prstGeom prst="rect">
            <a:avLst/>
          </a:prstGeom>
          <a:noFill/>
          <a:ln/>
        </p:spPr>
        <p:txBody>
          <a:bodyPr wrap="square" lIns="0" tIns="0" rIns="0" bIns="0" rtlCol="0" anchor="ctr"/>
          <a:lstStyle/>
          <a:p>
            <a:pPr indent="0" marL="0">
              <a:lnSpc>
                <a:spcPts val="1800"/>
              </a:lnSpc>
              <a:buNone/>
            </a:pPr>
            <a:r>
              <a:rPr lang="en-US" sz="1250" dirty="0">
                <a:solidFill>
                  <a:srgbClr val="586B63"/>
                </a:solidFill>
                <a:latin typeface="Calibri" pitchFamily="34" charset="0"/>
                <a:ea typeface="Calibri" pitchFamily="34" charset="-122"/>
                <a:cs typeface="Calibri" pitchFamily="34" charset="-120"/>
              </a:rPr>
              <a:t>La orientación inicial va gratis: es la herramienta de venta y el filtro. De cada diez llamadas, seis no califican — y es mejor descubrirlo en media hora que en el mes tres.</a:t>
            </a:r>
            <a:endParaRPr lang="en-US" sz="1250" dirty="0"/>
          </a:p>
        </p:txBody>
      </p:sp>
      <p:sp>
        <p:nvSpPr>
          <p:cNvPr id="23" name="Text 21"/>
          <p:cNvSpPr txBox="1"/>
          <p:nvPr/>
        </p:nvSpPr>
        <p:spPr>
          <a:xfrm>
            <a:off x="640080" y="6291072"/>
            <a:ext cx="10911535" cy="274320"/>
          </a:xfrm>
          <a:prstGeom prst="rect">
            <a:avLst/>
          </a:prstGeom>
          <a:noFill/>
          <a:ln/>
        </p:spPr>
        <p:txBody>
          <a:bodyPr wrap="square" lIns="0" tIns="0" rIns="0" bIns="0" rtlCol="0" anchor="ctr"/>
          <a:lstStyle/>
          <a:p>
            <a:pPr indent="0" marL="0">
              <a:buNone/>
            </a:pPr>
            <a:r>
              <a:rPr lang="en-US" sz="1000" i="1" dirty="0">
                <a:solidFill>
                  <a:srgbClr val="586B63"/>
                </a:solidFill>
                <a:latin typeface="Calibri" pitchFamily="34" charset="0"/>
                <a:ea typeface="Calibri" pitchFamily="34" charset="-122"/>
                <a:cs typeface="Calibri" pitchFamily="34" charset="-120"/>
              </a:rPr>
              <a:t>Las tasas oficiales — examen de inglés, aplicaciones, SEVIS y consulado — las paga la familia directamente a cada organismo, nunca a través nuestro.</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28600"/>
          </a:xfrm>
          <a:prstGeom prst="rect">
            <a:avLst/>
          </a:prstGeom>
          <a:noFill/>
          <a:ln/>
        </p:spPr>
        <p:txBody>
          <a:bodyPr wrap="square" lIns="0" tIns="0" rIns="0" bIns="0" rtlCol="0" anchor="ctr"/>
          <a:lstStyle/>
          <a:p>
            <a:pPr indent="0" marL="0">
              <a:buNone/>
            </a:pPr>
            <a:r>
              <a:rPr lang="en-US" sz="1100" b="1" spc="200" kern="0" dirty="0">
                <a:solidFill>
                  <a:srgbClr val="6FA593"/>
                </a:solidFill>
                <a:latin typeface="Calibri" pitchFamily="34" charset="0"/>
                <a:ea typeface="Calibri" pitchFamily="34" charset="-122"/>
                <a:cs typeface="Calibri" pitchFamily="34" charset="-120"/>
              </a:rPr>
              <a:t>ECONOMÍA UNITARIA</a:t>
            </a:r>
            <a:endParaRPr lang="en-US" sz="1100" dirty="0"/>
          </a:p>
        </p:txBody>
      </p:sp>
      <p:sp>
        <p:nvSpPr>
          <p:cNvPr id="3" name="Text 1"/>
          <p:cNvSpPr txBox="1"/>
          <p:nvPr/>
        </p:nvSpPr>
        <p:spPr>
          <a:xfrm>
            <a:off x="640080" y="621792"/>
            <a:ext cx="10911535" cy="658368"/>
          </a:xfrm>
          <a:prstGeom prst="rect">
            <a:avLst/>
          </a:prstGeom>
          <a:noFill/>
          <a:ln/>
        </p:spPr>
        <p:txBody>
          <a:bodyPr wrap="square" lIns="0" tIns="0" rIns="0" bIns="0" rtlCol="0" anchor="t"/>
          <a:lstStyle/>
          <a:p>
            <a:pPr indent="0" marL="0">
              <a:buNone/>
            </a:pPr>
            <a:r>
              <a:rPr lang="en-US" sz="3000" b="1" dirty="0">
                <a:solidFill>
                  <a:srgbClr val="1B4D42"/>
                </a:solidFill>
                <a:latin typeface="Cambria" pitchFamily="34" charset="0"/>
                <a:ea typeface="Cambria" pitchFamily="34" charset="-122"/>
                <a:cs typeface="Cambria" pitchFamily="34" charset="-120"/>
              </a:rPr>
              <a:t>Los números que deciden si esto se sostiene</a:t>
            </a:r>
            <a:endParaRPr lang="en-US" sz="3000" dirty="0"/>
          </a:p>
        </p:txBody>
      </p:sp>
      <p:sp>
        <p:nvSpPr>
          <p:cNvPr id="4" name="Shape 2"/>
          <p:cNvSpPr/>
          <p:nvPr/>
        </p:nvSpPr>
        <p:spPr>
          <a:xfrm>
            <a:off x="640080" y="1645920"/>
            <a:ext cx="2487168" cy="1783080"/>
          </a:xfrm>
          <a:prstGeom prst="roundRect">
            <a:avLst>
              <a:gd name="adj" fmla="val 3077"/>
            </a:avLst>
          </a:prstGeom>
          <a:solidFill>
            <a:srgbClr val="EAF0ED"/>
          </a:solidFill>
          <a:ln w="12700">
            <a:solidFill>
              <a:srgbClr val="EAF0ED"/>
            </a:solidFill>
            <a:prstDash val="solid"/>
          </a:ln>
        </p:spPr>
      </p:sp>
      <p:sp>
        <p:nvSpPr>
          <p:cNvPr id="5" name="Text 3"/>
          <p:cNvSpPr txBox="1"/>
          <p:nvPr/>
        </p:nvSpPr>
        <p:spPr>
          <a:xfrm>
            <a:off x="896112" y="1874520"/>
            <a:ext cx="1975104" cy="658368"/>
          </a:xfrm>
          <a:prstGeom prst="rect">
            <a:avLst/>
          </a:prstGeom>
          <a:noFill/>
          <a:ln/>
        </p:spPr>
        <p:txBody>
          <a:bodyPr wrap="square" lIns="0" tIns="0" rIns="0" bIns="0" rtlCol="0" anchor="ctr"/>
          <a:lstStyle/>
          <a:p>
            <a:pPr indent="0" marL="0">
              <a:buNone/>
            </a:pPr>
            <a:r>
              <a:rPr lang="en-US" sz="3400" b="1" dirty="0">
                <a:solidFill>
                  <a:srgbClr val="1B4D42"/>
                </a:solidFill>
                <a:latin typeface="Cambria" pitchFamily="34" charset="0"/>
                <a:ea typeface="Cambria" pitchFamily="34" charset="-122"/>
                <a:cs typeface="Cambria" pitchFamily="34" charset="-120"/>
              </a:rPr>
              <a:t>$1.670</a:t>
            </a:r>
            <a:endParaRPr lang="en-US" sz="3400" dirty="0"/>
          </a:p>
        </p:txBody>
      </p:sp>
      <p:sp>
        <p:nvSpPr>
          <p:cNvPr id="6" name="Text 4"/>
          <p:cNvSpPr txBox="1"/>
          <p:nvPr/>
        </p:nvSpPr>
        <p:spPr>
          <a:xfrm>
            <a:off x="896112" y="2542032"/>
            <a:ext cx="2029968" cy="731520"/>
          </a:xfrm>
          <a:prstGeom prst="rect">
            <a:avLst/>
          </a:prstGeom>
          <a:noFill/>
          <a:ln/>
        </p:spPr>
        <p:txBody>
          <a:bodyPr wrap="square" lIns="0" tIns="0" rIns="0" bIns="0" rtlCol="0" anchor="ctr"/>
          <a:lstStyle/>
          <a:p>
            <a:pPr indent="0" marL="0">
              <a:lnSpc>
                <a:spcPts val="1500"/>
              </a:lnSpc>
              <a:buNone/>
            </a:pPr>
            <a:r>
              <a:rPr lang="en-US" sz="1100" dirty="0">
                <a:solidFill>
                  <a:srgbClr val="586B63"/>
                </a:solidFill>
                <a:latin typeface="Calibri" pitchFamily="34" charset="0"/>
                <a:ea typeface="Calibri" pitchFamily="34" charset="-122"/>
                <a:cs typeface="Calibri" pitchFamily="34" charset="-120"/>
              </a:rPr>
              <a:t>contribución neta por alumno</a:t>
            </a:r>
            <a:endParaRPr lang="en-US" sz="1100" dirty="0"/>
          </a:p>
          <a:p>
            <a:pPr indent="0" marL="0">
              <a:lnSpc>
                <a:spcPts val="1500"/>
              </a:lnSpc>
              <a:buNone/>
            </a:pPr>
            <a:r>
              <a:rPr lang="en-US" sz="1100" dirty="0">
                <a:solidFill>
                  <a:srgbClr val="586B63"/>
                </a:solidFill>
                <a:latin typeface="Calibri" pitchFamily="34" charset="0"/>
                <a:ea typeface="Calibri" pitchFamily="34" charset="-122"/>
                <a:cs typeface="Calibri" pitchFamily="34" charset="-120"/>
              </a:rPr>
              <a:t>de inglés o community college</a:t>
            </a:r>
            <a:endParaRPr lang="en-US" sz="1100" dirty="0"/>
          </a:p>
        </p:txBody>
      </p:sp>
      <p:sp>
        <p:nvSpPr>
          <p:cNvPr id="7" name="Shape 5"/>
          <p:cNvSpPr/>
          <p:nvPr/>
        </p:nvSpPr>
        <p:spPr>
          <a:xfrm>
            <a:off x="3447288" y="1645920"/>
            <a:ext cx="2487168" cy="1783080"/>
          </a:xfrm>
          <a:prstGeom prst="roundRect">
            <a:avLst>
              <a:gd name="adj" fmla="val 3077"/>
            </a:avLst>
          </a:prstGeom>
          <a:solidFill>
            <a:srgbClr val="EAF0ED"/>
          </a:solidFill>
          <a:ln w="12700">
            <a:solidFill>
              <a:srgbClr val="EAF0ED"/>
            </a:solidFill>
            <a:prstDash val="solid"/>
          </a:ln>
        </p:spPr>
      </p:sp>
      <p:sp>
        <p:nvSpPr>
          <p:cNvPr id="8" name="Text 6"/>
          <p:cNvSpPr txBox="1"/>
          <p:nvPr/>
        </p:nvSpPr>
        <p:spPr>
          <a:xfrm>
            <a:off x="3703320" y="1874520"/>
            <a:ext cx="1975104" cy="658368"/>
          </a:xfrm>
          <a:prstGeom prst="rect">
            <a:avLst/>
          </a:prstGeom>
          <a:noFill/>
          <a:ln/>
        </p:spPr>
        <p:txBody>
          <a:bodyPr wrap="square" lIns="0" tIns="0" rIns="0" bIns="0" rtlCol="0" anchor="ctr"/>
          <a:lstStyle/>
          <a:p>
            <a:pPr indent="0" marL="0">
              <a:buNone/>
            </a:pPr>
            <a:r>
              <a:rPr lang="en-US" sz="3400" b="1" dirty="0">
                <a:solidFill>
                  <a:srgbClr val="1B4D42"/>
                </a:solidFill>
                <a:latin typeface="Cambria" pitchFamily="34" charset="0"/>
                <a:ea typeface="Cambria" pitchFamily="34" charset="-122"/>
                <a:cs typeface="Cambria" pitchFamily="34" charset="-120"/>
              </a:rPr>
              <a:t>$6.250</a:t>
            </a:r>
            <a:endParaRPr lang="en-US" sz="3400" dirty="0"/>
          </a:p>
        </p:txBody>
      </p:sp>
      <p:sp>
        <p:nvSpPr>
          <p:cNvPr id="9" name="Text 7"/>
          <p:cNvSpPr txBox="1"/>
          <p:nvPr/>
        </p:nvSpPr>
        <p:spPr>
          <a:xfrm>
            <a:off x="3703320" y="2542032"/>
            <a:ext cx="2029968" cy="731520"/>
          </a:xfrm>
          <a:prstGeom prst="rect">
            <a:avLst/>
          </a:prstGeom>
          <a:noFill/>
          <a:ln/>
        </p:spPr>
        <p:txBody>
          <a:bodyPr wrap="square" lIns="0" tIns="0" rIns="0" bIns="0" rtlCol="0" anchor="ctr"/>
          <a:lstStyle/>
          <a:p>
            <a:pPr indent="0" marL="0">
              <a:lnSpc>
                <a:spcPts val="1500"/>
              </a:lnSpc>
              <a:buNone/>
            </a:pPr>
            <a:r>
              <a:rPr lang="en-US" sz="1100" dirty="0">
                <a:solidFill>
                  <a:srgbClr val="586B63"/>
                </a:solidFill>
                <a:latin typeface="Calibri" pitchFamily="34" charset="0"/>
                <a:ea typeface="Calibri" pitchFamily="34" charset="-122"/>
                <a:cs typeface="Calibri" pitchFamily="34" charset="-120"/>
              </a:rPr>
              <a:t>contribución neta por alumno</a:t>
            </a:r>
            <a:endParaRPr lang="en-US" sz="1100" dirty="0"/>
          </a:p>
          <a:p>
            <a:pPr indent="0" marL="0">
              <a:lnSpc>
                <a:spcPts val="1500"/>
              </a:lnSpc>
              <a:buNone/>
            </a:pPr>
            <a:r>
              <a:rPr lang="en-US" sz="1100" dirty="0">
                <a:solidFill>
                  <a:srgbClr val="586B63"/>
                </a:solidFill>
                <a:latin typeface="Calibri" pitchFamily="34" charset="0"/>
                <a:ea typeface="Calibri" pitchFamily="34" charset="-122"/>
                <a:cs typeface="Calibri" pitchFamily="34" charset="-120"/>
              </a:rPr>
              <a:t>de universidad o máster</a:t>
            </a:r>
            <a:endParaRPr lang="en-US" sz="1100" dirty="0"/>
          </a:p>
        </p:txBody>
      </p:sp>
      <p:sp>
        <p:nvSpPr>
          <p:cNvPr id="10" name="Shape 8"/>
          <p:cNvSpPr/>
          <p:nvPr/>
        </p:nvSpPr>
        <p:spPr>
          <a:xfrm>
            <a:off x="6254496" y="1645920"/>
            <a:ext cx="2487168" cy="1783080"/>
          </a:xfrm>
          <a:prstGeom prst="roundRect">
            <a:avLst>
              <a:gd name="adj" fmla="val 3077"/>
            </a:avLst>
          </a:prstGeom>
          <a:solidFill>
            <a:srgbClr val="EAF0ED"/>
          </a:solidFill>
          <a:ln w="12700">
            <a:solidFill>
              <a:srgbClr val="EAF0ED"/>
            </a:solidFill>
            <a:prstDash val="solid"/>
          </a:ln>
        </p:spPr>
      </p:sp>
      <p:sp>
        <p:nvSpPr>
          <p:cNvPr id="11" name="Text 9"/>
          <p:cNvSpPr txBox="1"/>
          <p:nvPr/>
        </p:nvSpPr>
        <p:spPr>
          <a:xfrm>
            <a:off x="6510528" y="1874520"/>
            <a:ext cx="1975104" cy="658368"/>
          </a:xfrm>
          <a:prstGeom prst="rect">
            <a:avLst/>
          </a:prstGeom>
          <a:noFill/>
          <a:ln/>
        </p:spPr>
        <p:txBody>
          <a:bodyPr wrap="square" lIns="0" tIns="0" rIns="0" bIns="0" rtlCol="0" anchor="ctr"/>
          <a:lstStyle/>
          <a:p>
            <a:pPr indent="0" marL="0">
              <a:buNone/>
            </a:pPr>
            <a:r>
              <a:rPr lang="en-US" sz="3400" b="1" dirty="0">
                <a:solidFill>
                  <a:srgbClr val="1B4D42"/>
                </a:solidFill>
                <a:latin typeface="Cambria" pitchFamily="34" charset="0"/>
                <a:ea typeface="Cambria" pitchFamily="34" charset="-122"/>
                <a:cs typeface="Cambria" pitchFamily="34" charset="-120"/>
              </a:rPr>
              <a:t>$80–250</a:t>
            </a:r>
            <a:endParaRPr lang="en-US" sz="3400" dirty="0"/>
          </a:p>
        </p:txBody>
      </p:sp>
      <p:sp>
        <p:nvSpPr>
          <p:cNvPr id="12" name="Text 10"/>
          <p:cNvSpPr txBox="1"/>
          <p:nvPr/>
        </p:nvSpPr>
        <p:spPr>
          <a:xfrm>
            <a:off x="6510528" y="2542032"/>
            <a:ext cx="2029968" cy="731520"/>
          </a:xfrm>
          <a:prstGeom prst="rect">
            <a:avLst/>
          </a:prstGeom>
          <a:noFill/>
          <a:ln/>
        </p:spPr>
        <p:txBody>
          <a:bodyPr wrap="square" lIns="0" tIns="0" rIns="0" bIns="0" rtlCol="0" anchor="ctr"/>
          <a:lstStyle/>
          <a:p>
            <a:pPr indent="0" marL="0">
              <a:lnSpc>
                <a:spcPts val="1500"/>
              </a:lnSpc>
              <a:buNone/>
            </a:pPr>
            <a:r>
              <a:rPr lang="en-US" sz="1100" dirty="0">
                <a:solidFill>
                  <a:srgbClr val="586B63"/>
                </a:solidFill>
                <a:latin typeface="Calibri" pitchFamily="34" charset="0"/>
                <a:ea typeface="Calibri" pitchFamily="34" charset="-122"/>
                <a:cs typeface="Calibri" pitchFamily="34" charset="-120"/>
              </a:rPr>
              <a:t>coste de conseguir</a:t>
            </a:r>
            <a:endParaRPr lang="en-US" sz="1100" dirty="0"/>
          </a:p>
          <a:p>
            <a:pPr indent="0" marL="0">
              <a:lnSpc>
                <a:spcPts val="1500"/>
              </a:lnSpc>
              <a:buNone/>
            </a:pPr>
            <a:r>
              <a:rPr lang="en-US" sz="1100" dirty="0">
                <a:solidFill>
                  <a:srgbClr val="586B63"/>
                </a:solidFill>
                <a:latin typeface="Calibri" pitchFamily="34" charset="0"/>
                <a:ea typeface="Calibri" pitchFamily="34" charset="-122"/>
                <a:cs typeface="Calibri" pitchFamily="34" charset="-120"/>
              </a:rPr>
              <a:t>un cliente de pago</a:t>
            </a:r>
            <a:endParaRPr lang="en-US" sz="1100" dirty="0"/>
          </a:p>
        </p:txBody>
      </p:sp>
      <p:sp>
        <p:nvSpPr>
          <p:cNvPr id="13" name="Shape 11"/>
          <p:cNvSpPr/>
          <p:nvPr/>
        </p:nvSpPr>
        <p:spPr>
          <a:xfrm>
            <a:off x="9061704" y="1645920"/>
            <a:ext cx="2487168" cy="1783080"/>
          </a:xfrm>
          <a:prstGeom prst="roundRect">
            <a:avLst>
              <a:gd name="adj" fmla="val 3077"/>
            </a:avLst>
          </a:prstGeom>
          <a:solidFill>
            <a:srgbClr val="1B4D42"/>
          </a:solidFill>
          <a:ln w="12700">
            <a:solidFill>
              <a:srgbClr val="1B4D42"/>
            </a:solidFill>
            <a:prstDash val="solid"/>
          </a:ln>
        </p:spPr>
      </p:sp>
      <p:sp>
        <p:nvSpPr>
          <p:cNvPr id="14" name="Text 12"/>
          <p:cNvSpPr txBox="1"/>
          <p:nvPr/>
        </p:nvSpPr>
        <p:spPr>
          <a:xfrm>
            <a:off x="9317736" y="1874520"/>
            <a:ext cx="1975104" cy="658368"/>
          </a:xfrm>
          <a:prstGeom prst="rect">
            <a:avLst/>
          </a:prstGeom>
          <a:noFill/>
          <a:ln/>
        </p:spPr>
        <p:txBody>
          <a:bodyPr wrap="square" lIns="0" tIns="0" rIns="0" bIns="0" rtlCol="0" anchor="ctr"/>
          <a:lstStyle/>
          <a:p>
            <a:pPr indent="0" marL="0">
              <a:buNone/>
            </a:pPr>
            <a:r>
              <a:rPr lang="en-US" sz="3400" b="1" dirty="0">
                <a:solidFill>
                  <a:srgbClr val="D99B2B"/>
                </a:solidFill>
                <a:latin typeface="Cambria" pitchFamily="34" charset="0"/>
                <a:ea typeface="Cambria" pitchFamily="34" charset="-122"/>
                <a:cs typeface="Cambria" pitchFamily="34" charset="-120"/>
              </a:rPr>
              <a:t>2</a:t>
            </a:r>
            <a:endParaRPr lang="en-US" sz="3400" dirty="0"/>
          </a:p>
        </p:txBody>
      </p:sp>
      <p:sp>
        <p:nvSpPr>
          <p:cNvPr id="15" name="Text 13"/>
          <p:cNvSpPr txBox="1"/>
          <p:nvPr/>
        </p:nvSpPr>
        <p:spPr>
          <a:xfrm>
            <a:off x="9317736" y="2542032"/>
            <a:ext cx="2029968" cy="731520"/>
          </a:xfrm>
          <a:prstGeom prst="rect">
            <a:avLst/>
          </a:prstGeom>
          <a:noFill/>
          <a:ln/>
        </p:spPr>
        <p:txBody>
          <a:bodyPr wrap="square" lIns="0" tIns="0" rIns="0" bIns="0" rtlCol="0" anchor="ctr"/>
          <a:lstStyle/>
          <a:p>
            <a:pPr indent="0" marL="0">
              <a:lnSpc>
                <a:spcPts val="1500"/>
              </a:lnSpc>
              <a:buNone/>
            </a:pPr>
            <a:r>
              <a:rPr lang="en-US" sz="1100" dirty="0">
                <a:solidFill>
                  <a:srgbClr val="E9F0EC"/>
                </a:solidFill>
                <a:latin typeface="Calibri" pitchFamily="34" charset="0"/>
                <a:ea typeface="Calibri" pitchFamily="34" charset="-122"/>
                <a:cs typeface="Calibri" pitchFamily="34" charset="-120"/>
              </a:rPr>
              <a:t>clientes al mes para cubrir</a:t>
            </a:r>
            <a:endParaRPr lang="en-US" sz="1100" dirty="0"/>
          </a:p>
          <a:p>
            <a:pPr indent="0" marL="0">
              <a:lnSpc>
                <a:spcPts val="1500"/>
              </a:lnSpc>
              <a:buNone/>
            </a:pPr>
            <a:r>
              <a:rPr lang="en-US" sz="1100" dirty="0">
                <a:solidFill>
                  <a:srgbClr val="E9F0EC"/>
                </a:solidFill>
                <a:latin typeface="Calibri" pitchFamily="34" charset="0"/>
                <a:ea typeface="Calibri" pitchFamily="34" charset="-122"/>
                <a:cs typeface="Calibri" pitchFamily="34" charset="-120"/>
              </a:rPr>
              <a:t>todos los costes fijos</a:t>
            </a:r>
            <a:endParaRPr lang="en-US" sz="1100" dirty="0"/>
          </a:p>
        </p:txBody>
      </p:sp>
      <p:sp>
        <p:nvSpPr>
          <p:cNvPr id="16" name="Shape 14"/>
          <p:cNvSpPr/>
          <p:nvPr/>
        </p:nvSpPr>
        <p:spPr>
          <a:xfrm>
            <a:off x="640080" y="3657600"/>
            <a:ext cx="5532120" cy="1920240"/>
          </a:xfrm>
          <a:prstGeom prst="roundRect">
            <a:avLst>
              <a:gd name="adj" fmla="val 2857"/>
            </a:avLst>
          </a:prstGeom>
          <a:solidFill>
            <a:srgbClr val="EAF0ED"/>
          </a:solidFill>
          <a:ln w="12700">
            <a:solidFill>
              <a:srgbClr val="EAF0ED"/>
            </a:solidFill>
            <a:prstDash val="solid"/>
          </a:ln>
        </p:spPr>
      </p:sp>
      <p:sp>
        <p:nvSpPr>
          <p:cNvPr id="17" name="Text 15"/>
          <p:cNvSpPr txBox="1"/>
          <p:nvPr/>
        </p:nvSpPr>
        <p:spPr>
          <a:xfrm>
            <a:off x="960120" y="3886200"/>
            <a:ext cx="4846320" cy="320040"/>
          </a:xfrm>
          <a:prstGeom prst="rect">
            <a:avLst/>
          </a:prstGeom>
          <a:noFill/>
          <a:ln/>
        </p:spPr>
        <p:txBody>
          <a:bodyPr wrap="square" lIns="0" tIns="0" rIns="0" bIns="0" rtlCol="0" anchor="ctr"/>
          <a:lstStyle/>
          <a:p>
            <a:pPr indent="0" marL="0">
              <a:buNone/>
            </a:pPr>
            <a:r>
              <a:rPr lang="en-US" sz="1600" b="1" dirty="0">
                <a:solidFill>
                  <a:srgbClr val="1B4D42"/>
                </a:solidFill>
                <a:latin typeface="Cambria" pitchFamily="34" charset="0"/>
                <a:ea typeface="Cambria" pitchFamily="34" charset="-122"/>
                <a:cs typeface="Cambria" pitchFamily="34" charset="-120"/>
              </a:rPr>
              <a:t>Cómo operamos el año 1</a:t>
            </a:r>
            <a:endParaRPr lang="en-US" sz="1600" dirty="0"/>
          </a:p>
        </p:txBody>
      </p:sp>
      <p:sp>
        <p:nvSpPr>
          <p:cNvPr id="18" name="Text 16"/>
          <p:cNvSpPr txBox="1"/>
          <p:nvPr/>
        </p:nvSpPr>
        <p:spPr>
          <a:xfrm>
            <a:off x="960120" y="4279392"/>
            <a:ext cx="4892040" cy="114300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00" dirty="0">
                <a:solidFill>
                  <a:srgbClr val="586B63"/>
                </a:solidFill>
                <a:latin typeface="Calibri" pitchFamily="34" charset="0"/>
                <a:ea typeface="Calibri" pitchFamily="34" charset="-122"/>
                <a:cs typeface="Calibri" pitchFamily="34" charset="-120"/>
              </a:rPr>
              <a:t>Sin oficina, sin sueldos, sin personal.</a:t>
            </a:r>
            <a:endParaRPr lang="en-US" sz="1200" dirty="0"/>
          </a:p>
          <a:p>
            <a:pPr marL="342900" indent="-342900">
              <a:lnSpc>
                <a:spcPts val="1600"/>
              </a:lnSpc>
              <a:spcAft>
                <a:spcPts val="600"/>
              </a:spcAft>
              <a:buSzPct val="100000"/>
              <a:buChar char="•"/>
            </a:pPr>
            <a:r>
              <a:rPr lang="en-US" sz="1200" dirty="0">
                <a:solidFill>
                  <a:srgbClr val="586B63"/>
                </a:solidFill>
                <a:latin typeface="Calibri" pitchFamily="34" charset="0"/>
                <a:ea typeface="Calibri" pitchFamily="34" charset="-122"/>
                <a:cs typeface="Calibri" pitchFamily="34" charset="-120"/>
              </a:rPr>
              <a:t>Costes fijos de $1.800 a $2.600 al mes, más publicidad variable.</a:t>
            </a:r>
            <a:endParaRPr lang="en-US" sz="1200" dirty="0"/>
          </a:p>
          <a:p>
            <a:pPr marL="342900" indent="-342900">
              <a:lnSpc>
                <a:spcPts val="1600"/>
              </a:lnSpc>
              <a:spcAft>
                <a:spcPts val="600"/>
              </a:spcAft>
              <a:buSzPct val="100000"/>
              <a:buChar char="•"/>
            </a:pPr>
            <a:r>
              <a:rPr lang="en-US" sz="1200" dirty="0">
                <a:solidFill>
                  <a:srgbClr val="586B63"/>
                </a:solidFill>
                <a:latin typeface="Calibri" pitchFamily="34" charset="0"/>
                <a:ea typeface="Calibri" pitchFamily="34" charset="-122"/>
                <a:cs typeface="Calibri" pitchFamily="34" charset="-120"/>
              </a:rPr>
              <a:t>Capital inicial: entre $12.000 y $18.000 a repartir entre los tres.</a:t>
            </a:r>
            <a:endParaRPr lang="en-US" sz="1200" dirty="0"/>
          </a:p>
        </p:txBody>
      </p:sp>
      <p:sp>
        <p:nvSpPr>
          <p:cNvPr id="19" name="Shape 17"/>
          <p:cNvSpPr/>
          <p:nvPr/>
        </p:nvSpPr>
        <p:spPr>
          <a:xfrm>
            <a:off x="6656832" y="3657600"/>
            <a:ext cx="4892040" cy="1920240"/>
          </a:xfrm>
          <a:prstGeom prst="roundRect">
            <a:avLst>
              <a:gd name="adj" fmla="val 2857"/>
            </a:avLst>
          </a:prstGeom>
          <a:solidFill>
            <a:srgbClr val="EAF0ED"/>
          </a:solidFill>
          <a:ln w="12700">
            <a:solidFill>
              <a:srgbClr val="EAF0ED"/>
            </a:solidFill>
            <a:prstDash val="solid"/>
          </a:ln>
        </p:spPr>
      </p:sp>
      <p:sp>
        <p:nvSpPr>
          <p:cNvPr id="20" name="Text 18"/>
          <p:cNvSpPr txBox="1"/>
          <p:nvPr/>
        </p:nvSpPr>
        <p:spPr>
          <a:xfrm>
            <a:off x="6976872" y="3886200"/>
            <a:ext cx="4297680" cy="320040"/>
          </a:xfrm>
          <a:prstGeom prst="rect">
            <a:avLst/>
          </a:prstGeom>
          <a:noFill/>
          <a:ln/>
        </p:spPr>
        <p:txBody>
          <a:bodyPr wrap="square" lIns="0" tIns="0" rIns="0" bIns="0" rtlCol="0" anchor="ctr"/>
          <a:lstStyle/>
          <a:p>
            <a:pPr indent="0" marL="0">
              <a:buNone/>
            </a:pPr>
            <a:r>
              <a:rPr lang="en-US" sz="1600" b="1" dirty="0">
                <a:solidFill>
                  <a:srgbClr val="1B4D42"/>
                </a:solidFill>
                <a:latin typeface="Cambria" pitchFamily="34" charset="0"/>
                <a:ea typeface="Cambria" pitchFamily="34" charset="-122"/>
                <a:cs typeface="Cambria" pitchFamily="34" charset="-120"/>
              </a:rPr>
              <a:t>La meta real del primer semestre</a:t>
            </a:r>
            <a:endParaRPr lang="en-US" sz="1600" dirty="0"/>
          </a:p>
        </p:txBody>
      </p:sp>
      <p:sp>
        <p:nvSpPr>
          <p:cNvPr id="21" name="Text 19"/>
          <p:cNvSpPr txBox="1"/>
          <p:nvPr/>
        </p:nvSpPr>
        <p:spPr>
          <a:xfrm>
            <a:off x="6976872" y="4279392"/>
            <a:ext cx="4297680" cy="1143000"/>
          </a:xfrm>
          <a:prstGeom prst="rect">
            <a:avLst/>
          </a:prstGeom>
          <a:noFill/>
          <a:ln/>
        </p:spPr>
        <p:txBody>
          <a:bodyPr wrap="square" lIns="0" tIns="0" rIns="0" bIns="0" rtlCol="0" anchor="ctr"/>
          <a:lstStyle/>
          <a:p>
            <a:pPr indent="0" marL="0">
              <a:lnSpc>
                <a:spcPts val="1700"/>
              </a:lnSpc>
              <a:buNone/>
            </a:pPr>
            <a:r>
              <a:rPr lang="en-US" sz="1200" dirty="0">
                <a:solidFill>
                  <a:srgbClr val="586B63"/>
                </a:solidFill>
                <a:latin typeface="Calibri" pitchFamily="34" charset="0"/>
                <a:ea typeface="Calibri" pitchFamily="34" charset="-122"/>
                <a:cs typeface="Calibri" pitchFamily="34" charset="-120"/>
              </a:rPr>
              <a:t>No es hacernos ricos. Es que la empresa se pague sola con los fees mientras madura la primera cosecha de comisiones — y que el número que miremos cada semana sea contratos firmados con instituciones, no facturación.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28600"/>
          </a:xfrm>
          <a:prstGeom prst="rect">
            <a:avLst/>
          </a:prstGeom>
          <a:noFill/>
          <a:ln/>
        </p:spPr>
        <p:txBody>
          <a:bodyPr wrap="square" lIns="0" tIns="0" rIns="0" bIns="0" rtlCol="0" anchor="ctr"/>
          <a:lstStyle/>
          <a:p>
            <a:pPr indent="0" marL="0">
              <a:buNone/>
            </a:pPr>
            <a:r>
              <a:rPr lang="en-US" sz="1100" b="1" spc="200" kern="0" dirty="0">
                <a:solidFill>
                  <a:srgbClr val="6FA593"/>
                </a:solidFill>
                <a:latin typeface="Calibri" pitchFamily="34" charset="0"/>
                <a:ea typeface="Calibri" pitchFamily="34" charset="-122"/>
                <a:cs typeface="Calibri" pitchFamily="34" charset="-120"/>
              </a:rPr>
              <a:t>TRES ESCENARIOS</a:t>
            </a:r>
            <a:endParaRPr lang="en-US" sz="1100" dirty="0"/>
          </a:p>
        </p:txBody>
      </p:sp>
      <p:sp>
        <p:nvSpPr>
          <p:cNvPr id="3" name="Text 1"/>
          <p:cNvSpPr txBox="1"/>
          <p:nvPr/>
        </p:nvSpPr>
        <p:spPr>
          <a:xfrm>
            <a:off x="640080" y="621792"/>
            <a:ext cx="10911535" cy="658368"/>
          </a:xfrm>
          <a:prstGeom prst="rect">
            <a:avLst/>
          </a:prstGeom>
          <a:noFill/>
          <a:ln/>
        </p:spPr>
        <p:txBody>
          <a:bodyPr wrap="square" lIns="0" tIns="0" rIns="0" bIns="0" rtlCol="0" anchor="t"/>
          <a:lstStyle/>
          <a:p>
            <a:pPr indent="0" marL="0">
              <a:buNone/>
            </a:pPr>
            <a:r>
              <a:rPr lang="en-US" sz="3000" b="1" dirty="0">
                <a:solidFill>
                  <a:srgbClr val="1B4D42"/>
                </a:solidFill>
                <a:latin typeface="Cambria" pitchFamily="34" charset="0"/>
                <a:ea typeface="Cambria" pitchFamily="34" charset="-122"/>
                <a:cs typeface="Cambria" pitchFamily="34" charset="-120"/>
              </a:rPr>
              <a:t>Por qué el año 1 se ve pobre y no es mala señal</a:t>
            </a:r>
            <a:endParaRPr lang="en-US" sz="3000" dirty="0"/>
          </a:p>
        </p:txBody>
      </p:sp>
      <p:graphicFrame>
        <p:nvGraphicFramePr>
          <p:cNvPr id="4" name="Chart 0" descr=""/>
          <p:cNvGraphicFramePr/>
          <p:nvPr/>
        </p:nvGraphicFramePr>
        <p:xfrm>
          <a:off x="640080" y="1600200"/>
          <a:ext cx="722376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183880" y="1600200"/>
            <a:ext cx="3364992" cy="3931920"/>
          </a:xfrm>
          <a:prstGeom prst="roundRect">
            <a:avLst>
              <a:gd name="adj" fmla="val 1630"/>
            </a:avLst>
          </a:prstGeom>
          <a:solidFill>
            <a:srgbClr val="1B4D42"/>
          </a:solidFill>
          <a:ln w="12700">
            <a:solidFill>
              <a:srgbClr val="1B4D42"/>
            </a:solidFill>
            <a:prstDash val="solid"/>
          </a:ln>
        </p:spPr>
      </p:sp>
      <p:sp>
        <p:nvSpPr>
          <p:cNvPr id="6" name="Text 3"/>
          <p:cNvSpPr txBox="1"/>
          <p:nvPr/>
        </p:nvSpPr>
        <p:spPr>
          <a:xfrm>
            <a:off x="8503920" y="1874520"/>
            <a:ext cx="2743200" cy="365760"/>
          </a:xfrm>
          <a:prstGeom prst="rect">
            <a:avLst/>
          </a:prstGeom>
          <a:noFill/>
          <a:ln/>
        </p:spPr>
        <p:txBody>
          <a:bodyPr wrap="square" lIns="0" tIns="0" rIns="0" bIns="0" rtlCol="0" anchor="ctr"/>
          <a:lstStyle/>
          <a:p>
            <a:pPr indent="0" marL="0">
              <a:buNone/>
            </a:pPr>
            <a:r>
              <a:rPr lang="en-US" sz="1800" b="1" dirty="0">
                <a:solidFill>
                  <a:srgbClr val="D99B2B"/>
                </a:solidFill>
                <a:latin typeface="Cambria" pitchFamily="34" charset="0"/>
                <a:ea typeface="Cambria" pitchFamily="34" charset="-122"/>
                <a:cs typeface="Cambria" pitchFamily="34" charset="-120"/>
              </a:rPr>
              <a:t>El salto del año 2</a:t>
            </a:r>
            <a:endParaRPr lang="en-US" sz="1800" dirty="0"/>
          </a:p>
        </p:txBody>
      </p:sp>
      <p:sp>
        <p:nvSpPr>
          <p:cNvPr id="7" name="Text 4"/>
          <p:cNvSpPr txBox="1"/>
          <p:nvPr/>
        </p:nvSpPr>
        <p:spPr>
          <a:xfrm>
            <a:off x="8503920" y="2331720"/>
            <a:ext cx="2743200" cy="1554480"/>
          </a:xfrm>
          <a:prstGeom prst="rect">
            <a:avLst/>
          </a:prstGeom>
          <a:noFill/>
          <a:ln/>
        </p:spPr>
        <p:txBody>
          <a:bodyPr wrap="square" lIns="0" tIns="0" rIns="0" bIns="0" rtlCol="0" anchor="ctr"/>
          <a:lstStyle/>
          <a:p>
            <a:pPr indent="0" marL="0">
              <a:lnSpc>
                <a:spcPts val="1800"/>
              </a:lnSpc>
              <a:buNone/>
            </a:pPr>
            <a:r>
              <a:rPr lang="en-US" sz="1200" dirty="0">
                <a:solidFill>
                  <a:srgbClr val="E9F0EC"/>
                </a:solidFill>
                <a:latin typeface="Calibri" pitchFamily="34" charset="0"/>
                <a:ea typeface="Calibri" pitchFamily="34" charset="-122"/>
                <a:cs typeface="Calibri" pitchFamily="34" charset="-120"/>
              </a:rPr>
              <a:t>No viene de trabajar el doble. Viene de que en el año 2 cobramos las comisiones del año 1 y las del año 2 a la vez, y de que ya existen los contratos que en el año 1 hubo que salir a firmar.</a:t>
            </a:r>
            <a:endParaRPr lang="en-US" sz="1200" dirty="0"/>
          </a:p>
        </p:txBody>
      </p:sp>
      <p:sp>
        <p:nvSpPr>
          <p:cNvPr id="8" name="Text 5"/>
          <p:cNvSpPr txBox="1"/>
          <p:nvPr/>
        </p:nvSpPr>
        <p:spPr>
          <a:xfrm>
            <a:off x="8503920" y="4114800"/>
            <a:ext cx="2743200" cy="1097280"/>
          </a:xfrm>
          <a:prstGeom prst="rect">
            <a:avLst/>
          </a:prstGeom>
          <a:noFill/>
          <a:ln/>
        </p:spPr>
        <p:txBody>
          <a:bodyPr wrap="square" lIns="0" tIns="0" rIns="0" bIns="0" rtlCol="0" anchor="ctr"/>
          <a:lstStyle/>
          <a:p>
            <a:pPr indent="0" marL="0">
              <a:lnSpc>
                <a:spcPts val="1800"/>
              </a:lnSpc>
              <a:buNone/>
            </a:pPr>
            <a:r>
              <a:rPr lang="en-US" sz="1200" i="1" dirty="0">
                <a:solidFill>
                  <a:srgbClr val="6FA593"/>
                </a:solidFill>
                <a:latin typeface="Calibri" pitchFamily="34" charset="0"/>
                <a:ea typeface="Calibri" pitchFamily="34" charset="-122"/>
                <a:cs typeface="Calibri" pitchFamily="34" charset="-120"/>
              </a:rPr>
              <a:t>Esa es la forma de la curva en este negocio. Conviene saberlo antes de desanimarse en el mes ocho.</a:t>
            </a:r>
            <a:endParaRPr lang="en-US" sz="1200" dirty="0"/>
          </a:p>
        </p:txBody>
      </p:sp>
      <p:sp>
        <p:nvSpPr>
          <p:cNvPr id="9" name="Text 6"/>
          <p:cNvSpPr txBox="1"/>
          <p:nvPr/>
        </p:nvSpPr>
        <p:spPr>
          <a:xfrm>
            <a:off x="640080" y="6291072"/>
            <a:ext cx="10911535" cy="274320"/>
          </a:xfrm>
          <a:prstGeom prst="rect">
            <a:avLst/>
          </a:prstGeom>
          <a:noFill/>
          <a:ln/>
        </p:spPr>
        <p:txBody>
          <a:bodyPr wrap="square" lIns="0" tIns="0" rIns="0" bIns="0" rtlCol="0" anchor="ctr"/>
          <a:lstStyle/>
          <a:p>
            <a:pPr indent="0" marL="0">
              <a:buNone/>
            </a:pPr>
            <a:r>
              <a:rPr lang="en-US" sz="1000" i="1" dirty="0">
                <a:solidFill>
                  <a:srgbClr val="586B63"/>
                </a:solidFill>
                <a:latin typeface="Calibri" pitchFamily="34" charset="0"/>
                <a:ea typeface="Calibri" pitchFamily="34" charset="-122"/>
                <a:cs typeface="Calibri" pitchFamily="34" charset="-120"/>
              </a:rPr>
              <a:t>Ingreso anual en USD. El escenario base supone 30 estudiantes el año 1, 85 el año 2 y 180 el año 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28600"/>
          </a:xfrm>
          <a:prstGeom prst="rect">
            <a:avLst/>
          </a:prstGeom>
          <a:noFill/>
          <a:ln/>
        </p:spPr>
        <p:txBody>
          <a:bodyPr wrap="square" lIns="0" tIns="0" rIns="0" bIns="0" rtlCol="0" anchor="ctr"/>
          <a:lstStyle/>
          <a:p>
            <a:pPr indent="0" marL="0">
              <a:buNone/>
            </a:pPr>
            <a:r>
              <a:rPr lang="en-US" sz="1100" b="1" spc="200" kern="0" dirty="0">
                <a:solidFill>
                  <a:srgbClr val="6FA593"/>
                </a:solidFill>
                <a:latin typeface="Calibri" pitchFamily="34" charset="0"/>
                <a:ea typeface="Calibri" pitchFamily="34" charset="-122"/>
                <a:cs typeface="Calibri" pitchFamily="34" charset="-120"/>
              </a:rPr>
              <a:t>CÓMO NOS REPARTIMOS</a:t>
            </a:r>
            <a:endParaRPr lang="en-US" sz="1100" dirty="0"/>
          </a:p>
        </p:txBody>
      </p:sp>
      <p:sp>
        <p:nvSpPr>
          <p:cNvPr id="3" name="Text 1"/>
          <p:cNvSpPr txBox="1"/>
          <p:nvPr/>
        </p:nvSpPr>
        <p:spPr>
          <a:xfrm>
            <a:off x="640080" y="621792"/>
            <a:ext cx="10911535" cy="658368"/>
          </a:xfrm>
          <a:prstGeom prst="rect">
            <a:avLst/>
          </a:prstGeom>
          <a:noFill/>
          <a:ln/>
        </p:spPr>
        <p:txBody>
          <a:bodyPr wrap="square" lIns="0" tIns="0" rIns="0" bIns="0" rtlCol="0" anchor="t"/>
          <a:lstStyle/>
          <a:p>
            <a:pPr indent="0" marL="0">
              <a:buNone/>
            </a:pPr>
            <a:r>
              <a:rPr lang="en-US" sz="3000" b="1" dirty="0">
                <a:solidFill>
                  <a:srgbClr val="1B4D42"/>
                </a:solidFill>
                <a:latin typeface="Cambria" pitchFamily="34" charset="0"/>
                <a:ea typeface="Cambria" pitchFamily="34" charset="-122"/>
                <a:cs typeface="Cambria" pitchFamily="34" charset="-120"/>
              </a:rPr>
              <a:t>Tres reglas para que la amistad sobreviva al año dos</a:t>
            </a:r>
            <a:endParaRPr lang="en-US" sz="3000" dirty="0"/>
          </a:p>
        </p:txBody>
      </p:sp>
      <p:sp>
        <p:nvSpPr>
          <p:cNvPr id="4" name="Shape 2"/>
          <p:cNvSpPr/>
          <p:nvPr/>
        </p:nvSpPr>
        <p:spPr>
          <a:xfrm>
            <a:off x="640080" y="1700784"/>
            <a:ext cx="457200" cy="457200"/>
          </a:xfrm>
          <a:prstGeom prst="ellipse">
            <a:avLst/>
          </a:prstGeom>
          <a:solidFill>
            <a:srgbClr val="1B4D42"/>
          </a:solidFill>
          <a:ln/>
        </p:spPr>
      </p:sp>
      <p:sp>
        <p:nvSpPr>
          <p:cNvPr id="5" name="Text 3"/>
          <p:cNvSpPr txBox="1"/>
          <p:nvPr/>
        </p:nvSpPr>
        <p:spPr>
          <a:xfrm>
            <a:off x="640080" y="1700784"/>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1298448" y="1627632"/>
            <a:ext cx="6766560" cy="320040"/>
          </a:xfrm>
          <a:prstGeom prst="rect">
            <a:avLst/>
          </a:prstGeom>
          <a:noFill/>
          <a:ln/>
        </p:spPr>
        <p:txBody>
          <a:bodyPr wrap="square" lIns="0" tIns="0" rIns="0" bIns="0" rtlCol="0" anchor="ctr"/>
          <a:lstStyle/>
          <a:p>
            <a:pPr indent="0" marL="0">
              <a:buNone/>
            </a:pPr>
            <a:r>
              <a:rPr lang="en-US" sz="1700" b="1" dirty="0">
                <a:solidFill>
                  <a:srgbClr val="1B4D42"/>
                </a:solidFill>
                <a:latin typeface="Cambria" pitchFamily="34" charset="0"/>
                <a:ea typeface="Cambria" pitchFamily="34" charset="-122"/>
                <a:cs typeface="Cambria" pitchFamily="34" charset="-120"/>
              </a:rPr>
              <a:t>Tercios, con vesting de 4 años y cliff de 1</a:t>
            </a:r>
            <a:endParaRPr lang="en-US" sz="1700" dirty="0"/>
          </a:p>
        </p:txBody>
      </p:sp>
      <p:sp>
        <p:nvSpPr>
          <p:cNvPr id="7" name="Text 5"/>
          <p:cNvSpPr txBox="1"/>
          <p:nvPr/>
        </p:nvSpPr>
        <p:spPr>
          <a:xfrm>
            <a:off x="1298448" y="1975104"/>
            <a:ext cx="6766560" cy="731520"/>
          </a:xfrm>
          <a:prstGeom prst="rect">
            <a:avLst/>
          </a:prstGeom>
          <a:noFill/>
          <a:ln/>
        </p:spPr>
        <p:txBody>
          <a:bodyPr wrap="square" lIns="0" tIns="0" rIns="0" bIns="0" rtlCol="0" anchor="ctr"/>
          <a:lstStyle/>
          <a:p>
            <a:pPr indent="0" marL="0">
              <a:lnSpc>
                <a:spcPts val="1700"/>
              </a:lnSpc>
              <a:buNone/>
            </a:pPr>
            <a:r>
              <a:rPr lang="en-US" sz="1200" dirty="0">
                <a:solidFill>
                  <a:srgbClr val="586B63"/>
                </a:solidFill>
                <a:latin typeface="Calibri" pitchFamily="34" charset="0"/>
                <a:ea typeface="Calibri" pitchFamily="34" charset="-122"/>
                <a:cs typeface="Calibri" pitchFamily="34" charset="-120"/>
              </a:rPr>
              <a:t>Nadie se lleva un tercio por haber estado en la conversación inicial: se lo lleva por seguir aquí un año después. Quien se va antes del año conserva cero y recupera el capital que puso.</a:t>
            </a:r>
            <a:endParaRPr lang="en-US" sz="1200" dirty="0"/>
          </a:p>
        </p:txBody>
      </p:sp>
      <p:sp>
        <p:nvSpPr>
          <p:cNvPr id="8" name="Shape 6"/>
          <p:cNvSpPr/>
          <p:nvPr/>
        </p:nvSpPr>
        <p:spPr>
          <a:xfrm>
            <a:off x="640080" y="2871216"/>
            <a:ext cx="457200" cy="457200"/>
          </a:xfrm>
          <a:prstGeom prst="ellipse">
            <a:avLst/>
          </a:prstGeom>
          <a:solidFill>
            <a:srgbClr val="1B4D42"/>
          </a:solidFill>
          <a:ln/>
        </p:spPr>
      </p:sp>
      <p:sp>
        <p:nvSpPr>
          <p:cNvPr id="9" name="Text 7"/>
          <p:cNvSpPr txBox="1"/>
          <p:nvPr/>
        </p:nvSpPr>
        <p:spPr>
          <a:xfrm>
            <a:off x="640080" y="2871216"/>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1298448" y="2798064"/>
            <a:ext cx="6766560" cy="320040"/>
          </a:xfrm>
          <a:prstGeom prst="rect">
            <a:avLst/>
          </a:prstGeom>
          <a:noFill/>
          <a:ln/>
        </p:spPr>
        <p:txBody>
          <a:bodyPr wrap="square" lIns="0" tIns="0" rIns="0" bIns="0" rtlCol="0" anchor="ctr"/>
          <a:lstStyle/>
          <a:p>
            <a:pPr indent="0" marL="0">
              <a:buNone/>
            </a:pPr>
            <a:r>
              <a:rPr lang="en-US" sz="1700" b="1" dirty="0">
                <a:solidFill>
                  <a:srgbClr val="1B4D42"/>
                </a:solidFill>
                <a:latin typeface="Cambria" pitchFamily="34" charset="0"/>
                <a:ea typeface="Cambria" pitchFamily="34" charset="-122"/>
                <a:cs typeface="Cambria" pitchFamily="34" charset="-120"/>
              </a:rPr>
              <a:t>Prima de originación del 25 %</a:t>
            </a:r>
            <a:endParaRPr lang="en-US" sz="1700" dirty="0"/>
          </a:p>
        </p:txBody>
      </p:sp>
      <p:sp>
        <p:nvSpPr>
          <p:cNvPr id="11" name="Text 9"/>
          <p:cNvSpPr txBox="1"/>
          <p:nvPr/>
        </p:nvSpPr>
        <p:spPr>
          <a:xfrm>
            <a:off x="1298448" y="3145536"/>
            <a:ext cx="6766560" cy="731520"/>
          </a:xfrm>
          <a:prstGeom prst="rect">
            <a:avLst/>
          </a:prstGeom>
          <a:noFill/>
          <a:ln/>
        </p:spPr>
        <p:txBody>
          <a:bodyPr wrap="square" lIns="0" tIns="0" rIns="0" bIns="0" rtlCol="0" anchor="ctr"/>
          <a:lstStyle/>
          <a:p>
            <a:pPr indent="0" marL="0">
              <a:lnSpc>
                <a:spcPts val="1700"/>
              </a:lnSpc>
              <a:buNone/>
            </a:pPr>
            <a:r>
              <a:rPr lang="en-US" sz="1200" dirty="0">
                <a:solidFill>
                  <a:srgbClr val="586B63"/>
                </a:solidFill>
                <a:latin typeface="Calibri" pitchFamily="34" charset="0"/>
                <a:ea typeface="Calibri" pitchFamily="34" charset="-122"/>
                <a:cs typeface="Calibri" pitchFamily="34" charset="-120"/>
              </a:rPr>
              <a:t>Sobre la contribución neta de cada estudiante, quien lo trajo cobra primero un 25 %. El 75 % restante se reparte por participación. Traer alumnos siempre conviene, sin renegociar la sociedad.</a:t>
            </a:r>
            <a:endParaRPr lang="en-US" sz="1200" dirty="0"/>
          </a:p>
        </p:txBody>
      </p:sp>
      <p:sp>
        <p:nvSpPr>
          <p:cNvPr id="12" name="Shape 10"/>
          <p:cNvSpPr/>
          <p:nvPr/>
        </p:nvSpPr>
        <p:spPr>
          <a:xfrm>
            <a:off x="640080" y="4041648"/>
            <a:ext cx="457200" cy="457200"/>
          </a:xfrm>
          <a:prstGeom prst="ellipse">
            <a:avLst/>
          </a:prstGeom>
          <a:solidFill>
            <a:srgbClr val="1B4D42"/>
          </a:solidFill>
          <a:ln/>
        </p:spPr>
      </p:sp>
      <p:sp>
        <p:nvSpPr>
          <p:cNvPr id="13" name="Text 11"/>
          <p:cNvSpPr txBox="1"/>
          <p:nvPr/>
        </p:nvSpPr>
        <p:spPr>
          <a:xfrm>
            <a:off x="640080" y="404164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txBox="1"/>
          <p:nvPr/>
        </p:nvSpPr>
        <p:spPr>
          <a:xfrm>
            <a:off x="1298448" y="3968496"/>
            <a:ext cx="6766560" cy="320040"/>
          </a:xfrm>
          <a:prstGeom prst="rect">
            <a:avLst/>
          </a:prstGeom>
          <a:noFill/>
          <a:ln/>
        </p:spPr>
        <p:txBody>
          <a:bodyPr wrap="square" lIns="0" tIns="0" rIns="0" bIns="0" rtlCol="0" anchor="ctr"/>
          <a:lstStyle/>
          <a:p>
            <a:pPr indent="0" marL="0">
              <a:buNone/>
            </a:pPr>
            <a:r>
              <a:rPr lang="en-US" sz="1700" b="1" dirty="0">
                <a:solidFill>
                  <a:srgbClr val="1B4D42"/>
                </a:solidFill>
                <a:latin typeface="Cambria" pitchFamily="34" charset="0"/>
                <a:ea typeface="Cambria" pitchFamily="34" charset="-122"/>
                <a:cs typeface="Cambria" pitchFamily="34" charset="-120"/>
              </a:rPr>
              <a:t>Cero sueldos hasta tener seis meses de fijos en el banco</a:t>
            </a:r>
            <a:endParaRPr lang="en-US" sz="1700" dirty="0"/>
          </a:p>
        </p:txBody>
      </p:sp>
      <p:sp>
        <p:nvSpPr>
          <p:cNvPr id="15" name="Text 13"/>
          <p:cNvSpPr txBox="1"/>
          <p:nvPr/>
        </p:nvSpPr>
        <p:spPr>
          <a:xfrm>
            <a:off x="1298448" y="4315968"/>
            <a:ext cx="6766560" cy="731520"/>
          </a:xfrm>
          <a:prstGeom prst="rect">
            <a:avLst/>
          </a:prstGeom>
          <a:noFill/>
          <a:ln/>
        </p:spPr>
        <p:txBody>
          <a:bodyPr wrap="square" lIns="0" tIns="0" rIns="0" bIns="0" rtlCol="0" anchor="ctr"/>
          <a:lstStyle/>
          <a:p>
            <a:pPr indent="0" marL="0">
              <a:lnSpc>
                <a:spcPts val="1700"/>
              </a:lnSpc>
              <a:buNone/>
            </a:pPr>
            <a:r>
              <a:rPr lang="en-US" sz="1200" dirty="0">
                <a:solidFill>
                  <a:srgbClr val="586B63"/>
                </a:solidFill>
                <a:latin typeface="Calibri" pitchFamily="34" charset="0"/>
                <a:ea typeface="Calibri" pitchFamily="34" charset="-122"/>
                <a:cs typeface="Calibri" pitchFamily="34" charset="-120"/>
              </a:rPr>
              <a:t>Todo lo que sobre se reinvierte. Escrito y con fecha de revisión, para que sea una regla y no una discusión cada trimestre.</a:t>
            </a:r>
            <a:endParaRPr lang="en-US" sz="1200" dirty="0"/>
          </a:p>
        </p:txBody>
      </p:sp>
      <p:sp>
        <p:nvSpPr>
          <p:cNvPr id="16" name="Shape 14"/>
          <p:cNvSpPr/>
          <p:nvPr/>
        </p:nvSpPr>
        <p:spPr>
          <a:xfrm>
            <a:off x="7882128" y="1627632"/>
            <a:ext cx="3657600" cy="3931920"/>
          </a:xfrm>
          <a:prstGeom prst="roundRect">
            <a:avLst>
              <a:gd name="adj" fmla="val 1500"/>
            </a:avLst>
          </a:prstGeom>
          <a:solidFill>
            <a:srgbClr val="1B4D42"/>
          </a:solidFill>
          <a:ln w="12700">
            <a:solidFill>
              <a:srgbClr val="1B4D42"/>
            </a:solidFill>
            <a:prstDash val="solid"/>
          </a:ln>
        </p:spPr>
      </p:sp>
      <p:sp>
        <p:nvSpPr>
          <p:cNvPr id="17" name="Text 15"/>
          <p:cNvSpPr txBox="1"/>
          <p:nvPr/>
        </p:nvSpPr>
        <p:spPr>
          <a:xfrm>
            <a:off x="8202168" y="1874520"/>
            <a:ext cx="3017520" cy="228600"/>
          </a:xfrm>
          <a:prstGeom prst="rect">
            <a:avLst/>
          </a:prstGeom>
          <a:noFill/>
          <a:ln/>
        </p:spPr>
        <p:txBody>
          <a:bodyPr wrap="square" lIns="0" tIns="0" rIns="0" bIns="0" rtlCol="0" anchor="ctr"/>
          <a:lstStyle/>
          <a:p>
            <a:pPr indent="0" marL="0">
              <a:buNone/>
            </a:pPr>
            <a:r>
              <a:rPr lang="en-US" sz="950" b="1" spc="160" kern="0" dirty="0">
                <a:solidFill>
                  <a:srgbClr val="6FA593"/>
                </a:solidFill>
                <a:latin typeface="Calibri" pitchFamily="34" charset="0"/>
                <a:ea typeface="Calibri" pitchFamily="34" charset="-122"/>
                <a:cs typeface="Calibri" pitchFamily="34" charset="-120"/>
              </a:rPr>
              <a:t>EJEMPLO</a:t>
            </a:r>
            <a:endParaRPr lang="en-US" sz="950" dirty="0"/>
          </a:p>
        </p:txBody>
      </p:sp>
      <p:sp>
        <p:nvSpPr>
          <p:cNvPr id="18" name="Text 16"/>
          <p:cNvSpPr txBox="1"/>
          <p:nvPr/>
        </p:nvSpPr>
        <p:spPr>
          <a:xfrm>
            <a:off x="8202168" y="2121408"/>
            <a:ext cx="3017520" cy="640080"/>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Un alumno de universidad traído por el socio mexicano</a:t>
            </a:r>
            <a:endParaRPr lang="en-US" sz="1500" dirty="0"/>
          </a:p>
        </p:txBody>
      </p:sp>
      <p:sp>
        <p:nvSpPr>
          <p:cNvPr id="19" name="Text 17"/>
          <p:cNvSpPr txBox="1"/>
          <p:nvPr/>
        </p:nvSpPr>
        <p:spPr>
          <a:xfrm>
            <a:off x="8202168" y="2907792"/>
            <a:ext cx="1965960" cy="274320"/>
          </a:xfrm>
          <a:prstGeom prst="rect">
            <a:avLst/>
          </a:prstGeom>
          <a:noFill/>
          <a:ln/>
        </p:spPr>
        <p:txBody>
          <a:bodyPr wrap="square" lIns="0" tIns="0" rIns="0" bIns="0" rtlCol="0" anchor="ctr"/>
          <a:lstStyle/>
          <a:p>
            <a:pPr indent="0" marL="0">
              <a:buNone/>
            </a:pPr>
            <a:r>
              <a:rPr lang="en-US" sz="1100" dirty="0">
                <a:solidFill>
                  <a:srgbClr val="E9F0EC"/>
                </a:solidFill>
                <a:latin typeface="Calibri" pitchFamily="34" charset="0"/>
                <a:ea typeface="Calibri" pitchFamily="34" charset="-122"/>
                <a:cs typeface="Calibri" pitchFamily="34" charset="-120"/>
              </a:rPr>
              <a:t>Contribución neta</a:t>
            </a:r>
            <a:endParaRPr lang="en-US" sz="1100" dirty="0"/>
          </a:p>
        </p:txBody>
      </p:sp>
      <p:sp>
        <p:nvSpPr>
          <p:cNvPr id="20" name="Text 18"/>
          <p:cNvSpPr txBox="1"/>
          <p:nvPr/>
        </p:nvSpPr>
        <p:spPr>
          <a:xfrm>
            <a:off x="10213848" y="2907792"/>
            <a:ext cx="1033272" cy="274320"/>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$6.250</a:t>
            </a:r>
            <a:endParaRPr lang="en-US" sz="1100" dirty="0"/>
          </a:p>
        </p:txBody>
      </p:sp>
      <p:sp>
        <p:nvSpPr>
          <p:cNvPr id="21" name="Text 19"/>
          <p:cNvSpPr txBox="1"/>
          <p:nvPr/>
        </p:nvSpPr>
        <p:spPr>
          <a:xfrm>
            <a:off x="8202168" y="3291840"/>
            <a:ext cx="1965960" cy="274320"/>
          </a:xfrm>
          <a:prstGeom prst="rect">
            <a:avLst/>
          </a:prstGeom>
          <a:noFill/>
          <a:ln/>
        </p:spPr>
        <p:txBody>
          <a:bodyPr wrap="square" lIns="0" tIns="0" rIns="0" bIns="0" rtlCol="0" anchor="ctr"/>
          <a:lstStyle/>
          <a:p>
            <a:pPr indent="0" marL="0">
              <a:buNone/>
            </a:pPr>
            <a:r>
              <a:rPr lang="en-US" sz="1100" dirty="0">
                <a:solidFill>
                  <a:srgbClr val="E9F0EC"/>
                </a:solidFill>
                <a:latin typeface="Calibri" pitchFamily="34" charset="0"/>
                <a:ea typeface="Calibri" pitchFamily="34" charset="-122"/>
                <a:cs typeface="Calibri" pitchFamily="34" charset="-120"/>
              </a:rPr>
              <a:t>Prima 25 % a quien lo trajo</a:t>
            </a:r>
            <a:endParaRPr lang="en-US" sz="1100" dirty="0"/>
          </a:p>
        </p:txBody>
      </p:sp>
      <p:sp>
        <p:nvSpPr>
          <p:cNvPr id="22" name="Text 20"/>
          <p:cNvSpPr txBox="1"/>
          <p:nvPr/>
        </p:nvSpPr>
        <p:spPr>
          <a:xfrm>
            <a:off x="10213848" y="3291840"/>
            <a:ext cx="1033272" cy="274320"/>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$1.563</a:t>
            </a:r>
            <a:endParaRPr lang="en-US" sz="1100" dirty="0"/>
          </a:p>
        </p:txBody>
      </p:sp>
      <p:sp>
        <p:nvSpPr>
          <p:cNvPr id="23" name="Text 21"/>
          <p:cNvSpPr txBox="1"/>
          <p:nvPr/>
        </p:nvSpPr>
        <p:spPr>
          <a:xfrm>
            <a:off x="8202168" y="3675888"/>
            <a:ext cx="1965960" cy="274320"/>
          </a:xfrm>
          <a:prstGeom prst="rect">
            <a:avLst/>
          </a:prstGeom>
          <a:noFill/>
          <a:ln/>
        </p:spPr>
        <p:txBody>
          <a:bodyPr wrap="square" lIns="0" tIns="0" rIns="0" bIns="0" rtlCol="0" anchor="ctr"/>
          <a:lstStyle/>
          <a:p>
            <a:pPr indent="0" marL="0">
              <a:buNone/>
            </a:pPr>
            <a:r>
              <a:rPr lang="en-US" sz="1100" dirty="0">
                <a:solidFill>
                  <a:srgbClr val="E9F0EC"/>
                </a:solidFill>
                <a:latin typeface="Calibri" pitchFamily="34" charset="0"/>
                <a:ea typeface="Calibri" pitchFamily="34" charset="-122"/>
                <a:cs typeface="Calibri" pitchFamily="34" charset="-120"/>
              </a:rPr>
              <a:t>Queda a repartir</a:t>
            </a:r>
            <a:endParaRPr lang="en-US" sz="1100" dirty="0"/>
          </a:p>
        </p:txBody>
      </p:sp>
      <p:sp>
        <p:nvSpPr>
          <p:cNvPr id="24" name="Text 22"/>
          <p:cNvSpPr txBox="1"/>
          <p:nvPr/>
        </p:nvSpPr>
        <p:spPr>
          <a:xfrm>
            <a:off x="10213848" y="3675888"/>
            <a:ext cx="1033272" cy="274320"/>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$4.687</a:t>
            </a:r>
            <a:endParaRPr lang="en-US" sz="1100" dirty="0"/>
          </a:p>
        </p:txBody>
      </p:sp>
      <p:sp>
        <p:nvSpPr>
          <p:cNvPr id="25" name="Text 23"/>
          <p:cNvSpPr txBox="1"/>
          <p:nvPr/>
        </p:nvSpPr>
        <p:spPr>
          <a:xfrm>
            <a:off x="8202168" y="4059936"/>
            <a:ext cx="1965960" cy="274320"/>
          </a:xfrm>
          <a:prstGeom prst="rect">
            <a:avLst/>
          </a:prstGeom>
          <a:noFill/>
          <a:ln/>
        </p:spPr>
        <p:txBody>
          <a:bodyPr wrap="square" lIns="0" tIns="0" rIns="0" bIns="0" rtlCol="0" anchor="ctr"/>
          <a:lstStyle/>
          <a:p>
            <a:pPr indent="0" marL="0">
              <a:buNone/>
            </a:pPr>
            <a:r>
              <a:rPr lang="en-US" sz="1100" dirty="0">
                <a:solidFill>
                  <a:srgbClr val="E9F0EC"/>
                </a:solidFill>
                <a:latin typeface="Calibri" pitchFamily="34" charset="0"/>
                <a:ea typeface="Calibri" pitchFamily="34" charset="-122"/>
                <a:cs typeface="Calibri" pitchFamily="34" charset="-120"/>
              </a:rPr>
              <a:t>A cada socio (un tercio)</a:t>
            </a:r>
            <a:endParaRPr lang="en-US" sz="1100" dirty="0"/>
          </a:p>
        </p:txBody>
      </p:sp>
      <p:sp>
        <p:nvSpPr>
          <p:cNvPr id="26" name="Text 24"/>
          <p:cNvSpPr txBox="1"/>
          <p:nvPr/>
        </p:nvSpPr>
        <p:spPr>
          <a:xfrm>
            <a:off x="10213848" y="4059936"/>
            <a:ext cx="1033272" cy="274320"/>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$1.562</a:t>
            </a:r>
            <a:endParaRPr lang="en-US" sz="1100" dirty="0"/>
          </a:p>
        </p:txBody>
      </p:sp>
      <p:sp>
        <p:nvSpPr>
          <p:cNvPr id="27" name="Shape 25"/>
          <p:cNvSpPr/>
          <p:nvPr/>
        </p:nvSpPr>
        <p:spPr>
          <a:xfrm>
            <a:off x="8202168" y="4526280"/>
            <a:ext cx="3044952" cy="0"/>
          </a:xfrm>
          <a:prstGeom prst="line">
            <a:avLst/>
          </a:prstGeom>
          <a:noFill/>
          <a:ln w="12700">
            <a:solidFill>
              <a:srgbClr val="6FA593"/>
            </a:solidFill>
            <a:prstDash val="solid"/>
          </a:ln>
        </p:spPr>
      </p:sp>
      <p:sp>
        <p:nvSpPr>
          <p:cNvPr id="28" name="Text 26"/>
          <p:cNvSpPr txBox="1"/>
          <p:nvPr/>
        </p:nvSpPr>
        <p:spPr>
          <a:xfrm>
            <a:off x="8202168" y="4645152"/>
            <a:ext cx="1783080" cy="274320"/>
          </a:xfrm>
          <a:prstGeom prst="rect">
            <a:avLst/>
          </a:prstGeom>
          <a:noFill/>
          <a:ln/>
        </p:spPr>
        <p:txBody>
          <a:bodyPr wrap="square" lIns="0" tIns="0" rIns="0" bIns="0" rtlCol="0" anchor="ctr"/>
          <a:lstStyle/>
          <a:p>
            <a:pPr indent="0" marL="0">
              <a:buNone/>
            </a:pPr>
            <a:r>
              <a:rPr lang="en-US" sz="1150" b="1" dirty="0">
                <a:solidFill>
                  <a:srgbClr val="D99B2B"/>
                </a:solidFill>
                <a:latin typeface="Calibri" pitchFamily="34" charset="0"/>
                <a:ea typeface="Calibri" pitchFamily="34" charset="-122"/>
                <a:cs typeface="Calibri" pitchFamily="34" charset="-120"/>
              </a:rPr>
              <a:t>Socio mexicano</a:t>
            </a:r>
            <a:endParaRPr lang="en-US" sz="1150" dirty="0"/>
          </a:p>
        </p:txBody>
      </p:sp>
      <p:sp>
        <p:nvSpPr>
          <p:cNvPr id="29" name="Text 27"/>
          <p:cNvSpPr txBox="1"/>
          <p:nvPr/>
        </p:nvSpPr>
        <p:spPr>
          <a:xfrm>
            <a:off x="10241280" y="4645152"/>
            <a:ext cx="1005840" cy="274320"/>
          </a:xfrm>
          <a:prstGeom prst="rect">
            <a:avLst/>
          </a:prstGeom>
          <a:noFill/>
          <a:ln/>
        </p:spPr>
        <p:txBody>
          <a:bodyPr wrap="square" lIns="0" tIns="0" rIns="0" bIns="0" rtlCol="0" anchor="ctr"/>
          <a:lstStyle/>
          <a:p>
            <a:pPr algn="r" indent="0" marL="0">
              <a:buNone/>
            </a:pPr>
            <a:r>
              <a:rPr lang="en-US" sz="1150" b="1" dirty="0">
                <a:solidFill>
                  <a:srgbClr val="D99B2B"/>
                </a:solidFill>
                <a:latin typeface="Calibri" pitchFamily="34" charset="0"/>
                <a:ea typeface="Calibri" pitchFamily="34" charset="-122"/>
                <a:cs typeface="Calibri" pitchFamily="34" charset="-120"/>
              </a:rPr>
              <a:t>$3.125</a:t>
            </a:r>
            <a:endParaRPr lang="en-US" sz="1150" dirty="0"/>
          </a:p>
        </p:txBody>
      </p:sp>
      <p:sp>
        <p:nvSpPr>
          <p:cNvPr id="30" name="Text 28"/>
          <p:cNvSpPr txBox="1"/>
          <p:nvPr/>
        </p:nvSpPr>
        <p:spPr>
          <a:xfrm>
            <a:off x="8202168" y="4956048"/>
            <a:ext cx="1783080" cy="274320"/>
          </a:xfrm>
          <a:prstGeom prst="rect">
            <a:avLst/>
          </a:prstGeom>
          <a:noFill/>
          <a:ln/>
        </p:spPr>
        <p:txBody>
          <a:bodyPr wrap="square" lIns="0" tIns="0" rIns="0" bIns="0" rtlCol="0" anchor="ctr"/>
          <a:lstStyle/>
          <a:p>
            <a:pPr indent="0" marL="0">
              <a:buNone/>
            </a:pPr>
            <a:r>
              <a:rPr lang="en-US" sz="1150" b="1" dirty="0">
                <a:solidFill>
                  <a:srgbClr val="E9F0EC"/>
                </a:solidFill>
                <a:latin typeface="Calibri" pitchFamily="34" charset="0"/>
                <a:ea typeface="Calibri" pitchFamily="34" charset="-122"/>
                <a:cs typeface="Calibri" pitchFamily="34" charset="-120"/>
              </a:rPr>
              <a:t>Los otros dos</a:t>
            </a:r>
            <a:endParaRPr lang="en-US" sz="1150" dirty="0"/>
          </a:p>
        </p:txBody>
      </p:sp>
      <p:sp>
        <p:nvSpPr>
          <p:cNvPr id="31" name="Text 29"/>
          <p:cNvSpPr txBox="1"/>
          <p:nvPr/>
        </p:nvSpPr>
        <p:spPr>
          <a:xfrm>
            <a:off x="10104120" y="4956048"/>
            <a:ext cx="1143000" cy="274320"/>
          </a:xfrm>
          <a:prstGeom prst="rect">
            <a:avLst/>
          </a:prstGeom>
          <a:noFill/>
          <a:ln/>
        </p:spPr>
        <p:txBody>
          <a:bodyPr wrap="square" lIns="0" tIns="0" rIns="0" bIns="0" rtlCol="0" anchor="ctr"/>
          <a:lstStyle/>
          <a:p>
            <a:pPr algn="r" indent="0" marL="0">
              <a:buNone/>
            </a:pPr>
            <a:r>
              <a:rPr lang="en-US" sz="1150" b="1" dirty="0">
                <a:solidFill>
                  <a:srgbClr val="E9F0EC"/>
                </a:solidFill>
                <a:latin typeface="Calibri" pitchFamily="34" charset="0"/>
                <a:ea typeface="Calibri" pitchFamily="34" charset="-122"/>
                <a:cs typeface="Calibri" pitchFamily="34" charset="-120"/>
              </a:rPr>
              <a:t>$1.562 c/u</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28600"/>
          </a:xfrm>
          <a:prstGeom prst="rect">
            <a:avLst/>
          </a:prstGeom>
          <a:noFill/>
          <a:ln/>
        </p:spPr>
        <p:txBody>
          <a:bodyPr wrap="square" lIns="0" tIns="0" rIns="0" bIns="0" rtlCol="0" anchor="ctr"/>
          <a:lstStyle/>
          <a:p>
            <a:pPr indent="0" marL="0">
              <a:buNone/>
            </a:pPr>
            <a:r>
              <a:rPr lang="en-US" sz="1100" b="1" spc="200" kern="0" dirty="0">
                <a:solidFill>
                  <a:srgbClr val="6FA593"/>
                </a:solidFill>
                <a:latin typeface="Calibri" pitchFamily="34" charset="0"/>
                <a:ea typeface="Calibri" pitchFamily="34" charset="-122"/>
                <a:cs typeface="Calibri" pitchFamily="34" charset="-120"/>
              </a:rPr>
              <a:t>ESTRUCTURA LEGAL</a:t>
            </a:r>
            <a:endParaRPr lang="en-US" sz="1100" dirty="0"/>
          </a:p>
        </p:txBody>
      </p:sp>
      <p:sp>
        <p:nvSpPr>
          <p:cNvPr id="3" name="Text 1"/>
          <p:cNvSpPr txBox="1"/>
          <p:nvPr/>
        </p:nvSpPr>
        <p:spPr>
          <a:xfrm>
            <a:off x="640080" y="621792"/>
            <a:ext cx="10911535" cy="658368"/>
          </a:xfrm>
          <a:prstGeom prst="rect">
            <a:avLst/>
          </a:prstGeom>
          <a:noFill/>
          <a:ln/>
        </p:spPr>
        <p:txBody>
          <a:bodyPr wrap="square" lIns="0" tIns="0" rIns="0" bIns="0" rtlCol="0" anchor="t"/>
          <a:lstStyle/>
          <a:p>
            <a:pPr indent="0" marL="0">
              <a:buNone/>
            </a:pPr>
            <a:r>
              <a:rPr lang="en-US" sz="3000" b="1" dirty="0">
                <a:solidFill>
                  <a:srgbClr val="1B4D42"/>
                </a:solidFill>
                <a:latin typeface="Cambria" pitchFamily="34" charset="0"/>
                <a:ea typeface="Cambria" pitchFamily="34" charset="-122"/>
                <a:cs typeface="Cambria" pitchFamily="34" charset="-120"/>
              </a:rPr>
              <a:t>Una LLC en Florida, y quién figura como dueño</a:t>
            </a:r>
            <a:endParaRPr lang="en-US" sz="3000" dirty="0"/>
          </a:p>
        </p:txBody>
      </p:sp>
      <p:sp>
        <p:nvSpPr>
          <p:cNvPr id="4" name="Shape 2"/>
          <p:cNvSpPr/>
          <p:nvPr/>
        </p:nvSpPr>
        <p:spPr>
          <a:xfrm>
            <a:off x="640080" y="1600200"/>
            <a:ext cx="5285232" cy="3200400"/>
          </a:xfrm>
          <a:prstGeom prst="roundRect">
            <a:avLst>
              <a:gd name="adj" fmla="val 1714"/>
            </a:avLst>
          </a:prstGeom>
          <a:solidFill>
            <a:srgbClr val="1B4D42"/>
          </a:solidFill>
          <a:ln w="12700">
            <a:solidFill>
              <a:srgbClr val="1B4D42"/>
            </a:solidFill>
            <a:prstDash val="solid"/>
          </a:ln>
        </p:spPr>
      </p:sp>
      <p:sp>
        <p:nvSpPr>
          <p:cNvPr id="5" name="Text 3"/>
          <p:cNvSpPr txBox="1"/>
          <p:nvPr/>
        </p:nvSpPr>
        <p:spPr>
          <a:xfrm>
            <a:off x="960120" y="1828800"/>
            <a:ext cx="4645152" cy="228600"/>
          </a:xfrm>
          <a:prstGeom prst="rect">
            <a:avLst/>
          </a:prstGeom>
          <a:noFill/>
          <a:ln/>
        </p:spPr>
        <p:txBody>
          <a:bodyPr wrap="square" lIns="0" tIns="0" rIns="0" bIns="0" rtlCol="0" anchor="ctr"/>
          <a:lstStyle/>
          <a:p>
            <a:pPr indent="0" marL="0">
              <a:buNone/>
            </a:pPr>
            <a:r>
              <a:rPr lang="en-US" sz="950" b="1" spc="140" kern="0" dirty="0">
                <a:solidFill>
                  <a:srgbClr val="D99B2B"/>
                </a:solidFill>
                <a:latin typeface="Calibri" pitchFamily="34" charset="0"/>
                <a:ea typeface="Calibri" pitchFamily="34" charset="-122"/>
                <a:cs typeface="Calibri" pitchFamily="34" charset="-120"/>
              </a:rPr>
              <a:t>RECOMENDADA PARA EL AÑO 1</a:t>
            </a:r>
            <a:endParaRPr lang="en-US" sz="950" dirty="0"/>
          </a:p>
        </p:txBody>
      </p:sp>
      <p:sp>
        <p:nvSpPr>
          <p:cNvPr id="6" name="Text 4"/>
          <p:cNvSpPr txBox="1"/>
          <p:nvPr/>
        </p:nvSpPr>
        <p:spPr>
          <a:xfrm>
            <a:off x="960120" y="2084832"/>
            <a:ext cx="4645152" cy="640080"/>
          </a:xfrm>
          <a:prstGeom prst="rect">
            <a:avLst/>
          </a:prstGeom>
          <a:noFill/>
          <a:ln/>
        </p:spPr>
        <p:txBody>
          <a:bodyPr wrap="square" lIns="0" tIns="0" rIns="0" bIns="0" rtlCol="0" anchor="ctr"/>
          <a:lstStyle/>
          <a:p>
            <a:pPr indent="0" marL="0">
              <a:lnSpc>
                <a:spcPts val="2400"/>
              </a:lnSpc>
              <a:buNone/>
            </a:pPr>
            <a:r>
              <a:rPr lang="en-US" sz="1900" b="1" dirty="0">
                <a:solidFill>
                  <a:srgbClr val="FFFFFF"/>
                </a:solidFill>
                <a:latin typeface="Cambria" pitchFamily="34" charset="0"/>
                <a:ea typeface="Cambria" pitchFamily="34" charset="-122"/>
                <a:cs typeface="Cambria" pitchFamily="34" charset="-120"/>
              </a:rPr>
              <a:t>Opción A · LLC del socio con green card</a:t>
            </a:r>
            <a:endParaRPr lang="en-US" sz="1900" dirty="0"/>
          </a:p>
        </p:txBody>
      </p:sp>
      <p:sp>
        <p:nvSpPr>
          <p:cNvPr id="7" name="Text 5"/>
          <p:cNvSpPr txBox="1"/>
          <p:nvPr/>
        </p:nvSpPr>
        <p:spPr>
          <a:xfrm>
            <a:off x="960120" y="2788920"/>
            <a:ext cx="4690872" cy="187452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E9F0EC"/>
                </a:solidFill>
                <a:latin typeface="Calibri" pitchFamily="34" charset="0"/>
                <a:ea typeface="Calibri" pitchFamily="34" charset="-122"/>
                <a:cs typeface="Calibri" pitchFamily="34" charset="-120"/>
              </a:rPr>
              <a:t>Los otros dos facturan desde su entidad local (SpA en Chile, autónomo o sociedad en España) por servicios prestados en su país.</a:t>
            </a:r>
            <a:endParaRPr lang="en-US" sz="1150" dirty="0"/>
          </a:p>
          <a:p>
            <a:pPr marL="342900" indent="-342900">
              <a:lnSpc>
                <a:spcPts val="1500"/>
              </a:lnSpc>
              <a:spcAft>
                <a:spcPts val="700"/>
              </a:spcAft>
              <a:buSzPct val="100000"/>
              <a:buChar char="•"/>
            </a:pPr>
            <a:r>
              <a:rPr lang="en-US" sz="1150" dirty="0">
                <a:solidFill>
                  <a:srgbClr val="E9F0EC"/>
                </a:solidFill>
                <a:latin typeface="Calibri" pitchFamily="34" charset="0"/>
                <a:ea typeface="Calibri" pitchFamily="34" charset="-122"/>
                <a:cs typeface="Calibri" pitchFamily="34" charset="-120"/>
              </a:rPr>
              <a:t>Servicios prestados fuera de EE. UU. son ingreso de fuente extranjera: en general, sin retención.</a:t>
            </a:r>
            <a:endParaRPr lang="en-US" sz="1150" dirty="0"/>
          </a:p>
          <a:p>
            <a:pPr marL="342900" indent="-342900">
              <a:lnSpc>
                <a:spcPts val="1500"/>
              </a:lnSpc>
              <a:spcAft>
                <a:spcPts val="700"/>
              </a:spcAft>
              <a:buSzPct val="100000"/>
              <a:buChar char="•"/>
            </a:pPr>
            <a:r>
              <a:rPr lang="en-US" sz="1150" dirty="0">
                <a:solidFill>
                  <a:srgbClr val="E9F0EC"/>
                </a:solidFill>
                <a:latin typeface="Calibri" pitchFamily="34" charset="0"/>
                <a:ea typeface="Calibri" pitchFamily="34" charset="-122"/>
                <a:cs typeface="Calibri" pitchFamily="34" charset="-120"/>
              </a:rPr>
              <a:t>Se monta en dos o tres semanas y cuesta poco.</a:t>
            </a:r>
            <a:endParaRPr lang="en-US" sz="1150" dirty="0"/>
          </a:p>
          <a:p>
            <a:pPr marL="342900" indent="-342900">
              <a:lnSpc>
                <a:spcPts val="1500"/>
              </a:lnSpc>
              <a:spcAft>
                <a:spcPts val="700"/>
              </a:spcAft>
              <a:buSzPct val="100000"/>
              <a:buChar char="•"/>
            </a:pPr>
            <a:r>
              <a:rPr lang="en-US" sz="1150" dirty="0">
                <a:solidFill>
                  <a:srgbClr val="E9F0EC"/>
                </a:solidFill>
                <a:latin typeface="Calibri" pitchFamily="34" charset="0"/>
                <a:ea typeface="Calibri" pitchFamily="34" charset="-122"/>
                <a:cs typeface="Calibri" pitchFamily="34" charset="-120"/>
              </a:rPr>
              <a:t>Exige acuerdo de fundadores firmado por los tres. Sin él, dos de nosotros somos proveedores, no dueños.</a:t>
            </a:r>
            <a:endParaRPr lang="en-US" sz="1150" dirty="0"/>
          </a:p>
        </p:txBody>
      </p:sp>
      <p:sp>
        <p:nvSpPr>
          <p:cNvPr id="8" name="Shape 6"/>
          <p:cNvSpPr/>
          <p:nvPr/>
        </p:nvSpPr>
        <p:spPr>
          <a:xfrm>
            <a:off x="6263640" y="1600200"/>
            <a:ext cx="5285232" cy="3200400"/>
          </a:xfrm>
          <a:prstGeom prst="roundRect">
            <a:avLst>
              <a:gd name="adj" fmla="val 1714"/>
            </a:avLst>
          </a:prstGeom>
          <a:solidFill>
            <a:srgbClr val="EAF0ED"/>
          </a:solidFill>
          <a:ln w="12700">
            <a:solidFill>
              <a:srgbClr val="EAF0ED"/>
            </a:solidFill>
            <a:prstDash val="solid"/>
          </a:ln>
        </p:spPr>
      </p:sp>
      <p:sp>
        <p:nvSpPr>
          <p:cNvPr id="9" name="Text 7"/>
          <p:cNvSpPr txBox="1"/>
          <p:nvPr/>
        </p:nvSpPr>
        <p:spPr>
          <a:xfrm>
            <a:off x="6583680" y="1828800"/>
            <a:ext cx="4645152" cy="228600"/>
          </a:xfrm>
          <a:prstGeom prst="rect">
            <a:avLst/>
          </a:prstGeom>
          <a:noFill/>
          <a:ln/>
        </p:spPr>
        <p:txBody>
          <a:bodyPr wrap="square" lIns="0" tIns="0" rIns="0" bIns="0" rtlCol="0" anchor="ctr"/>
          <a:lstStyle/>
          <a:p>
            <a:pPr indent="0" marL="0">
              <a:buNone/>
            </a:pPr>
            <a:r>
              <a:rPr lang="en-US" sz="950" b="1" spc="140" kern="0" dirty="0">
                <a:solidFill>
                  <a:srgbClr val="6FA593"/>
                </a:solidFill>
                <a:latin typeface="Calibri" pitchFamily="34" charset="0"/>
                <a:ea typeface="Calibri" pitchFamily="34" charset="-122"/>
                <a:cs typeface="Calibri" pitchFamily="34" charset="-120"/>
              </a:rPr>
              <a:t>PARA MÁS ADELANTE</a:t>
            </a:r>
            <a:endParaRPr lang="en-US" sz="950" dirty="0"/>
          </a:p>
        </p:txBody>
      </p:sp>
      <p:sp>
        <p:nvSpPr>
          <p:cNvPr id="10" name="Text 8"/>
          <p:cNvSpPr txBox="1"/>
          <p:nvPr/>
        </p:nvSpPr>
        <p:spPr>
          <a:xfrm>
            <a:off x="6583680" y="2084832"/>
            <a:ext cx="4645152" cy="640080"/>
          </a:xfrm>
          <a:prstGeom prst="rect">
            <a:avLst/>
          </a:prstGeom>
          <a:noFill/>
          <a:ln/>
        </p:spPr>
        <p:txBody>
          <a:bodyPr wrap="square" lIns="0" tIns="0" rIns="0" bIns="0" rtlCol="0" anchor="ctr"/>
          <a:lstStyle/>
          <a:p>
            <a:pPr indent="0" marL="0">
              <a:lnSpc>
                <a:spcPts val="2400"/>
              </a:lnSpc>
              <a:buNone/>
            </a:pPr>
            <a:r>
              <a:rPr lang="en-US" sz="1900" b="1" dirty="0">
                <a:solidFill>
                  <a:srgbClr val="1B4D42"/>
                </a:solidFill>
                <a:latin typeface="Cambria" pitchFamily="34" charset="0"/>
                <a:ea typeface="Cambria" pitchFamily="34" charset="-122"/>
                <a:cs typeface="Cambria" pitchFamily="34" charset="-120"/>
              </a:rPr>
              <a:t>Opción B · LLC con los tres como socios</a:t>
            </a:r>
            <a:endParaRPr lang="en-US" sz="1900" dirty="0"/>
          </a:p>
        </p:txBody>
      </p:sp>
      <p:sp>
        <p:nvSpPr>
          <p:cNvPr id="11" name="Text 9"/>
          <p:cNvSpPr txBox="1"/>
          <p:nvPr/>
        </p:nvSpPr>
        <p:spPr>
          <a:xfrm>
            <a:off x="6583680" y="2788920"/>
            <a:ext cx="4690872" cy="187452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586B63"/>
                </a:solidFill>
                <a:latin typeface="Calibri" pitchFamily="34" charset="0"/>
                <a:ea typeface="Calibri" pitchFamily="34" charset="-122"/>
                <a:cs typeface="Calibri" pitchFamily="34" charset="-120"/>
              </a:rPr>
              <a:t>Propiedad formal repartida desde el principio.</a:t>
            </a:r>
            <a:endParaRPr lang="en-US" sz="1150" dirty="0"/>
          </a:p>
          <a:p>
            <a:pPr marL="342900" indent="-342900">
              <a:lnSpc>
                <a:spcPts val="1500"/>
              </a:lnSpc>
              <a:spcAft>
                <a:spcPts val="700"/>
              </a:spcAft>
              <a:buSzPct val="100000"/>
              <a:buChar char="•"/>
            </a:pPr>
            <a:r>
              <a:rPr lang="en-US" sz="1150" dirty="0">
                <a:solidFill>
                  <a:srgbClr val="586B63"/>
                </a:solidFill>
                <a:latin typeface="Calibri" pitchFamily="34" charset="0"/>
                <a:ea typeface="Calibri" pitchFamily="34" charset="-122"/>
                <a:cs typeface="Calibri" pitchFamily="34" charset="-120"/>
              </a:rPr>
              <a:t>Los socios extranjeros quedan sujetos a retención sobre ingreso conectado, con formularios 8804 y 8805.</a:t>
            </a:r>
            <a:endParaRPr lang="en-US" sz="1150" dirty="0"/>
          </a:p>
          <a:p>
            <a:pPr marL="342900" indent="-342900">
              <a:lnSpc>
                <a:spcPts val="1500"/>
              </a:lnSpc>
              <a:spcAft>
                <a:spcPts val="700"/>
              </a:spcAft>
              <a:buSzPct val="100000"/>
              <a:buChar char="•"/>
            </a:pPr>
            <a:r>
              <a:rPr lang="en-US" sz="1150" dirty="0">
                <a:solidFill>
                  <a:srgbClr val="586B63"/>
                </a:solidFill>
                <a:latin typeface="Calibri" pitchFamily="34" charset="0"/>
                <a:ea typeface="Calibri" pitchFamily="34" charset="-122"/>
                <a:cs typeface="Calibri" pitchFamily="34" charset="-120"/>
              </a:rPr>
              <a:t>Hacen falta ITIN y declaración 1040‑NR de cada uno.</a:t>
            </a:r>
            <a:endParaRPr lang="en-US" sz="1150" dirty="0"/>
          </a:p>
          <a:p>
            <a:pPr marL="342900" indent="-342900">
              <a:lnSpc>
                <a:spcPts val="1500"/>
              </a:lnSpc>
              <a:spcAft>
                <a:spcPts val="700"/>
              </a:spcAft>
              <a:buSzPct val="100000"/>
              <a:buChar char="•"/>
            </a:pPr>
            <a:r>
              <a:rPr lang="en-US" sz="1150" dirty="0">
                <a:solidFill>
                  <a:srgbClr val="586B63"/>
                </a:solidFill>
                <a:latin typeface="Calibri" pitchFamily="34" charset="0"/>
                <a:ea typeface="Calibri" pitchFamily="34" charset="-122"/>
                <a:cs typeface="Calibri" pitchFamily="34" charset="-120"/>
              </a:rPr>
              <a:t>Contador especializado obligatorio y meses de trámite antes de facturar nada.</a:t>
            </a:r>
            <a:endParaRPr lang="en-US" sz="1150" dirty="0"/>
          </a:p>
        </p:txBody>
      </p:sp>
      <p:sp>
        <p:nvSpPr>
          <p:cNvPr id="12" name="Shape 10"/>
          <p:cNvSpPr/>
          <p:nvPr/>
        </p:nvSpPr>
        <p:spPr>
          <a:xfrm>
            <a:off x="640080" y="4983480"/>
            <a:ext cx="10911535" cy="868680"/>
          </a:xfrm>
          <a:prstGeom prst="roundRect">
            <a:avLst>
              <a:gd name="adj" fmla="val 6316"/>
            </a:avLst>
          </a:prstGeom>
          <a:solidFill>
            <a:srgbClr val="EAF0ED"/>
          </a:solidFill>
          <a:ln w="12700">
            <a:solidFill>
              <a:srgbClr val="EAF0ED"/>
            </a:solidFill>
            <a:prstDash val="solid"/>
          </a:ln>
        </p:spPr>
      </p:sp>
      <p:sp>
        <p:nvSpPr>
          <p:cNvPr id="13" name="Shape 11"/>
          <p:cNvSpPr/>
          <p:nvPr/>
        </p:nvSpPr>
        <p:spPr>
          <a:xfrm>
            <a:off x="960120" y="5193792"/>
            <a:ext cx="457200" cy="457200"/>
          </a:xfrm>
          <a:prstGeom prst="ellipse">
            <a:avLst/>
          </a:prstGeom>
          <a:solidFill>
            <a:srgbClr val="D99B2B"/>
          </a:solidFill>
          <a:ln/>
        </p:spPr>
      </p:sp>
      <p:sp>
        <p:nvSpPr>
          <p:cNvPr id="14" name="Text 12"/>
          <p:cNvSpPr txBox="1"/>
          <p:nvPr/>
        </p:nvSpPr>
        <p:spPr>
          <a:xfrm>
            <a:off x="960120" y="5193792"/>
            <a:ext cx="457200" cy="457200"/>
          </a:xfrm>
          <a:prstGeom prst="rect">
            <a:avLst/>
          </a:prstGeom>
          <a:noFill/>
          <a:ln/>
        </p:spPr>
        <p:txBody>
          <a:bodyPr wrap="square" lIns="0" tIns="0" rIns="0" bIns="0" rtlCol="0" anchor="ctr"/>
          <a:lstStyle/>
          <a:p>
            <a:pPr algn="ctr" indent="0" marL="0">
              <a:buNone/>
            </a:pPr>
            <a:r>
              <a:rPr lang="en-US" sz="1100" b="1" dirty="0">
                <a:solidFill>
                  <a:srgbClr val="0F2A25"/>
                </a:solidFill>
                <a:latin typeface="Calibri" pitchFamily="34" charset="0"/>
                <a:ea typeface="Calibri" pitchFamily="34" charset="-122"/>
                <a:cs typeface="Calibri" pitchFamily="34" charset="-120"/>
              </a:rPr>
              <a:t>→</a:t>
            </a:r>
            <a:endParaRPr lang="en-US" sz="1100" dirty="0"/>
          </a:p>
        </p:txBody>
      </p:sp>
      <p:sp>
        <p:nvSpPr>
          <p:cNvPr id="15" name="Text 13"/>
          <p:cNvSpPr txBox="1"/>
          <p:nvPr/>
        </p:nvSpPr>
        <p:spPr>
          <a:xfrm>
            <a:off x="1600200" y="5138928"/>
            <a:ext cx="9692640" cy="594360"/>
          </a:xfrm>
          <a:prstGeom prst="rect">
            <a:avLst/>
          </a:prstGeom>
          <a:noFill/>
          <a:ln/>
        </p:spPr>
        <p:txBody>
          <a:bodyPr wrap="square" lIns="0" tIns="0" rIns="0" bIns="0" rtlCol="0" anchor="ctr"/>
          <a:lstStyle/>
          <a:p>
            <a:pPr indent="0" marL="0">
              <a:lnSpc>
                <a:spcPts val="1800"/>
              </a:lnSpc>
              <a:buNone/>
            </a:pPr>
            <a:r>
              <a:rPr lang="en-US" sz="1250" dirty="0">
                <a:solidFill>
                  <a:srgbClr val="1B4D42"/>
                </a:solidFill>
                <a:latin typeface="Calibri" pitchFamily="34" charset="0"/>
                <a:ea typeface="Calibri" pitchFamily="34" charset="-122"/>
                <a:cs typeface="Calibri" pitchFamily="34" charset="-120"/>
              </a:rPr>
              <a:t>La propuesta: arrancar con la A, y escribir en el acuerdo de fundadores un gatillo automático — al facturar $150.000 en doce meses corridos, se convierte en la B con los tercios ya pactados y el contador lo paga la empresa.</a:t>
            </a:r>
            <a:endParaRPr lang="en-US" sz="1250" dirty="0"/>
          </a:p>
        </p:txBody>
      </p:sp>
      <p:sp>
        <p:nvSpPr>
          <p:cNvPr id="16" name="Text 14"/>
          <p:cNvSpPr txBox="1"/>
          <p:nvPr/>
        </p:nvSpPr>
        <p:spPr>
          <a:xfrm>
            <a:off x="640080" y="6291072"/>
            <a:ext cx="10911535" cy="274320"/>
          </a:xfrm>
          <a:prstGeom prst="rect">
            <a:avLst/>
          </a:prstGeom>
          <a:noFill/>
          <a:ln/>
        </p:spPr>
        <p:txBody>
          <a:bodyPr wrap="square" lIns="0" tIns="0" rIns="0" bIns="0" rtlCol="0" anchor="ctr"/>
          <a:lstStyle/>
          <a:p>
            <a:pPr indent="0" marL="0">
              <a:buNone/>
            </a:pPr>
            <a:r>
              <a:rPr lang="en-US" sz="1000" i="1" dirty="0">
                <a:solidFill>
                  <a:srgbClr val="586B63"/>
                </a:solidFill>
                <a:latin typeface="Calibri" pitchFamily="34" charset="0"/>
                <a:ea typeface="Calibri" pitchFamily="34" charset="-122"/>
                <a:cs typeface="Calibri" pitchFamily="34" charset="-120"/>
              </a:rPr>
              <a:t>Antes de constituir nada conviene una consulta con un contador estadounidense con experiencia en socios extranjeros.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25"/>
        </a:solidFill>
      </p:bgPr>
    </p:bg>
    <p:spTree>
      <p:nvGrpSpPr>
        <p:cNvPr id="1" name=""/>
        <p:cNvGrpSpPr/>
        <p:nvPr/>
      </p:nvGrpSpPr>
      <p:grpSpPr>
        <a:xfrm>
          <a:off x="0" y="0"/>
          <a:ext cx="0" cy="0"/>
          <a:chOff x="0" y="0"/>
          <a:chExt cx="0" cy="0"/>
        </a:xfrm>
      </p:grpSpPr>
      <p:sp>
        <p:nvSpPr>
          <p:cNvPr id="2" name="Text 0"/>
          <p:cNvSpPr txBox="1"/>
          <p:nvPr/>
        </p:nvSpPr>
        <p:spPr>
          <a:xfrm>
            <a:off x="640080" y="548640"/>
            <a:ext cx="7315200" cy="228600"/>
          </a:xfrm>
          <a:prstGeom prst="rect">
            <a:avLst/>
          </a:prstGeom>
          <a:noFill/>
          <a:ln/>
        </p:spPr>
        <p:txBody>
          <a:bodyPr wrap="square" lIns="0" tIns="0" rIns="0" bIns="0" rtlCol="0" anchor="ctr"/>
          <a:lstStyle/>
          <a:p>
            <a:pPr indent="0" marL="0">
              <a:buNone/>
            </a:pPr>
            <a:r>
              <a:rPr lang="en-US" sz="1100" b="1" spc="200" kern="0" dirty="0">
                <a:solidFill>
                  <a:srgbClr val="6FA593"/>
                </a:solidFill>
                <a:latin typeface="Calibri" pitchFamily="34" charset="0"/>
                <a:ea typeface="Calibri" pitchFamily="34" charset="-122"/>
                <a:cs typeface="Calibri" pitchFamily="34" charset="-120"/>
              </a:rPr>
              <a:t>CUMPLIMIENTO</a:t>
            </a:r>
            <a:endParaRPr lang="en-US" sz="1100" dirty="0"/>
          </a:p>
        </p:txBody>
      </p:sp>
      <p:sp>
        <p:nvSpPr>
          <p:cNvPr id="3" name="Text 1"/>
          <p:cNvSpPr txBox="1"/>
          <p:nvPr/>
        </p:nvSpPr>
        <p:spPr>
          <a:xfrm>
            <a:off x="640080" y="822960"/>
            <a:ext cx="91440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Cinco cosas que no hacemos nunca</a:t>
            </a:r>
            <a:endParaRPr lang="en-US" sz="3000" dirty="0"/>
          </a:p>
        </p:txBody>
      </p:sp>
      <p:sp>
        <p:nvSpPr>
          <p:cNvPr id="4" name="Shape 2"/>
          <p:cNvSpPr/>
          <p:nvPr/>
        </p:nvSpPr>
        <p:spPr>
          <a:xfrm>
            <a:off x="640080" y="1627632"/>
            <a:ext cx="402336" cy="402336"/>
          </a:xfrm>
          <a:prstGeom prst="ellipse">
            <a:avLst/>
          </a:prstGeom>
          <a:solidFill>
            <a:srgbClr val="A8452F"/>
          </a:solidFill>
          <a:ln/>
        </p:spPr>
      </p:sp>
      <p:sp>
        <p:nvSpPr>
          <p:cNvPr id="5" name="Text 3"/>
          <p:cNvSpPr txBox="1"/>
          <p:nvPr/>
        </p:nvSpPr>
        <p:spPr>
          <a:xfrm>
            <a:off x="640080" y="162763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6" name="Text 4"/>
          <p:cNvSpPr txBox="1"/>
          <p:nvPr/>
        </p:nvSpPr>
        <p:spPr>
          <a:xfrm>
            <a:off x="1207008" y="1600200"/>
            <a:ext cx="4828032"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Garantizar una visa</a:t>
            </a:r>
            <a:endParaRPr lang="en-US" sz="1600" dirty="0"/>
          </a:p>
        </p:txBody>
      </p:sp>
      <p:sp>
        <p:nvSpPr>
          <p:cNvPr id="7" name="Text 5"/>
          <p:cNvSpPr txBox="1"/>
          <p:nvPr/>
        </p:nvSpPr>
        <p:spPr>
          <a:xfrm>
            <a:off x="1207008" y="1929384"/>
            <a:ext cx="4846320" cy="868680"/>
          </a:xfrm>
          <a:prstGeom prst="rect">
            <a:avLst/>
          </a:prstGeom>
          <a:noFill/>
          <a:ln/>
        </p:spPr>
        <p:txBody>
          <a:bodyPr wrap="square" lIns="0" tIns="0" rIns="0" bIns="0" rtlCol="0" anchor="ctr"/>
          <a:lstStyle/>
          <a:p>
            <a:pPr indent="0" marL="0">
              <a:lnSpc>
                <a:spcPts val="1600"/>
              </a:lnSpc>
              <a:buNone/>
            </a:pPr>
            <a:r>
              <a:rPr lang="en-US" sz="1150" dirty="0">
                <a:solidFill>
                  <a:srgbClr val="E9F0EC"/>
                </a:solidFill>
                <a:latin typeface="Calibri" pitchFamily="34" charset="0"/>
                <a:ea typeface="Calibri" pitchFamily="34" charset="-122"/>
                <a:cs typeface="Calibri" pitchFamily="34" charset="-120"/>
              </a:rPr>
              <a:t>La decisión es del oficial consular. Prometerlo es lo que convierte un negocio en un fraude.</a:t>
            </a:r>
            <a:endParaRPr lang="en-US" sz="1150" dirty="0"/>
          </a:p>
        </p:txBody>
      </p:sp>
      <p:sp>
        <p:nvSpPr>
          <p:cNvPr id="8" name="Shape 6"/>
          <p:cNvSpPr/>
          <p:nvPr/>
        </p:nvSpPr>
        <p:spPr>
          <a:xfrm>
            <a:off x="6263640" y="1627632"/>
            <a:ext cx="402336" cy="402336"/>
          </a:xfrm>
          <a:prstGeom prst="ellipse">
            <a:avLst/>
          </a:prstGeom>
          <a:solidFill>
            <a:srgbClr val="A8452F"/>
          </a:solidFill>
          <a:ln/>
        </p:spPr>
      </p:sp>
      <p:sp>
        <p:nvSpPr>
          <p:cNvPr id="9" name="Text 7"/>
          <p:cNvSpPr txBox="1"/>
          <p:nvPr/>
        </p:nvSpPr>
        <p:spPr>
          <a:xfrm>
            <a:off x="6263640" y="162763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6830568" y="1600200"/>
            <a:ext cx="4828032"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Tocar los documentos financieros</a:t>
            </a:r>
            <a:endParaRPr lang="en-US" sz="1600" dirty="0"/>
          </a:p>
        </p:txBody>
      </p:sp>
      <p:sp>
        <p:nvSpPr>
          <p:cNvPr id="11" name="Text 9"/>
          <p:cNvSpPr txBox="1"/>
          <p:nvPr/>
        </p:nvSpPr>
        <p:spPr>
          <a:xfrm>
            <a:off x="6830568" y="1929384"/>
            <a:ext cx="4846320" cy="868680"/>
          </a:xfrm>
          <a:prstGeom prst="rect">
            <a:avLst/>
          </a:prstGeom>
          <a:noFill/>
          <a:ln/>
        </p:spPr>
        <p:txBody>
          <a:bodyPr wrap="square" lIns="0" tIns="0" rIns="0" bIns="0" rtlCol="0" anchor="ctr"/>
          <a:lstStyle/>
          <a:p>
            <a:pPr indent="0" marL="0">
              <a:lnSpc>
                <a:spcPts val="1600"/>
              </a:lnSpc>
              <a:buNone/>
            </a:pPr>
            <a:r>
              <a:rPr lang="en-US" sz="1150" dirty="0">
                <a:solidFill>
                  <a:srgbClr val="E9F0EC"/>
                </a:solidFill>
                <a:latin typeface="Calibri" pitchFamily="34" charset="0"/>
                <a:ea typeface="Calibri" pitchFamily="34" charset="-122"/>
                <a:cs typeface="Calibri" pitchFamily="34" charset="-120"/>
              </a:rPr>
              <a:t>Los estados de cuenta salen del banco de la familia tal como son. Alterarlos puede costarle al alumno la entrada de por vida.</a:t>
            </a:r>
            <a:endParaRPr lang="en-US" sz="1150" dirty="0"/>
          </a:p>
        </p:txBody>
      </p:sp>
      <p:sp>
        <p:nvSpPr>
          <p:cNvPr id="12" name="Shape 10"/>
          <p:cNvSpPr/>
          <p:nvPr/>
        </p:nvSpPr>
        <p:spPr>
          <a:xfrm>
            <a:off x="640080" y="3108960"/>
            <a:ext cx="402336" cy="402336"/>
          </a:xfrm>
          <a:prstGeom prst="ellipse">
            <a:avLst/>
          </a:prstGeom>
          <a:solidFill>
            <a:srgbClr val="A8452F"/>
          </a:solidFill>
          <a:ln/>
        </p:spPr>
      </p:sp>
      <p:sp>
        <p:nvSpPr>
          <p:cNvPr id="13" name="Text 11"/>
          <p:cNvSpPr txBox="1"/>
          <p:nvPr/>
        </p:nvSpPr>
        <p:spPr>
          <a:xfrm>
            <a:off x="640080" y="31089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4" name="Text 12"/>
          <p:cNvSpPr txBox="1"/>
          <p:nvPr/>
        </p:nvSpPr>
        <p:spPr>
          <a:xfrm>
            <a:off x="1207008" y="3081528"/>
            <a:ext cx="4828032"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Escribir los ensayos por el estudiante</a:t>
            </a:r>
            <a:endParaRPr lang="en-US" sz="1600" dirty="0"/>
          </a:p>
        </p:txBody>
      </p:sp>
      <p:sp>
        <p:nvSpPr>
          <p:cNvPr id="15" name="Text 13"/>
          <p:cNvSpPr txBox="1"/>
          <p:nvPr/>
        </p:nvSpPr>
        <p:spPr>
          <a:xfrm>
            <a:off x="1207008" y="3410712"/>
            <a:ext cx="4846320" cy="868680"/>
          </a:xfrm>
          <a:prstGeom prst="rect">
            <a:avLst/>
          </a:prstGeom>
          <a:noFill/>
          <a:ln/>
        </p:spPr>
        <p:txBody>
          <a:bodyPr wrap="square" lIns="0" tIns="0" rIns="0" bIns="0" rtlCol="0" anchor="ctr"/>
          <a:lstStyle/>
          <a:p>
            <a:pPr indent="0" marL="0">
              <a:lnSpc>
                <a:spcPts val="1600"/>
              </a:lnSpc>
              <a:buNone/>
            </a:pPr>
            <a:r>
              <a:rPr lang="en-US" sz="1150" dirty="0">
                <a:solidFill>
                  <a:srgbClr val="E9F0EC"/>
                </a:solidFill>
                <a:latin typeface="Calibri" pitchFamily="34" charset="0"/>
                <a:ea typeface="Calibri" pitchFamily="34" charset="-122"/>
                <a:cs typeface="Calibri" pitchFamily="34" charset="-120"/>
              </a:rPr>
              <a:t>Las instituciones lo detectan y lo castigan cancelando el contrato de la agencia.</a:t>
            </a:r>
            <a:endParaRPr lang="en-US" sz="1150" dirty="0"/>
          </a:p>
        </p:txBody>
      </p:sp>
      <p:sp>
        <p:nvSpPr>
          <p:cNvPr id="16" name="Shape 14"/>
          <p:cNvSpPr/>
          <p:nvPr/>
        </p:nvSpPr>
        <p:spPr>
          <a:xfrm>
            <a:off x="6263640" y="3108960"/>
            <a:ext cx="402336" cy="402336"/>
          </a:xfrm>
          <a:prstGeom prst="ellipse">
            <a:avLst/>
          </a:prstGeom>
          <a:solidFill>
            <a:srgbClr val="A8452F"/>
          </a:solidFill>
          <a:ln/>
        </p:spPr>
      </p:sp>
      <p:sp>
        <p:nvSpPr>
          <p:cNvPr id="17" name="Text 15"/>
          <p:cNvSpPr txBox="1"/>
          <p:nvPr/>
        </p:nvSpPr>
        <p:spPr>
          <a:xfrm>
            <a:off x="6263640" y="31089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6"/>
          <p:cNvSpPr txBox="1"/>
          <p:nvPr/>
        </p:nvSpPr>
        <p:spPr>
          <a:xfrm>
            <a:off x="6830568" y="3081528"/>
            <a:ext cx="4828032"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Aparecer como patrocinador financiero</a:t>
            </a:r>
            <a:endParaRPr lang="en-US" sz="1600" dirty="0"/>
          </a:p>
        </p:txBody>
      </p:sp>
      <p:sp>
        <p:nvSpPr>
          <p:cNvPr id="19" name="Text 17"/>
          <p:cNvSpPr txBox="1"/>
          <p:nvPr/>
        </p:nvSpPr>
        <p:spPr>
          <a:xfrm>
            <a:off x="6830568" y="3410712"/>
            <a:ext cx="4846320" cy="868680"/>
          </a:xfrm>
          <a:prstGeom prst="rect">
            <a:avLst/>
          </a:prstGeom>
          <a:noFill/>
          <a:ln/>
        </p:spPr>
        <p:txBody>
          <a:bodyPr wrap="square" lIns="0" tIns="0" rIns="0" bIns="0" rtlCol="0" anchor="ctr"/>
          <a:lstStyle/>
          <a:p>
            <a:pPr indent="0" marL="0">
              <a:lnSpc>
                <a:spcPts val="1600"/>
              </a:lnSpc>
              <a:buNone/>
            </a:pPr>
            <a:r>
              <a:rPr lang="en-US" sz="1150" dirty="0">
                <a:solidFill>
                  <a:srgbClr val="E9F0EC"/>
                </a:solidFill>
                <a:latin typeface="Calibri" pitchFamily="34" charset="0"/>
                <a:ea typeface="Calibri" pitchFamily="34" charset="-122"/>
                <a:cs typeface="Calibri" pitchFamily="34" charset="-120"/>
              </a:rPr>
              <a:t>Somos la agencia. El dinero es de la familia, en el I‑20 y en la entrevista.</a:t>
            </a:r>
            <a:endParaRPr lang="en-US" sz="1150" dirty="0"/>
          </a:p>
        </p:txBody>
      </p:sp>
      <p:sp>
        <p:nvSpPr>
          <p:cNvPr id="20" name="Shape 18"/>
          <p:cNvSpPr/>
          <p:nvPr/>
        </p:nvSpPr>
        <p:spPr>
          <a:xfrm>
            <a:off x="640080" y="4590288"/>
            <a:ext cx="402336" cy="402336"/>
          </a:xfrm>
          <a:prstGeom prst="ellipse">
            <a:avLst/>
          </a:prstGeom>
          <a:solidFill>
            <a:srgbClr val="A8452F"/>
          </a:solidFill>
          <a:ln/>
        </p:spPr>
      </p:sp>
      <p:sp>
        <p:nvSpPr>
          <p:cNvPr id="21" name="Text 19"/>
          <p:cNvSpPr txBox="1"/>
          <p:nvPr/>
        </p:nvSpPr>
        <p:spPr>
          <a:xfrm>
            <a:off x="640080" y="459028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txBox="1"/>
          <p:nvPr/>
        </p:nvSpPr>
        <p:spPr>
          <a:xfrm>
            <a:off x="1207008" y="4562856"/>
            <a:ext cx="4828032"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Dar asesoría legal migratoria</a:t>
            </a:r>
            <a:endParaRPr lang="en-US" sz="1600" dirty="0"/>
          </a:p>
        </p:txBody>
      </p:sp>
      <p:sp>
        <p:nvSpPr>
          <p:cNvPr id="23" name="Text 21"/>
          <p:cNvSpPr txBox="1"/>
          <p:nvPr/>
        </p:nvSpPr>
        <p:spPr>
          <a:xfrm>
            <a:off x="1207008" y="4892040"/>
            <a:ext cx="4846320" cy="868680"/>
          </a:xfrm>
          <a:prstGeom prst="rect">
            <a:avLst/>
          </a:prstGeom>
          <a:noFill/>
          <a:ln/>
        </p:spPr>
        <p:txBody>
          <a:bodyPr wrap="square" lIns="0" tIns="0" rIns="0" bIns="0" rtlCol="0" anchor="ctr"/>
          <a:lstStyle/>
          <a:p>
            <a:pPr indent="0" marL="0">
              <a:lnSpc>
                <a:spcPts val="1600"/>
              </a:lnSpc>
              <a:buNone/>
            </a:pPr>
            <a:r>
              <a:rPr lang="en-US" sz="1150" dirty="0">
                <a:solidFill>
                  <a:srgbClr val="E9F0EC"/>
                </a:solidFill>
                <a:latin typeface="Calibri" pitchFamily="34" charset="0"/>
                <a:ea typeface="Calibri" pitchFamily="34" charset="-122"/>
                <a:cs typeface="Calibri" pitchFamily="34" charset="-120"/>
              </a:rPr>
              <a:t>Ordenar un trámite es una cosa; representar a alguien ante inmigración está reservado a abogados. Los casos complicados se derivan.</a:t>
            </a:r>
            <a:endParaRPr lang="en-US" sz="1150" dirty="0"/>
          </a:p>
        </p:txBody>
      </p:sp>
      <p:sp>
        <p:nvSpPr>
          <p:cNvPr id="24" name="Text 22"/>
          <p:cNvSpPr txBox="1"/>
          <p:nvPr/>
        </p:nvSpPr>
        <p:spPr>
          <a:xfrm>
            <a:off x="6263640" y="4572000"/>
            <a:ext cx="5394960" cy="1051560"/>
          </a:xfrm>
          <a:prstGeom prst="rect">
            <a:avLst/>
          </a:prstGeom>
          <a:noFill/>
          <a:ln/>
        </p:spPr>
        <p:txBody>
          <a:bodyPr wrap="square" lIns="0" tIns="0" rIns="0" bIns="0" rtlCol="0" anchor="ctr"/>
          <a:lstStyle/>
          <a:p>
            <a:pPr indent="0" marL="0">
              <a:lnSpc>
                <a:spcPts val="1800"/>
              </a:lnSpc>
              <a:buNone/>
            </a:pPr>
            <a:r>
              <a:rPr lang="en-US" sz="1250" b="1" dirty="0">
                <a:solidFill>
                  <a:srgbClr val="D99B2B"/>
                </a:solidFill>
                <a:latin typeface="Calibri" pitchFamily="34" charset="0"/>
                <a:ea typeface="Calibri" pitchFamily="34" charset="-122"/>
                <a:cs typeface="Calibri" pitchFamily="34" charset="-120"/>
              </a:rPr>
              <a:t>Y una regla que define dónde puede trabajar cada uno: la comisión por reclutar es legal porque existe una excepción para estudiantes extranjeros residentes en el extranjero. El reclutamiento ocurre fuera de Estados Unidos.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28600"/>
          </a:xfrm>
          <a:prstGeom prst="rect">
            <a:avLst/>
          </a:prstGeom>
          <a:noFill/>
          <a:ln/>
        </p:spPr>
        <p:txBody>
          <a:bodyPr wrap="square" lIns="0" tIns="0" rIns="0" bIns="0" rtlCol="0" anchor="ctr"/>
          <a:lstStyle/>
          <a:p>
            <a:pPr indent="0" marL="0">
              <a:buNone/>
            </a:pPr>
            <a:r>
              <a:rPr lang="en-US" sz="1100" b="1" spc="200" kern="0" dirty="0">
                <a:solidFill>
                  <a:srgbClr val="6FA593"/>
                </a:solidFill>
                <a:latin typeface="Calibri" pitchFamily="34" charset="0"/>
                <a:ea typeface="Calibri" pitchFamily="34" charset="-122"/>
                <a:cs typeface="Calibri" pitchFamily="34" charset="-120"/>
              </a:rPr>
              <a:t>EL PROCESO DEL ESTUDIANTE</a:t>
            </a:r>
            <a:endParaRPr lang="en-US" sz="1100" dirty="0"/>
          </a:p>
        </p:txBody>
      </p:sp>
      <p:sp>
        <p:nvSpPr>
          <p:cNvPr id="3" name="Text 1"/>
          <p:cNvSpPr txBox="1"/>
          <p:nvPr/>
        </p:nvSpPr>
        <p:spPr>
          <a:xfrm>
            <a:off x="640080" y="621792"/>
            <a:ext cx="10911535" cy="658368"/>
          </a:xfrm>
          <a:prstGeom prst="rect">
            <a:avLst/>
          </a:prstGeom>
          <a:noFill/>
          <a:ln/>
        </p:spPr>
        <p:txBody>
          <a:bodyPr wrap="square" lIns="0" tIns="0" rIns="0" bIns="0" rtlCol="0" anchor="t"/>
          <a:lstStyle/>
          <a:p>
            <a:pPr indent="0" marL="0">
              <a:buNone/>
            </a:pPr>
            <a:r>
              <a:rPr lang="en-US" sz="3000" b="1" dirty="0">
                <a:solidFill>
                  <a:srgbClr val="1B4D42"/>
                </a:solidFill>
                <a:latin typeface="Cambria" pitchFamily="34" charset="0"/>
                <a:ea typeface="Cambria" pitchFamily="34" charset="-122"/>
                <a:cs typeface="Cambria" pitchFamily="34" charset="-120"/>
              </a:rPr>
              <a:t>De la primera llamada a la comisión cobrada</a:t>
            </a:r>
            <a:endParaRPr lang="en-US" sz="3000" dirty="0"/>
          </a:p>
        </p:txBody>
      </p:sp>
      <p:sp>
        <p:nvSpPr>
          <p:cNvPr id="4" name="Shape 2"/>
          <p:cNvSpPr/>
          <p:nvPr/>
        </p:nvSpPr>
        <p:spPr>
          <a:xfrm>
            <a:off x="640080" y="1600200"/>
            <a:ext cx="5285232" cy="960120"/>
          </a:xfrm>
          <a:prstGeom prst="roundRect">
            <a:avLst>
              <a:gd name="adj" fmla="val 5714"/>
            </a:avLst>
          </a:prstGeom>
          <a:solidFill>
            <a:srgbClr val="EAF0ED"/>
          </a:solidFill>
          <a:ln w="12700">
            <a:solidFill>
              <a:srgbClr val="EAF0ED"/>
            </a:solidFill>
            <a:prstDash val="solid"/>
          </a:ln>
        </p:spPr>
      </p:sp>
      <p:sp>
        <p:nvSpPr>
          <p:cNvPr id="5" name="Shape 3"/>
          <p:cNvSpPr/>
          <p:nvPr/>
        </p:nvSpPr>
        <p:spPr>
          <a:xfrm>
            <a:off x="877824" y="1874520"/>
            <a:ext cx="402336" cy="402336"/>
          </a:xfrm>
          <a:prstGeom prst="ellipse">
            <a:avLst/>
          </a:prstGeom>
          <a:solidFill>
            <a:srgbClr val="1B4D42"/>
          </a:solidFill>
          <a:ln/>
        </p:spPr>
      </p:sp>
      <p:sp>
        <p:nvSpPr>
          <p:cNvPr id="6" name="Text 4"/>
          <p:cNvSpPr txBox="1"/>
          <p:nvPr/>
        </p:nvSpPr>
        <p:spPr>
          <a:xfrm>
            <a:off x="877824" y="18745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7" name="Text 5"/>
          <p:cNvSpPr txBox="1"/>
          <p:nvPr/>
        </p:nvSpPr>
        <p:spPr>
          <a:xfrm>
            <a:off x="1371600" y="1801368"/>
            <a:ext cx="3108960" cy="274320"/>
          </a:xfrm>
          <a:prstGeom prst="rect">
            <a:avLst/>
          </a:prstGeom>
          <a:noFill/>
          <a:ln/>
        </p:spPr>
        <p:txBody>
          <a:bodyPr wrap="square" lIns="0" tIns="0" rIns="0" bIns="0" rtlCol="0" anchor="ctr"/>
          <a:lstStyle/>
          <a:p>
            <a:pPr indent="0" marL="0">
              <a:buNone/>
            </a:pPr>
            <a:r>
              <a:rPr lang="en-US" sz="1400" b="1" dirty="0">
                <a:solidFill>
                  <a:srgbClr val="1B4D42"/>
                </a:solidFill>
                <a:latin typeface="Cambria" pitchFamily="34" charset="0"/>
                <a:ea typeface="Cambria" pitchFamily="34" charset="-122"/>
                <a:cs typeface="Cambria" pitchFamily="34" charset="-120"/>
              </a:rPr>
              <a:t>Lead y calificación</a:t>
            </a:r>
            <a:endParaRPr lang="en-US" sz="1400" dirty="0"/>
          </a:p>
        </p:txBody>
      </p:sp>
      <p:sp>
        <p:nvSpPr>
          <p:cNvPr id="8" name="Text 6"/>
          <p:cNvSpPr txBox="1"/>
          <p:nvPr/>
        </p:nvSpPr>
        <p:spPr>
          <a:xfrm>
            <a:off x="4553712" y="1828800"/>
            <a:ext cx="1143000" cy="237744"/>
          </a:xfrm>
          <a:prstGeom prst="rect">
            <a:avLst/>
          </a:prstGeom>
          <a:noFill/>
          <a:ln/>
        </p:spPr>
        <p:txBody>
          <a:bodyPr wrap="square" lIns="0" tIns="0" rIns="0" bIns="0" rtlCol="0" anchor="ctr"/>
          <a:lstStyle/>
          <a:p>
            <a:pPr algn="r" indent="0" marL="0">
              <a:buNone/>
            </a:pPr>
            <a:r>
              <a:rPr lang="en-US" sz="950" b="1" dirty="0">
                <a:solidFill>
                  <a:srgbClr val="6FA593"/>
                </a:solidFill>
                <a:latin typeface="Calibri" pitchFamily="34" charset="0"/>
                <a:ea typeface="Calibri" pitchFamily="34" charset="-122"/>
                <a:cs typeface="Calibri" pitchFamily="34" charset="-120"/>
              </a:rPr>
              <a:t>45 min</a:t>
            </a:r>
            <a:endParaRPr lang="en-US" sz="950" dirty="0"/>
          </a:p>
        </p:txBody>
      </p:sp>
      <p:sp>
        <p:nvSpPr>
          <p:cNvPr id="9" name="Text 7"/>
          <p:cNvSpPr txBox="1"/>
          <p:nvPr/>
        </p:nvSpPr>
        <p:spPr>
          <a:xfrm>
            <a:off x="1371600" y="2130552"/>
            <a:ext cx="4279392" cy="347472"/>
          </a:xfrm>
          <a:prstGeom prst="rect">
            <a:avLst/>
          </a:prstGeom>
          <a:noFill/>
          <a:ln/>
        </p:spPr>
        <p:txBody>
          <a:bodyPr wrap="square" lIns="0" tIns="0" rIns="0" bIns="0" rtlCol="0" anchor="ctr"/>
          <a:lstStyle/>
          <a:p>
            <a:pPr indent="0" marL="0">
              <a:lnSpc>
                <a:spcPts val="1400"/>
              </a:lnSpc>
              <a:buNone/>
            </a:pPr>
            <a:r>
              <a:rPr lang="en-US" sz="1050" dirty="0">
                <a:solidFill>
                  <a:srgbClr val="586B63"/>
                </a:solidFill>
                <a:latin typeface="Calibri" pitchFamily="34" charset="0"/>
                <a:ea typeface="Calibri" pitchFamily="34" charset="-122"/>
                <a:cs typeface="Calibri" pitchFamily="34" charset="-120"/>
              </a:rPr>
              <a:t>Presupuesto, inglés, notas y quién paga. Se descarta el 60 %.</a:t>
            </a:r>
            <a:endParaRPr lang="en-US" sz="1050" dirty="0"/>
          </a:p>
        </p:txBody>
      </p:sp>
      <p:sp>
        <p:nvSpPr>
          <p:cNvPr id="10" name="Shape 8"/>
          <p:cNvSpPr/>
          <p:nvPr/>
        </p:nvSpPr>
        <p:spPr>
          <a:xfrm>
            <a:off x="640080" y="2724912"/>
            <a:ext cx="5285232" cy="960120"/>
          </a:xfrm>
          <a:prstGeom prst="roundRect">
            <a:avLst>
              <a:gd name="adj" fmla="val 5714"/>
            </a:avLst>
          </a:prstGeom>
          <a:solidFill>
            <a:srgbClr val="EAF0ED"/>
          </a:solidFill>
          <a:ln w="12700">
            <a:solidFill>
              <a:srgbClr val="EAF0ED"/>
            </a:solidFill>
            <a:prstDash val="solid"/>
          </a:ln>
        </p:spPr>
      </p:sp>
      <p:sp>
        <p:nvSpPr>
          <p:cNvPr id="11" name="Shape 9"/>
          <p:cNvSpPr/>
          <p:nvPr/>
        </p:nvSpPr>
        <p:spPr>
          <a:xfrm>
            <a:off x="877824" y="2999232"/>
            <a:ext cx="402336" cy="402336"/>
          </a:xfrm>
          <a:prstGeom prst="ellipse">
            <a:avLst/>
          </a:prstGeom>
          <a:solidFill>
            <a:srgbClr val="1B4D42"/>
          </a:solidFill>
          <a:ln/>
        </p:spPr>
      </p:sp>
      <p:sp>
        <p:nvSpPr>
          <p:cNvPr id="12" name="Text 10"/>
          <p:cNvSpPr txBox="1"/>
          <p:nvPr/>
        </p:nvSpPr>
        <p:spPr>
          <a:xfrm>
            <a:off x="877824" y="299923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3" name="Text 11"/>
          <p:cNvSpPr txBox="1"/>
          <p:nvPr/>
        </p:nvSpPr>
        <p:spPr>
          <a:xfrm>
            <a:off x="1371600" y="2926080"/>
            <a:ext cx="3108960" cy="274320"/>
          </a:xfrm>
          <a:prstGeom prst="rect">
            <a:avLst/>
          </a:prstGeom>
          <a:noFill/>
          <a:ln/>
        </p:spPr>
        <p:txBody>
          <a:bodyPr wrap="square" lIns="0" tIns="0" rIns="0" bIns="0" rtlCol="0" anchor="ctr"/>
          <a:lstStyle/>
          <a:p>
            <a:pPr indent="0" marL="0">
              <a:buNone/>
            </a:pPr>
            <a:r>
              <a:rPr lang="en-US" sz="1400" b="1" dirty="0">
                <a:solidFill>
                  <a:srgbClr val="1B4D42"/>
                </a:solidFill>
                <a:latin typeface="Cambria" pitchFamily="34" charset="0"/>
                <a:ea typeface="Cambria" pitchFamily="34" charset="-122"/>
                <a:cs typeface="Cambria" pitchFamily="34" charset="-120"/>
              </a:rPr>
              <a:t>Contrato y primer pago</a:t>
            </a:r>
            <a:endParaRPr lang="en-US" sz="1400" dirty="0"/>
          </a:p>
        </p:txBody>
      </p:sp>
      <p:sp>
        <p:nvSpPr>
          <p:cNvPr id="14" name="Text 12"/>
          <p:cNvSpPr txBox="1"/>
          <p:nvPr/>
        </p:nvSpPr>
        <p:spPr>
          <a:xfrm>
            <a:off x="4553712" y="2953512"/>
            <a:ext cx="1143000" cy="237744"/>
          </a:xfrm>
          <a:prstGeom prst="rect">
            <a:avLst/>
          </a:prstGeom>
          <a:noFill/>
          <a:ln/>
        </p:spPr>
        <p:txBody>
          <a:bodyPr wrap="square" lIns="0" tIns="0" rIns="0" bIns="0" rtlCol="0" anchor="ctr"/>
          <a:lstStyle/>
          <a:p>
            <a:pPr algn="r" indent="0" marL="0">
              <a:buNone/>
            </a:pPr>
            <a:r>
              <a:rPr lang="en-US" sz="950" b="1" dirty="0">
                <a:solidFill>
                  <a:srgbClr val="6FA593"/>
                </a:solidFill>
                <a:latin typeface="Calibri" pitchFamily="34" charset="0"/>
                <a:ea typeface="Calibri" pitchFamily="34" charset="-122"/>
                <a:cs typeface="Calibri" pitchFamily="34" charset="-120"/>
              </a:rPr>
              <a:t>2–5 días</a:t>
            </a:r>
            <a:endParaRPr lang="en-US" sz="950" dirty="0"/>
          </a:p>
        </p:txBody>
      </p:sp>
      <p:sp>
        <p:nvSpPr>
          <p:cNvPr id="15" name="Text 13"/>
          <p:cNvSpPr txBox="1"/>
          <p:nvPr/>
        </p:nvSpPr>
        <p:spPr>
          <a:xfrm>
            <a:off x="1371600" y="3255264"/>
            <a:ext cx="4279392" cy="347472"/>
          </a:xfrm>
          <a:prstGeom prst="rect">
            <a:avLst/>
          </a:prstGeom>
          <a:noFill/>
          <a:ln/>
        </p:spPr>
        <p:txBody>
          <a:bodyPr wrap="square" lIns="0" tIns="0" rIns="0" bIns="0" rtlCol="0" anchor="ctr"/>
          <a:lstStyle/>
          <a:p>
            <a:pPr indent="0" marL="0">
              <a:lnSpc>
                <a:spcPts val="1400"/>
              </a:lnSpc>
              <a:buNone/>
            </a:pPr>
            <a:r>
              <a:rPr lang="en-US" sz="1050" dirty="0">
                <a:solidFill>
                  <a:srgbClr val="586B63"/>
                </a:solidFill>
                <a:latin typeface="Calibri" pitchFamily="34" charset="0"/>
                <a:ea typeface="Calibri" pitchFamily="34" charset="-122"/>
                <a:cs typeface="Calibri" pitchFamily="34" charset="-120"/>
              </a:rPr>
              <a:t>Firma electrónica. Sin contrato no se empieza a trabajar.</a:t>
            </a:r>
            <a:endParaRPr lang="en-US" sz="1050" dirty="0"/>
          </a:p>
        </p:txBody>
      </p:sp>
      <p:sp>
        <p:nvSpPr>
          <p:cNvPr id="16" name="Shape 14"/>
          <p:cNvSpPr/>
          <p:nvPr/>
        </p:nvSpPr>
        <p:spPr>
          <a:xfrm>
            <a:off x="640080" y="3849624"/>
            <a:ext cx="5285232" cy="960120"/>
          </a:xfrm>
          <a:prstGeom prst="roundRect">
            <a:avLst>
              <a:gd name="adj" fmla="val 5714"/>
            </a:avLst>
          </a:prstGeom>
          <a:solidFill>
            <a:srgbClr val="EAF0ED"/>
          </a:solidFill>
          <a:ln w="12700">
            <a:solidFill>
              <a:srgbClr val="EAF0ED"/>
            </a:solidFill>
            <a:prstDash val="solid"/>
          </a:ln>
        </p:spPr>
      </p:sp>
      <p:sp>
        <p:nvSpPr>
          <p:cNvPr id="17" name="Shape 15"/>
          <p:cNvSpPr/>
          <p:nvPr/>
        </p:nvSpPr>
        <p:spPr>
          <a:xfrm>
            <a:off x="877824" y="4123944"/>
            <a:ext cx="402336" cy="402336"/>
          </a:xfrm>
          <a:prstGeom prst="ellipse">
            <a:avLst/>
          </a:prstGeom>
          <a:solidFill>
            <a:srgbClr val="1B4D42"/>
          </a:solidFill>
          <a:ln/>
        </p:spPr>
      </p:sp>
      <p:sp>
        <p:nvSpPr>
          <p:cNvPr id="18" name="Text 16"/>
          <p:cNvSpPr txBox="1"/>
          <p:nvPr/>
        </p:nvSpPr>
        <p:spPr>
          <a:xfrm>
            <a:off x="877824" y="412394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9" name="Text 17"/>
          <p:cNvSpPr txBox="1"/>
          <p:nvPr/>
        </p:nvSpPr>
        <p:spPr>
          <a:xfrm>
            <a:off x="1371600" y="4050792"/>
            <a:ext cx="3108960" cy="274320"/>
          </a:xfrm>
          <a:prstGeom prst="rect">
            <a:avLst/>
          </a:prstGeom>
          <a:noFill/>
          <a:ln/>
        </p:spPr>
        <p:txBody>
          <a:bodyPr wrap="square" lIns="0" tIns="0" rIns="0" bIns="0" rtlCol="0" anchor="ctr"/>
          <a:lstStyle/>
          <a:p>
            <a:pPr indent="0" marL="0">
              <a:buNone/>
            </a:pPr>
            <a:r>
              <a:rPr lang="en-US" sz="1400" b="1" dirty="0">
                <a:solidFill>
                  <a:srgbClr val="1B4D42"/>
                </a:solidFill>
                <a:latin typeface="Cambria" pitchFamily="34" charset="0"/>
                <a:ea typeface="Cambria" pitchFamily="34" charset="-122"/>
                <a:cs typeface="Cambria" pitchFamily="34" charset="-120"/>
              </a:rPr>
              <a:t>Expediente e inglés</a:t>
            </a:r>
            <a:endParaRPr lang="en-US" sz="1400" dirty="0"/>
          </a:p>
        </p:txBody>
      </p:sp>
      <p:sp>
        <p:nvSpPr>
          <p:cNvPr id="20" name="Text 18"/>
          <p:cNvSpPr txBox="1"/>
          <p:nvPr/>
        </p:nvSpPr>
        <p:spPr>
          <a:xfrm>
            <a:off x="4553712" y="4078224"/>
            <a:ext cx="1143000" cy="237744"/>
          </a:xfrm>
          <a:prstGeom prst="rect">
            <a:avLst/>
          </a:prstGeom>
          <a:noFill/>
          <a:ln/>
        </p:spPr>
        <p:txBody>
          <a:bodyPr wrap="square" lIns="0" tIns="0" rIns="0" bIns="0" rtlCol="0" anchor="ctr"/>
          <a:lstStyle/>
          <a:p>
            <a:pPr algn="r" indent="0" marL="0">
              <a:buNone/>
            </a:pPr>
            <a:r>
              <a:rPr lang="en-US" sz="950" b="1" dirty="0">
                <a:solidFill>
                  <a:srgbClr val="6FA593"/>
                </a:solidFill>
                <a:latin typeface="Calibri" pitchFamily="34" charset="0"/>
                <a:ea typeface="Calibri" pitchFamily="34" charset="-122"/>
                <a:cs typeface="Calibri" pitchFamily="34" charset="-120"/>
              </a:rPr>
              <a:t>4–8 sem</a:t>
            </a:r>
            <a:endParaRPr lang="en-US" sz="950" dirty="0"/>
          </a:p>
        </p:txBody>
      </p:sp>
      <p:sp>
        <p:nvSpPr>
          <p:cNvPr id="21" name="Text 19"/>
          <p:cNvSpPr txBox="1"/>
          <p:nvPr/>
        </p:nvSpPr>
        <p:spPr>
          <a:xfrm>
            <a:off x="1371600" y="4379976"/>
            <a:ext cx="4279392" cy="347472"/>
          </a:xfrm>
          <a:prstGeom prst="rect">
            <a:avLst/>
          </a:prstGeom>
          <a:noFill/>
          <a:ln/>
        </p:spPr>
        <p:txBody>
          <a:bodyPr wrap="square" lIns="0" tIns="0" rIns="0" bIns="0" rtlCol="0" anchor="ctr"/>
          <a:lstStyle/>
          <a:p>
            <a:pPr indent="0" marL="0">
              <a:lnSpc>
                <a:spcPts val="1400"/>
              </a:lnSpc>
              <a:buNone/>
            </a:pPr>
            <a:r>
              <a:rPr lang="en-US" sz="1050" dirty="0">
                <a:solidFill>
                  <a:srgbClr val="586B63"/>
                </a:solidFill>
                <a:latin typeface="Calibri" pitchFamily="34" charset="0"/>
                <a:ea typeface="Calibri" pitchFamily="34" charset="-122"/>
                <a:cs typeface="Calibri" pitchFamily="34" charset="-120"/>
              </a:rPr>
              <a:t>Apostillas, traducciones, evaluación de credenciales y examen.</a:t>
            </a:r>
            <a:endParaRPr lang="en-US" sz="1050" dirty="0"/>
          </a:p>
        </p:txBody>
      </p:sp>
      <p:sp>
        <p:nvSpPr>
          <p:cNvPr id="22" name="Shape 20"/>
          <p:cNvSpPr/>
          <p:nvPr/>
        </p:nvSpPr>
        <p:spPr>
          <a:xfrm>
            <a:off x="640080" y="4974336"/>
            <a:ext cx="5285232" cy="960120"/>
          </a:xfrm>
          <a:prstGeom prst="roundRect">
            <a:avLst>
              <a:gd name="adj" fmla="val 5714"/>
            </a:avLst>
          </a:prstGeom>
          <a:solidFill>
            <a:srgbClr val="EAF0ED"/>
          </a:solidFill>
          <a:ln w="12700">
            <a:solidFill>
              <a:srgbClr val="EAF0ED"/>
            </a:solidFill>
            <a:prstDash val="solid"/>
          </a:ln>
        </p:spPr>
      </p:sp>
      <p:sp>
        <p:nvSpPr>
          <p:cNvPr id="23" name="Shape 21"/>
          <p:cNvSpPr/>
          <p:nvPr/>
        </p:nvSpPr>
        <p:spPr>
          <a:xfrm>
            <a:off x="877824" y="5248656"/>
            <a:ext cx="402336" cy="402336"/>
          </a:xfrm>
          <a:prstGeom prst="ellipse">
            <a:avLst/>
          </a:prstGeom>
          <a:solidFill>
            <a:srgbClr val="1B4D42"/>
          </a:solidFill>
          <a:ln/>
        </p:spPr>
      </p:sp>
      <p:sp>
        <p:nvSpPr>
          <p:cNvPr id="24" name="Text 22"/>
          <p:cNvSpPr txBox="1"/>
          <p:nvPr/>
        </p:nvSpPr>
        <p:spPr>
          <a:xfrm>
            <a:off x="877824" y="524865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5" name="Text 23"/>
          <p:cNvSpPr txBox="1"/>
          <p:nvPr/>
        </p:nvSpPr>
        <p:spPr>
          <a:xfrm>
            <a:off x="1371600" y="5175504"/>
            <a:ext cx="3108960" cy="274320"/>
          </a:xfrm>
          <a:prstGeom prst="rect">
            <a:avLst/>
          </a:prstGeom>
          <a:noFill/>
          <a:ln/>
        </p:spPr>
        <p:txBody>
          <a:bodyPr wrap="square" lIns="0" tIns="0" rIns="0" bIns="0" rtlCol="0" anchor="ctr"/>
          <a:lstStyle/>
          <a:p>
            <a:pPr indent="0" marL="0">
              <a:buNone/>
            </a:pPr>
            <a:r>
              <a:rPr lang="en-US" sz="1400" b="1" dirty="0">
                <a:solidFill>
                  <a:srgbClr val="1B4D42"/>
                </a:solidFill>
                <a:latin typeface="Cambria" pitchFamily="34" charset="0"/>
                <a:ea typeface="Cambria" pitchFamily="34" charset="-122"/>
                <a:cs typeface="Cambria" pitchFamily="34" charset="-120"/>
              </a:rPr>
              <a:t>Lista corta y aplicaciones</a:t>
            </a:r>
            <a:endParaRPr lang="en-US" sz="1400" dirty="0"/>
          </a:p>
        </p:txBody>
      </p:sp>
      <p:sp>
        <p:nvSpPr>
          <p:cNvPr id="26" name="Text 24"/>
          <p:cNvSpPr txBox="1"/>
          <p:nvPr/>
        </p:nvSpPr>
        <p:spPr>
          <a:xfrm>
            <a:off x="4553712" y="5202936"/>
            <a:ext cx="1143000" cy="237744"/>
          </a:xfrm>
          <a:prstGeom prst="rect">
            <a:avLst/>
          </a:prstGeom>
          <a:noFill/>
          <a:ln/>
        </p:spPr>
        <p:txBody>
          <a:bodyPr wrap="square" lIns="0" tIns="0" rIns="0" bIns="0" rtlCol="0" anchor="ctr"/>
          <a:lstStyle/>
          <a:p>
            <a:pPr algn="r" indent="0" marL="0">
              <a:buNone/>
            </a:pPr>
            <a:r>
              <a:rPr lang="en-US" sz="950" b="1" dirty="0">
                <a:solidFill>
                  <a:srgbClr val="6FA593"/>
                </a:solidFill>
                <a:latin typeface="Calibri" pitchFamily="34" charset="0"/>
                <a:ea typeface="Calibri" pitchFamily="34" charset="-122"/>
                <a:cs typeface="Calibri" pitchFamily="34" charset="-120"/>
              </a:rPr>
              <a:t>4–8 sem</a:t>
            </a:r>
            <a:endParaRPr lang="en-US" sz="950" dirty="0"/>
          </a:p>
        </p:txBody>
      </p:sp>
      <p:sp>
        <p:nvSpPr>
          <p:cNvPr id="27" name="Text 25"/>
          <p:cNvSpPr txBox="1"/>
          <p:nvPr/>
        </p:nvSpPr>
        <p:spPr>
          <a:xfrm>
            <a:off x="1371600" y="5504688"/>
            <a:ext cx="4279392" cy="347472"/>
          </a:xfrm>
          <a:prstGeom prst="rect">
            <a:avLst/>
          </a:prstGeom>
          <a:noFill/>
          <a:ln/>
        </p:spPr>
        <p:txBody>
          <a:bodyPr wrap="square" lIns="0" tIns="0" rIns="0" bIns="0" rtlCol="0" anchor="ctr"/>
          <a:lstStyle/>
          <a:p>
            <a:pPr indent="0" marL="0">
              <a:lnSpc>
                <a:spcPts val="1400"/>
              </a:lnSpc>
              <a:buNone/>
            </a:pPr>
            <a:r>
              <a:rPr lang="en-US" sz="1050" dirty="0">
                <a:solidFill>
                  <a:srgbClr val="586B63"/>
                </a:solidFill>
                <a:latin typeface="Calibri" pitchFamily="34" charset="0"/>
                <a:ea typeface="Calibri" pitchFamily="34" charset="-122"/>
                <a:cs typeface="Calibri" pitchFamily="34" charset="-120"/>
              </a:rPr>
              <a:t>Entre 4 y 8 instituciones, todas certificadas SEVP.</a:t>
            </a:r>
            <a:endParaRPr lang="en-US" sz="1050" dirty="0"/>
          </a:p>
        </p:txBody>
      </p:sp>
      <p:sp>
        <p:nvSpPr>
          <p:cNvPr id="28" name="Shape 26"/>
          <p:cNvSpPr/>
          <p:nvPr/>
        </p:nvSpPr>
        <p:spPr>
          <a:xfrm>
            <a:off x="6309360" y="1600200"/>
            <a:ext cx="5285232" cy="960120"/>
          </a:xfrm>
          <a:prstGeom prst="roundRect">
            <a:avLst>
              <a:gd name="adj" fmla="val 5714"/>
            </a:avLst>
          </a:prstGeom>
          <a:solidFill>
            <a:srgbClr val="EAF0ED"/>
          </a:solidFill>
          <a:ln w="12700">
            <a:solidFill>
              <a:srgbClr val="EAF0ED"/>
            </a:solidFill>
            <a:prstDash val="solid"/>
          </a:ln>
        </p:spPr>
      </p:sp>
      <p:sp>
        <p:nvSpPr>
          <p:cNvPr id="29" name="Shape 27"/>
          <p:cNvSpPr/>
          <p:nvPr/>
        </p:nvSpPr>
        <p:spPr>
          <a:xfrm>
            <a:off x="6547104" y="1874520"/>
            <a:ext cx="402336" cy="402336"/>
          </a:xfrm>
          <a:prstGeom prst="ellipse">
            <a:avLst/>
          </a:prstGeom>
          <a:solidFill>
            <a:srgbClr val="1B4D42"/>
          </a:solidFill>
          <a:ln/>
        </p:spPr>
      </p:sp>
      <p:sp>
        <p:nvSpPr>
          <p:cNvPr id="30" name="Text 28"/>
          <p:cNvSpPr txBox="1"/>
          <p:nvPr/>
        </p:nvSpPr>
        <p:spPr>
          <a:xfrm>
            <a:off x="6547104" y="18745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31" name="Text 29"/>
          <p:cNvSpPr txBox="1"/>
          <p:nvPr/>
        </p:nvSpPr>
        <p:spPr>
          <a:xfrm>
            <a:off x="7040880" y="1801368"/>
            <a:ext cx="3108960" cy="274320"/>
          </a:xfrm>
          <a:prstGeom prst="rect">
            <a:avLst/>
          </a:prstGeom>
          <a:noFill/>
          <a:ln/>
        </p:spPr>
        <p:txBody>
          <a:bodyPr wrap="square" lIns="0" tIns="0" rIns="0" bIns="0" rtlCol="0" anchor="ctr"/>
          <a:lstStyle/>
          <a:p>
            <a:pPr indent="0" marL="0">
              <a:buNone/>
            </a:pPr>
            <a:r>
              <a:rPr lang="en-US" sz="1400" b="1" dirty="0">
                <a:solidFill>
                  <a:srgbClr val="1B4D42"/>
                </a:solidFill>
                <a:latin typeface="Cambria" pitchFamily="34" charset="0"/>
                <a:ea typeface="Cambria" pitchFamily="34" charset="-122"/>
                <a:cs typeface="Cambria" pitchFamily="34" charset="-120"/>
              </a:rPr>
              <a:t>Admisión y prueba financiera</a:t>
            </a:r>
            <a:endParaRPr lang="en-US" sz="1400" dirty="0"/>
          </a:p>
        </p:txBody>
      </p:sp>
      <p:sp>
        <p:nvSpPr>
          <p:cNvPr id="32" name="Text 30"/>
          <p:cNvSpPr txBox="1"/>
          <p:nvPr/>
        </p:nvSpPr>
        <p:spPr>
          <a:xfrm>
            <a:off x="10222992" y="1828800"/>
            <a:ext cx="1143000" cy="237744"/>
          </a:xfrm>
          <a:prstGeom prst="rect">
            <a:avLst/>
          </a:prstGeom>
          <a:noFill/>
          <a:ln/>
        </p:spPr>
        <p:txBody>
          <a:bodyPr wrap="square" lIns="0" tIns="0" rIns="0" bIns="0" rtlCol="0" anchor="ctr"/>
          <a:lstStyle/>
          <a:p>
            <a:pPr algn="r" indent="0" marL="0">
              <a:buNone/>
            </a:pPr>
            <a:r>
              <a:rPr lang="en-US" sz="950" b="1" dirty="0">
                <a:solidFill>
                  <a:srgbClr val="6FA593"/>
                </a:solidFill>
                <a:latin typeface="Calibri" pitchFamily="34" charset="0"/>
                <a:ea typeface="Calibri" pitchFamily="34" charset="-122"/>
                <a:cs typeface="Calibri" pitchFamily="34" charset="-120"/>
              </a:rPr>
              <a:t>6–12 sem</a:t>
            </a:r>
            <a:endParaRPr lang="en-US" sz="950" dirty="0"/>
          </a:p>
        </p:txBody>
      </p:sp>
      <p:sp>
        <p:nvSpPr>
          <p:cNvPr id="33" name="Text 31"/>
          <p:cNvSpPr txBox="1"/>
          <p:nvPr/>
        </p:nvSpPr>
        <p:spPr>
          <a:xfrm>
            <a:off x="7040880" y="2130552"/>
            <a:ext cx="4279392" cy="347472"/>
          </a:xfrm>
          <a:prstGeom prst="rect">
            <a:avLst/>
          </a:prstGeom>
          <a:noFill/>
          <a:ln/>
        </p:spPr>
        <p:txBody>
          <a:bodyPr wrap="square" lIns="0" tIns="0" rIns="0" bIns="0" rtlCol="0" anchor="ctr"/>
          <a:lstStyle/>
          <a:p>
            <a:pPr indent="0" marL="0">
              <a:lnSpc>
                <a:spcPts val="1400"/>
              </a:lnSpc>
              <a:buNone/>
            </a:pPr>
            <a:r>
              <a:rPr lang="en-US" sz="1050" dirty="0">
                <a:solidFill>
                  <a:srgbClr val="586B63"/>
                </a:solidFill>
                <a:latin typeface="Calibri" pitchFamily="34" charset="0"/>
                <a:ea typeface="Calibri" pitchFamily="34" charset="-122"/>
                <a:cs typeface="Calibri" pitchFamily="34" charset="-120"/>
              </a:rPr>
              <a:t>Fondos para el primer año completo. Aquí se cae más gente.</a:t>
            </a:r>
            <a:endParaRPr lang="en-US" sz="1050" dirty="0"/>
          </a:p>
        </p:txBody>
      </p:sp>
      <p:sp>
        <p:nvSpPr>
          <p:cNvPr id="34" name="Shape 32"/>
          <p:cNvSpPr/>
          <p:nvPr/>
        </p:nvSpPr>
        <p:spPr>
          <a:xfrm>
            <a:off x="6309360" y="2724912"/>
            <a:ext cx="5285232" cy="960120"/>
          </a:xfrm>
          <a:prstGeom prst="roundRect">
            <a:avLst>
              <a:gd name="adj" fmla="val 5714"/>
            </a:avLst>
          </a:prstGeom>
          <a:solidFill>
            <a:srgbClr val="EAF0ED"/>
          </a:solidFill>
          <a:ln w="12700">
            <a:solidFill>
              <a:srgbClr val="EAF0ED"/>
            </a:solidFill>
            <a:prstDash val="solid"/>
          </a:ln>
        </p:spPr>
      </p:sp>
      <p:sp>
        <p:nvSpPr>
          <p:cNvPr id="35" name="Shape 33"/>
          <p:cNvSpPr/>
          <p:nvPr/>
        </p:nvSpPr>
        <p:spPr>
          <a:xfrm>
            <a:off x="6547104" y="2999232"/>
            <a:ext cx="402336" cy="402336"/>
          </a:xfrm>
          <a:prstGeom prst="ellipse">
            <a:avLst/>
          </a:prstGeom>
          <a:solidFill>
            <a:srgbClr val="1B4D42"/>
          </a:solidFill>
          <a:ln/>
        </p:spPr>
      </p:sp>
      <p:sp>
        <p:nvSpPr>
          <p:cNvPr id="36" name="Text 34"/>
          <p:cNvSpPr txBox="1"/>
          <p:nvPr/>
        </p:nvSpPr>
        <p:spPr>
          <a:xfrm>
            <a:off x="6547104" y="299923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7" name="Text 35"/>
          <p:cNvSpPr txBox="1"/>
          <p:nvPr/>
        </p:nvSpPr>
        <p:spPr>
          <a:xfrm>
            <a:off x="7040880" y="2926080"/>
            <a:ext cx="3108960" cy="274320"/>
          </a:xfrm>
          <a:prstGeom prst="rect">
            <a:avLst/>
          </a:prstGeom>
          <a:noFill/>
          <a:ln/>
        </p:spPr>
        <p:txBody>
          <a:bodyPr wrap="square" lIns="0" tIns="0" rIns="0" bIns="0" rtlCol="0" anchor="ctr"/>
          <a:lstStyle/>
          <a:p>
            <a:pPr indent="0" marL="0">
              <a:buNone/>
            </a:pPr>
            <a:r>
              <a:rPr lang="en-US" sz="1400" b="1" dirty="0">
                <a:solidFill>
                  <a:srgbClr val="1B4D42"/>
                </a:solidFill>
                <a:latin typeface="Cambria" pitchFamily="34" charset="0"/>
                <a:ea typeface="Cambria" pitchFamily="34" charset="-122"/>
                <a:cs typeface="Cambria" pitchFamily="34" charset="-120"/>
              </a:rPr>
              <a:t>I‑20, SEVIS y visa F‑1</a:t>
            </a:r>
            <a:endParaRPr lang="en-US" sz="1400" dirty="0"/>
          </a:p>
        </p:txBody>
      </p:sp>
      <p:sp>
        <p:nvSpPr>
          <p:cNvPr id="38" name="Text 36"/>
          <p:cNvSpPr txBox="1"/>
          <p:nvPr/>
        </p:nvSpPr>
        <p:spPr>
          <a:xfrm>
            <a:off x="10222992" y="2953512"/>
            <a:ext cx="1143000" cy="237744"/>
          </a:xfrm>
          <a:prstGeom prst="rect">
            <a:avLst/>
          </a:prstGeom>
          <a:noFill/>
          <a:ln/>
        </p:spPr>
        <p:txBody>
          <a:bodyPr wrap="square" lIns="0" tIns="0" rIns="0" bIns="0" rtlCol="0" anchor="ctr"/>
          <a:lstStyle/>
          <a:p>
            <a:pPr algn="r" indent="0" marL="0">
              <a:buNone/>
            </a:pPr>
            <a:r>
              <a:rPr lang="en-US" sz="950" b="1" dirty="0">
                <a:solidFill>
                  <a:srgbClr val="6FA593"/>
                </a:solidFill>
                <a:latin typeface="Calibri" pitchFamily="34" charset="0"/>
                <a:ea typeface="Calibri" pitchFamily="34" charset="-122"/>
                <a:cs typeface="Calibri" pitchFamily="34" charset="-120"/>
              </a:rPr>
              <a:t>6–10 sem</a:t>
            </a:r>
            <a:endParaRPr lang="en-US" sz="950" dirty="0"/>
          </a:p>
        </p:txBody>
      </p:sp>
      <p:sp>
        <p:nvSpPr>
          <p:cNvPr id="39" name="Text 37"/>
          <p:cNvSpPr txBox="1"/>
          <p:nvPr/>
        </p:nvSpPr>
        <p:spPr>
          <a:xfrm>
            <a:off x="7040880" y="3255264"/>
            <a:ext cx="4279392" cy="347472"/>
          </a:xfrm>
          <a:prstGeom prst="rect">
            <a:avLst/>
          </a:prstGeom>
          <a:noFill/>
          <a:ln/>
        </p:spPr>
        <p:txBody>
          <a:bodyPr wrap="square" lIns="0" tIns="0" rIns="0" bIns="0" rtlCol="0" anchor="ctr"/>
          <a:lstStyle/>
          <a:p>
            <a:pPr indent="0" marL="0">
              <a:lnSpc>
                <a:spcPts val="1400"/>
              </a:lnSpc>
              <a:buNone/>
            </a:pPr>
            <a:r>
              <a:rPr lang="en-US" sz="1050" dirty="0">
                <a:solidFill>
                  <a:srgbClr val="586B63"/>
                </a:solidFill>
                <a:latin typeface="Calibri" pitchFamily="34" charset="0"/>
                <a:ea typeface="Calibri" pitchFamily="34" charset="-122"/>
                <a:cs typeface="Calibri" pitchFamily="34" charset="-120"/>
              </a:rPr>
              <a:t>DS‑160, tasas y dos simulacros antes de la cita consular.</a:t>
            </a:r>
            <a:endParaRPr lang="en-US" sz="1050" dirty="0"/>
          </a:p>
        </p:txBody>
      </p:sp>
      <p:sp>
        <p:nvSpPr>
          <p:cNvPr id="40" name="Shape 38"/>
          <p:cNvSpPr/>
          <p:nvPr/>
        </p:nvSpPr>
        <p:spPr>
          <a:xfrm>
            <a:off x="6309360" y="3849624"/>
            <a:ext cx="5285232" cy="960120"/>
          </a:xfrm>
          <a:prstGeom prst="roundRect">
            <a:avLst>
              <a:gd name="adj" fmla="val 5714"/>
            </a:avLst>
          </a:prstGeom>
          <a:solidFill>
            <a:srgbClr val="1B4D42"/>
          </a:solidFill>
          <a:ln w="12700">
            <a:solidFill>
              <a:srgbClr val="1B4D42"/>
            </a:solidFill>
            <a:prstDash val="solid"/>
          </a:ln>
        </p:spPr>
      </p:sp>
      <p:sp>
        <p:nvSpPr>
          <p:cNvPr id="41" name="Shape 39"/>
          <p:cNvSpPr/>
          <p:nvPr/>
        </p:nvSpPr>
        <p:spPr>
          <a:xfrm>
            <a:off x="6547104" y="4123944"/>
            <a:ext cx="402336" cy="402336"/>
          </a:xfrm>
          <a:prstGeom prst="ellipse">
            <a:avLst/>
          </a:prstGeom>
          <a:solidFill>
            <a:srgbClr val="D99B2B"/>
          </a:solidFill>
          <a:ln/>
        </p:spPr>
      </p:sp>
      <p:sp>
        <p:nvSpPr>
          <p:cNvPr id="42" name="Text 40"/>
          <p:cNvSpPr txBox="1"/>
          <p:nvPr/>
        </p:nvSpPr>
        <p:spPr>
          <a:xfrm>
            <a:off x="6547104" y="4123944"/>
            <a:ext cx="402336" cy="402336"/>
          </a:xfrm>
          <a:prstGeom prst="rect">
            <a:avLst/>
          </a:prstGeom>
          <a:noFill/>
          <a:ln/>
        </p:spPr>
        <p:txBody>
          <a:bodyPr wrap="square" lIns="0" tIns="0" rIns="0" bIns="0" rtlCol="0" anchor="ctr"/>
          <a:lstStyle/>
          <a:p>
            <a:pPr algn="ctr" indent="0" marL="0">
              <a:buNone/>
            </a:pPr>
            <a:r>
              <a:rPr lang="en-US" sz="1100" b="1" dirty="0">
                <a:solidFill>
                  <a:srgbClr val="0F2A25"/>
                </a:solidFill>
                <a:latin typeface="Calibri" pitchFamily="34" charset="0"/>
                <a:ea typeface="Calibri" pitchFamily="34" charset="-122"/>
                <a:cs typeface="Calibri" pitchFamily="34" charset="-120"/>
              </a:rPr>
              <a:t>07</a:t>
            </a:r>
            <a:endParaRPr lang="en-US" sz="1100" dirty="0"/>
          </a:p>
        </p:txBody>
      </p:sp>
      <p:sp>
        <p:nvSpPr>
          <p:cNvPr id="43" name="Text 41"/>
          <p:cNvSpPr txBox="1"/>
          <p:nvPr/>
        </p:nvSpPr>
        <p:spPr>
          <a:xfrm>
            <a:off x="7040880" y="4050792"/>
            <a:ext cx="310896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Llegada y comisión</a:t>
            </a:r>
            <a:endParaRPr lang="en-US" sz="1400" dirty="0"/>
          </a:p>
        </p:txBody>
      </p:sp>
      <p:sp>
        <p:nvSpPr>
          <p:cNvPr id="44" name="Text 42"/>
          <p:cNvSpPr txBox="1"/>
          <p:nvPr/>
        </p:nvSpPr>
        <p:spPr>
          <a:xfrm>
            <a:off x="10222992" y="4078224"/>
            <a:ext cx="1143000" cy="237744"/>
          </a:xfrm>
          <a:prstGeom prst="rect">
            <a:avLst/>
          </a:prstGeom>
          <a:noFill/>
          <a:ln/>
        </p:spPr>
        <p:txBody>
          <a:bodyPr wrap="square" lIns="0" tIns="0" rIns="0" bIns="0" rtlCol="0" anchor="ctr"/>
          <a:lstStyle/>
          <a:p>
            <a:pPr algn="r" indent="0" marL="0">
              <a:buNone/>
            </a:pPr>
            <a:r>
              <a:rPr lang="en-US" sz="950" b="1" dirty="0">
                <a:solidFill>
                  <a:srgbClr val="D99B2B"/>
                </a:solidFill>
                <a:latin typeface="Calibri" pitchFamily="34" charset="0"/>
                <a:ea typeface="Calibri" pitchFamily="34" charset="-122"/>
                <a:cs typeface="Calibri" pitchFamily="34" charset="-120"/>
              </a:rPr>
              <a:t>census + 30 d</a:t>
            </a:r>
            <a:endParaRPr lang="en-US" sz="950" dirty="0"/>
          </a:p>
        </p:txBody>
      </p:sp>
      <p:sp>
        <p:nvSpPr>
          <p:cNvPr id="45" name="Text 43"/>
          <p:cNvSpPr txBox="1"/>
          <p:nvPr/>
        </p:nvSpPr>
        <p:spPr>
          <a:xfrm>
            <a:off x="7040880" y="4379976"/>
            <a:ext cx="4279392" cy="347472"/>
          </a:xfrm>
          <a:prstGeom prst="rect">
            <a:avLst/>
          </a:prstGeom>
          <a:noFill/>
          <a:ln/>
        </p:spPr>
        <p:txBody>
          <a:bodyPr wrap="square" lIns="0" tIns="0" rIns="0" bIns="0" rtlCol="0" anchor="ctr"/>
          <a:lstStyle/>
          <a:p>
            <a:pPr indent="0" marL="0">
              <a:lnSpc>
                <a:spcPts val="1400"/>
              </a:lnSpc>
              <a:buNone/>
            </a:pPr>
            <a:r>
              <a:rPr lang="en-US" sz="1050" dirty="0">
                <a:solidFill>
                  <a:srgbClr val="E9F0EC"/>
                </a:solidFill>
                <a:latin typeface="Calibri" pitchFamily="34" charset="0"/>
                <a:ea typeface="Calibri" pitchFamily="34" charset="-122"/>
                <a:cs typeface="Calibri" pitchFamily="34" charset="-120"/>
              </a:rPr>
              <a:t>Check‑in con el DSO y, pasado el census, se factura a la institución.</a:t>
            </a:r>
            <a:endParaRPr lang="en-US" sz="1050" dirty="0"/>
          </a:p>
        </p:txBody>
      </p:sp>
      <p:sp>
        <p:nvSpPr>
          <p:cNvPr id="46" name="Shape 44"/>
          <p:cNvSpPr/>
          <p:nvPr/>
        </p:nvSpPr>
        <p:spPr>
          <a:xfrm>
            <a:off x="6309360" y="4974336"/>
            <a:ext cx="5285232" cy="960120"/>
          </a:xfrm>
          <a:prstGeom prst="roundRect">
            <a:avLst>
              <a:gd name="adj" fmla="val 5714"/>
            </a:avLst>
          </a:prstGeom>
          <a:solidFill>
            <a:srgbClr val="EAF0ED"/>
          </a:solidFill>
          <a:ln w="12700">
            <a:solidFill>
              <a:srgbClr val="EAF0ED"/>
            </a:solidFill>
            <a:prstDash val="solid"/>
          </a:ln>
        </p:spPr>
      </p:sp>
      <p:sp>
        <p:nvSpPr>
          <p:cNvPr id="47" name="Text 45"/>
          <p:cNvSpPr txBox="1"/>
          <p:nvPr/>
        </p:nvSpPr>
        <p:spPr>
          <a:xfrm>
            <a:off x="6629400" y="5138928"/>
            <a:ext cx="4645152" cy="658368"/>
          </a:xfrm>
          <a:prstGeom prst="rect">
            <a:avLst/>
          </a:prstGeom>
          <a:noFill/>
          <a:ln/>
        </p:spPr>
        <p:txBody>
          <a:bodyPr wrap="square" lIns="0" tIns="0" rIns="0" bIns="0" rtlCol="0" anchor="ctr"/>
          <a:lstStyle/>
          <a:p>
            <a:pPr indent="0" marL="0">
              <a:lnSpc>
                <a:spcPts val="1600"/>
              </a:lnSpc>
              <a:buNone/>
            </a:pPr>
            <a:r>
              <a:rPr lang="en-US" sz="1150" i="1" dirty="0">
                <a:solidFill>
                  <a:srgbClr val="586B63"/>
                </a:solidFill>
                <a:latin typeface="Calibri" pitchFamily="34" charset="0"/>
                <a:ea typeface="Calibri" pitchFamily="34" charset="-122"/>
                <a:cs typeface="Calibri" pitchFamily="34" charset="-120"/>
              </a:rPr>
              <a:t>Catorce etapas en el plan completo, resumidas aquí en siete. Cada alumno está siempre en exactamente una: eso es a la vez el manual de operación y las columnas del CRM.</a:t>
            </a:r>
            <a:endParaRPr lang="en-US" sz="1150" dirty="0"/>
          </a:p>
        </p:txBody>
      </p:sp>
      <p:sp>
        <p:nvSpPr>
          <p:cNvPr id="48" name="Text 46"/>
          <p:cNvSpPr txBox="1"/>
          <p:nvPr/>
        </p:nvSpPr>
        <p:spPr>
          <a:xfrm>
            <a:off x="640080" y="6291072"/>
            <a:ext cx="10911535" cy="274320"/>
          </a:xfrm>
          <a:prstGeom prst="rect">
            <a:avLst/>
          </a:prstGeom>
          <a:noFill/>
          <a:ln/>
        </p:spPr>
        <p:txBody>
          <a:bodyPr wrap="square" lIns="0" tIns="0" rIns="0" bIns="0" rtlCol="0" anchor="ctr"/>
          <a:lstStyle/>
          <a:p>
            <a:pPr indent="0" marL="0">
              <a:buNone/>
            </a:pPr>
            <a:r>
              <a:rPr lang="en-US" sz="1000" i="1" dirty="0">
                <a:solidFill>
                  <a:srgbClr val="586B63"/>
                </a:solidFill>
                <a:latin typeface="Calibri" pitchFamily="34" charset="0"/>
                <a:ea typeface="Calibri" pitchFamily="34" charset="-122"/>
                <a:cs typeface="Calibri" pitchFamily="34" charset="-120"/>
              </a:rPr>
              <a:t>De la primera llamada al primer día de clases pasan de 11 a 14 meses. Las etapas 05 y 06 son las que más casos pierden.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A25"/>
        </a:solidFill>
      </p:bgPr>
    </p:bg>
    <p:spTree>
      <p:nvGrpSpPr>
        <p:cNvPr id="1" name=""/>
        <p:cNvGrpSpPr/>
        <p:nvPr/>
      </p:nvGrpSpPr>
      <p:grpSpPr>
        <a:xfrm>
          <a:off x="0" y="0"/>
          <a:ext cx="0" cy="0"/>
          <a:chOff x="0" y="0"/>
          <a:chExt cx="0" cy="0"/>
        </a:xfrm>
      </p:grpSpPr>
      <p:sp>
        <p:nvSpPr>
          <p:cNvPr id="2" name="Text 0"/>
          <p:cNvSpPr txBox="1"/>
          <p:nvPr/>
        </p:nvSpPr>
        <p:spPr>
          <a:xfrm>
            <a:off x="640080" y="548640"/>
            <a:ext cx="7315200" cy="228600"/>
          </a:xfrm>
          <a:prstGeom prst="rect">
            <a:avLst/>
          </a:prstGeom>
          <a:noFill/>
          <a:ln/>
        </p:spPr>
        <p:txBody>
          <a:bodyPr wrap="square" lIns="0" tIns="0" rIns="0" bIns="0" rtlCol="0" anchor="ctr"/>
          <a:lstStyle/>
          <a:p>
            <a:pPr indent="0" marL="0">
              <a:buNone/>
            </a:pPr>
            <a:r>
              <a:rPr lang="en-US" sz="1100" b="1" spc="200" kern="0" dirty="0">
                <a:solidFill>
                  <a:srgbClr val="6FA593"/>
                </a:solidFill>
                <a:latin typeface="Calibri" pitchFamily="34" charset="0"/>
                <a:ea typeface="Calibri" pitchFamily="34" charset="-122"/>
                <a:cs typeface="Calibri" pitchFamily="34" charset="-120"/>
              </a:rPr>
              <a:t>EL CALENDARIO MANDA</a:t>
            </a:r>
            <a:endParaRPr lang="en-US" sz="1100" dirty="0"/>
          </a:p>
        </p:txBody>
      </p:sp>
      <p:sp>
        <p:nvSpPr>
          <p:cNvPr id="3" name="Text 1"/>
          <p:cNvSpPr txBox="1"/>
          <p:nvPr/>
        </p:nvSpPr>
        <p:spPr>
          <a:xfrm>
            <a:off x="640080" y="82296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La ventana de Fall 2027 está abierta ahora mismo</a:t>
            </a:r>
            <a:endParaRPr lang="en-US" sz="3000" dirty="0"/>
          </a:p>
        </p:txBody>
      </p:sp>
      <p:sp>
        <p:nvSpPr>
          <p:cNvPr id="4" name="Shape 2"/>
          <p:cNvSpPr/>
          <p:nvPr/>
        </p:nvSpPr>
        <p:spPr>
          <a:xfrm>
            <a:off x="1508760" y="2743200"/>
            <a:ext cx="9171432" cy="0"/>
          </a:xfrm>
          <a:prstGeom prst="line">
            <a:avLst/>
          </a:prstGeom>
          <a:noFill/>
          <a:ln w="25400">
            <a:solidFill>
              <a:srgbClr val="6FA593"/>
            </a:solidFill>
            <a:prstDash val="solid"/>
          </a:ln>
        </p:spPr>
      </p:sp>
      <p:sp>
        <p:nvSpPr>
          <p:cNvPr id="5" name="Shape 3"/>
          <p:cNvSpPr/>
          <p:nvPr/>
        </p:nvSpPr>
        <p:spPr>
          <a:xfrm>
            <a:off x="1408176" y="2642616"/>
            <a:ext cx="201168" cy="201168"/>
          </a:xfrm>
          <a:prstGeom prst="ellipse">
            <a:avLst/>
          </a:prstGeom>
          <a:solidFill>
            <a:srgbClr val="D99B2B"/>
          </a:solidFill>
          <a:ln/>
        </p:spPr>
      </p:sp>
      <p:sp>
        <p:nvSpPr>
          <p:cNvPr id="6" name="Text 4"/>
          <p:cNvSpPr txBox="1"/>
          <p:nvPr/>
        </p:nvSpPr>
        <p:spPr>
          <a:xfrm>
            <a:off x="640080" y="2148840"/>
            <a:ext cx="1737360" cy="274320"/>
          </a:xfrm>
          <a:prstGeom prst="rect">
            <a:avLst/>
          </a:prstGeom>
          <a:noFill/>
          <a:ln/>
        </p:spPr>
        <p:txBody>
          <a:bodyPr wrap="square" lIns="0" tIns="0" rIns="0" bIns="0" rtlCol="0" anchor="ctr"/>
          <a:lstStyle/>
          <a:p>
            <a:pPr algn="ctr" indent="0" marL="0">
              <a:buNone/>
            </a:pPr>
            <a:r>
              <a:rPr lang="en-US" sz="1150" b="1" dirty="0">
                <a:solidFill>
                  <a:srgbClr val="D99B2B"/>
                </a:solidFill>
                <a:latin typeface="Calibri" pitchFamily="34" charset="0"/>
                <a:ea typeface="Calibri" pitchFamily="34" charset="-122"/>
                <a:cs typeface="Calibri" pitchFamily="34" charset="-120"/>
              </a:rPr>
              <a:t>Sep–Dic 26</a:t>
            </a:r>
            <a:endParaRPr lang="en-US" sz="1150" dirty="0"/>
          </a:p>
        </p:txBody>
      </p:sp>
      <p:sp>
        <p:nvSpPr>
          <p:cNvPr id="7" name="Text 5"/>
          <p:cNvSpPr txBox="1"/>
          <p:nvPr/>
        </p:nvSpPr>
        <p:spPr>
          <a:xfrm>
            <a:off x="640080" y="2999232"/>
            <a:ext cx="1737360" cy="777240"/>
          </a:xfrm>
          <a:prstGeom prst="rect">
            <a:avLst/>
          </a:prstGeom>
          <a:noFill/>
          <a:ln/>
        </p:spPr>
        <p:txBody>
          <a:bodyPr wrap="square" lIns="0" tIns="0" rIns="0" bIns="0" rtlCol="0" anchor="ctr"/>
          <a:lstStyle/>
          <a:p>
            <a:pPr algn="ctr" indent="0" marL="0">
              <a:lnSpc>
                <a:spcPts val="1500"/>
              </a:lnSpc>
              <a:buNone/>
            </a:pPr>
            <a:r>
              <a:rPr lang="en-US" sz="1100" dirty="0">
                <a:solidFill>
                  <a:srgbClr val="E9F0EC"/>
                </a:solidFill>
                <a:latin typeface="Calibri" pitchFamily="34" charset="0"/>
                <a:ea typeface="Calibri" pitchFamily="34" charset="-122"/>
                <a:cs typeface="Calibri" pitchFamily="34" charset="-120"/>
              </a:rPr>
              <a:t>Captar y firmar</a:t>
            </a:r>
            <a:endParaRPr lang="en-US" sz="1100" dirty="0"/>
          </a:p>
          <a:p>
            <a:pPr algn="ctr" indent="0" marL="0">
              <a:lnSpc>
                <a:spcPts val="1500"/>
              </a:lnSpc>
              <a:buNone/>
            </a:pPr>
            <a:r>
              <a:rPr lang="en-US" sz="1100" dirty="0">
                <a:solidFill>
                  <a:srgbClr val="E9F0EC"/>
                </a:solidFill>
                <a:latin typeface="Calibri" pitchFamily="34" charset="0"/>
                <a:ea typeface="Calibri" pitchFamily="34" charset="-122"/>
                <a:cs typeface="Calibri" pitchFamily="34" charset="-120"/>
              </a:rPr>
              <a:t>contratos</a:t>
            </a:r>
            <a:endParaRPr lang="en-US" sz="1100" dirty="0"/>
          </a:p>
        </p:txBody>
      </p:sp>
      <p:sp>
        <p:nvSpPr>
          <p:cNvPr id="8" name="Shape 6"/>
          <p:cNvSpPr/>
          <p:nvPr/>
        </p:nvSpPr>
        <p:spPr>
          <a:xfrm>
            <a:off x="3701034" y="2642616"/>
            <a:ext cx="201168" cy="201168"/>
          </a:xfrm>
          <a:prstGeom prst="ellipse">
            <a:avLst/>
          </a:prstGeom>
          <a:solidFill>
            <a:srgbClr val="6FA593"/>
          </a:solidFill>
          <a:ln/>
        </p:spPr>
      </p:sp>
      <p:sp>
        <p:nvSpPr>
          <p:cNvPr id="9" name="Text 7"/>
          <p:cNvSpPr txBox="1"/>
          <p:nvPr/>
        </p:nvSpPr>
        <p:spPr>
          <a:xfrm>
            <a:off x="2932938" y="2148840"/>
            <a:ext cx="1737360" cy="274320"/>
          </a:xfrm>
          <a:prstGeom prst="rect">
            <a:avLst/>
          </a:prstGeom>
          <a:noFill/>
          <a:ln/>
        </p:spPr>
        <p:txBody>
          <a:bodyPr wrap="square" lIns="0" tIns="0" rIns="0" bIns="0" rtlCol="0" anchor="ctr"/>
          <a:lstStyle/>
          <a:p>
            <a:pPr algn="ctr" indent="0" marL="0">
              <a:buNone/>
            </a:pPr>
            <a:r>
              <a:rPr lang="en-US" sz="1150" b="1" dirty="0">
                <a:solidFill>
                  <a:srgbClr val="6FA593"/>
                </a:solidFill>
                <a:latin typeface="Calibri" pitchFamily="34" charset="0"/>
                <a:ea typeface="Calibri" pitchFamily="34" charset="-122"/>
                <a:cs typeface="Calibri" pitchFamily="34" charset="-120"/>
              </a:rPr>
              <a:t>Ene–Mar 27</a:t>
            </a:r>
            <a:endParaRPr lang="en-US" sz="1150" dirty="0"/>
          </a:p>
        </p:txBody>
      </p:sp>
      <p:sp>
        <p:nvSpPr>
          <p:cNvPr id="10" name="Text 8"/>
          <p:cNvSpPr txBox="1"/>
          <p:nvPr/>
        </p:nvSpPr>
        <p:spPr>
          <a:xfrm>
            <a:off x="2932938" y="2999232"/>
            <a:ext cx="1737360" cy="777240"/>
          </a:xfrm>
          <a:prstGeom prst="rect">
            <a:avLst/>
          </a:prstGeom>
          <a:noFill/>
          <a:ln/>
        </p:spPr>
        <p:txBody>
          <a:bodyPr wrap="square" lIns="0" tIns="0" rIns="0" bIns="0" rtlCol="0" anchor="ctr"/>
          <a:lstStyle/>
          <a:p>
            <a:pPr algn="ctr" indent="0" marL="0">
              <a:lnSpc>
                <a:spcPts val="1500"/>
              </a:lnSpc>
              <a:buNone/>
            </a:pPr>
            <a:r>
              <a:rPr lang="en-US" sz="1100" dirty="0">
                <a:solidFill>
                  <a:srgbClr val="E9F0EC"/>
                </a:solidFill>
                <a:latin typeface="Calibri" pitchFamily="34" charset="0"/>
                <a:ea typeface="Calibri" pitchFamily="34" charset="-122"/>
                <a:cs typeface="Calibri" pitchFamily="34" charset="-120"/>
              </a:rPr>
              <a:t>Expediente,</a:t>
            </a:r>
            <a:endParaRPr lang="en-US" sz="1100" dirty="0"/>
          </a:p>
          <a:p>
            <a:pPr algn="ctr" indent="0" marL="0">
              <a:lnSpc>
                <a:spcPts val="1500"/>
              </a:lnSpc>
              <a:buNone/>
            </a:pPr>
            <a:r>
              <a:rPr lang="en-US" sz="1100" dirty="0">
                <a:solidFill>
                  <a:srgbClr val="E9F0EC"/>
                </a:solidFill>
                <a:latin typeface="Calibri" pitchFamily="34" charset="0"/>
                <a:ea typeface="Calibri" pitchFamily="34" charset="-122"/>
                <a:cs typeface="Calibri" pitchFamily="34" charset="-120"/>
              </a:rPr>
              <a:t>inglés, aplicaciones</a:t>
            </a:r>
            <a:endParaRPr lang="en-US" sz="1100" dirty="0"/>
          </a:p>
        </p:txBody>
      </p:sp>
      <p:sp>
        <p:nvSpPr>
          <p:cNvPr id="11" name="Shape 9"/>
          <p:cNvSpPr/>
          <p:nvPr/>
        </p:nvSpPr>
        <p:spPr>
          <a:xfrm>
            <a:off x="5993892" y="2642616"/>
            <a:ext cx="201168" cy="201168"/>
          </a:xfrm>
          <a:prstGeom prst="ellipse">
            <a:avLst/>
          </a:prstGeom>
          <a:solidFill>
            <a:srgbClr val="6FA593"/>
          </a:solidFill>
          <a:ln/>
        </p:spPr>
      </p:sp>
      <p:sp>
        <p:nvSpPr>
          <p:cNvPr id="12" name="Text 10"/>
          <p:cNvSpPr txBox="1"/>
          <p:nvPr/>
        </p:nvSpPr>
        <p:spPr>
          <a:xfrm>
            <a:off x="5225796" y="2148840"/>
            <a:ext cx="1737360" cy="274320"/>
          </a:xfrm>
          <a:prstGeom prst="rect">
            <a:avLst/>
          </a:prstGeom>
          <a:noFill/>
          <a:ln/>
        </p:spPr>
        <p:txBody>
          <a:bodyPr wrap="square" lIns="0" tIns="0" rIns="0" bIns="0" rtlCol="0" anchor="ctr"/>
          <a:lstStyle/>
          <a:p>
            <a:pPr algn="ctr" indent="0" marL="0">
              <a:buNone/>
            </a:pPr>
            <a:r>
              <a:rPr lang="en-US" sz="1150" b="1" dirty="0">
                <a:solidFill>
                  <a:srgbClr val="6FA593"/>
                </a:solidFill>
                <a:latin typeface="Calibri" pitchFamily="34" charset="0"/>
                <a:ea typeface="Calibri" pitchFamily="34" charset="-122"/>
                <a:cs typeface="Calibri" pitchFamily="34" charset="-120"/>
              </a:rPr>
              <a:t>Abr–Jun 27</a:t>
            </a:r>
            <a:endParaRPr lang="en-US" sz="1150" dirty="0"/>
          </a:p>
        </p:txBody>
      </p:sp>
      <p:sp>
        <p:nvSpPr>
          <p:cNvPr id="13" name="Text 11"/>
          <p:cNvSpPr txBox="1"/>
          <p:nvPr/>
        </p:nvSpPr>
        <p:spPr>
          <a:xfrm>
            <a:off x="5225796" y="2999232"/>
            <a:ext cx="1737360" cy="777240"/>
          </a:xfrm>
          <a:prstGeom prst="rect">
            <a:avLst/>
          </a:prstGeom>
          <a:noFill/>
          <a:ln/>
        </p:spPr>
        <p:txBody>
          <a:bodyPr wrap="square" lIns="0" tIns="0" rIns="0" bIns="0" rtlCol="0" anchor="ctr"/>
          <a:lstStyle/>
          <a:p>
            <a:pPr algn="ctr" indent="0" marL="0">
              <a:lnSpc>
                <a:spcPts val="1500"/>
              </a:lnSpc>
              <a:buNone/>
            </a:pPr>
            <a:r>
              <a:rPr lang="en-US" sz="1100" dirty="0">
                <a:solidFill>
                  <a:srgbClr val="E9F0EC"/>
                </a:solidFill>
                <a:latin typeface="Calibri" pitchFamily="34" charset="0"/>
                <a:ea typeface="Calibri" pitchFamily="34" charset="-122"/>
                <a:cs typeface="Calibri" pitchFamily="34" charset="-120"/>
              </a:rPr>
              <a:t>Admisión, I‑20</a:t>
            </a:r>
            <a:endParaRPr lang="en-US" sz="1100" dirty="0"/>
          </a:p>
          <a:p>
            <a:pPr algn="ctr" indent="0" marL="0">
              <a:lnSpc>
                <a:spcPts val="1500"/>
              </a:lnSpc>
              <a:buNone/>
            </a:pPr>
            <a:r>
              <a:rPr lang="en-US" sz="1100" dirty="0">
                <a:solidFill>
                  <a:srgbClr val="E9F0EC"/>
                </a:solidFill>
                <a:latin typeface="Calibri" pitchFamily="34" charset="0"/>
                <a:ea typeface="Calibri" pitchFamily="34" charset="-122"/>
                <a:cs typeface="Calibri" pitchFamily="34" charset="-120"/>
              </a:rPr>
              <a:t>y visa</a:t>
            </a:r>
            <a:endParaRPr lang="en-US" sz="1100" dirty="0"/>
          </a:p>
        </p:txBody>
      </p:sp>
      <p:sp>
        <p:nvSpPr>
          <p:cNvPr id="14" name="Shape 12"/>
          <p:cNvSpPr/>
          <p:nvPr/>
        </p:nvSpPr>
        <p:spPr>
          <a:xfrm>
            <a:off x="8286750" y="2642616"/>
            <a:ext cx="201168" cy="201168"/>
          </a:xfrm>
          <a:prstGeom prst="ellipse">
            <a:avLst/>
          </a:prstGeom>
          <a:solidFill>
            <a:srgbClr val="6FA593"/>
          </a:solidFill>
          <a:ln/>
        </p:spPr>
      </p:sp>
      <p:sp>
        <p:nvSpPr>
          <p:cNvPr id="15" name="Text 13"/>
          <p:cNvSpPr txBox="1"/>
          <p:nvPr/>
        </p:nvSpPr>
        <p:spPr>
          <a:xfrm>
            <a:off x="7518654" y="2148840"/>
            <a:ext cx="1737360" cy="274320"/>
          </a:xfrm>
          <a:prstGeom prst="rect">
            <a:avLst/>
          </a:prstGeom>
          <a:noFill/>
          <a:ln/>
        </p:spPr>
        <p:txBody>
          <a:bodyPr wrap="square" lIns="0" tIns="0" rIns="0" bIns="0" rtlCol="0" anchor="ctr"/>
          <a:lstStyle/>
          <a:p>
            <a:pPr algn="ctr" indent="0" marL="0">
              <a:buNone/>
            </a:pPr>
            <a:r>
              <a:rPr lang="en-US" sz="1150" b="1" dirty="0">
                <a:solidFill>
                  <a:srgbClr val="6FA593"/>
                </a:solidFill>
                <a:latin typeface="Calibri" pitchFamily="34" charset="0"/>
                <a:ea typeface="Calibri" pitchFamily="34" charset="-122"/>
                <a:cs typeface="Calibri" pitchFamily="34" charset="-120"/>
              </a:rPr>
              <a:t>Julio 27</a:t>
            </a:r>
            <a:endParaRPr lang="en-US" sz="1150" dirty="0"/>
          </a:p>
        </p:txBody>
      </p:sp>
      <p:sp>
        <p:nvSpPr>
          <p:cNvPr id="16" name="Text 14"/>
          <p:cNvSpPr txBox="1"/>
          <p:nvPr/>
        </p:nvSpPr>
        <p:spPr>
          <a:xfrm>
            <a:off x="7518654" y="2999232"/>
            <a:ext cx="1737360" cy="777240"/>
          </a:xfrm>
          <a:prstGeom prst="rect">
            <a:avLst/>
          </a:prstGeom>
          <a:noFill/>
          <a:ln/>
        </p:spPr>
        <p:txBody>
          <a:bodyPr wrap="square" lIns="0" tIns="0" rIns="0" bIns="0" rtlCol="0" anchor="ctr"/>
          <a:lstStyle/>
          <a:p>
            <a:pPr algn="ctr" indent="0" marL="0">
              <a:lnSpc>
                <a:spcPts val="1500"/>
              </a:lnSpc>
              <a:buNone/>
            </a:pPr>
            <a:r>
              <a:rPr lang="en-US" sz="1100" dirty="0">
                <a:solidFill>
                  <a:srgbClr val="E9F0EC"/>
                </a:solidFill>
                <a:latin typeface="Calibri" pitchFamily="34" charset="0"/>
                <a:ea typeface="Calibri" pitchFamily="34" charset="-122"/>
                <a:cs typeface="Calibri" pitchFamily="34" charset="-120"/>
              </a:rPr>
              <a:t>Entrada a EE. UU.</a:t>
            </a:r>
            <a:endParaRPr lang="en-US" sz="1100" dirty="0"/>
          </a:p>
          <a:p>
            <a:pPr algn="ctr" indent="0" marL="0">
              <a:lnSpc>
                <a:spcPts val="1500"/>
              </a:lnSpc>
              <a:buNone/>
            </a:pPr>
            <a:r>
              <a:rPr lang="en-US" sz="1100" dirty="0">
                <a:solidFill>
                  <a:srgbClr val="E9F0EC"/>
                </a:solidFill>
                <a:latin typeface="Calibri" pitchFamily="34" charset="0"/>
                <a:ea typeface="Calibri" pitchFamily="34" charset="-122"/>
                <a:cs typeface="Calibri" pitchFamily="34" charset="-120"/>
              </a:rPr>
              <a:t>(máx. 30 días antes)</a:t>
            </a:r>
            <a:endParaRPr lang="en-US" sz="1100" dirty="0"/>
          </a:p>
        </p:txBody>
      </p:sp>
      <p:sp>
        <p:nvSpPr>
          <p:cNvPr id="17" name="Shape 15"/>
          <p:cNvSpPr/>
          <p:nvPr/>
        </p:nvSpPr>
        <p:spPr>
          <a:xfrm>
            <a:off x="10579608" y="2642616"/>
            <a:ext cx="201168" cy="201168"/>
          </a:xfrm>
          <a:prstGeom prst="ellipse">
            <a:avLst/>
          </a:prstGeom>
          <a:solidFill>
            <a:srgbClr val="D99B2B"/>
          </a:solidFill>
          <a:ln/>
        </p:spPr>
      </p:sp>
      <p:sp>
        <p:nvSpPr>
          <p:cNvPr id="18" name="Text 16"/>
          <p:cNvSpPr txBox="1"/>
          <p:nvPr/>
        </p:nvSpPr>
        <p:spPr>
          <a:xfrm>
            <a:off x="9811512" y="2148840"/>
            <a:ext cx="1737360" cy="274320"/>
          </a:xfrm>
          <a:prstGeom prst="rect">
            <a:avLst/>
          </a:prstGeom>
          <a:noFill/>
          <a:ln/>
        </p:spPr>
        <p:txBody>
          <a:bodyPr wrap="square" lIns="0" tIns="0" rIns="0" bIns="0" rtlCol="0" anchor="ctr"/>
          <a:lstStyle/>
          <a:p>
            <a:pPr algn="ctr" indent="0" marL="0">
              <a:buNone/>
            </a:pPr>
            <a:r>
              <a:rPr lang="en-US" sz="1150" b="1" dirty="0">
                <a:solidFill>
                  <a:srgbClr val="D99B2B"/>
                </a:solidFill>
                <a:latin typeface="Calibri" pitchFamily="34" charset="0"/>
                <a:ea typeface="Calibri" pitchFamily="34" charset="-122"/>
                <a:cs typeface="Calibri" pitchFamily="34" charset="-120"/>
              </a:rPr>
              <a:t>Oct–Nov 27</a:t>
            </a:r>
            <a:endParaRPr lang="en-US" sz="1150" dirty="0"/>
          </a:p>
        </p:txBody>
      </p:sp>
      <p:sp>
        <p:nvSpPr>
          <p:cNvPr id="19" name="Text 17"/>
          <p:cNvSpPr txBox="1"/>
          <p:nvPr/>
        </p:nvSpPr>
        <p:spPr>
          <a:xfrm>
            <a:off x="9811512" y="2999232"/>
            <a:ext cx="1737360" cy="777240"/>
          </a:xfrm>
          <a:prstGeom prst="rect">
            <a:avLst/>
          </a:prstGeom>
          <a:noFill/>
          <a:ln/>
        </p:spPr>
        <p:txBody>
          <a:bodyPr wrap="square" lIns="0" tIns="0" rIns="0" bIns="0" rtlCol="0" anchor="ctr"/>
          <a:lstStyle/>
          <a:p>
            <a:pPr algn="ctr" indent="0" marL="0">
              <a:lnSpc>
                <a:spcPts val="1500"/>
              </a:lnSpc>
              <a:buNone/>
            </a:pPr>
            <a:r>
              <a:rPr lang="en-US" sz="1100" dirty="0">
                <a:solidFill>
                  <a:srgbClr val="E9F0EC"/>
                </a:solidFill>
                <a:latin typeface="Calibri" pitchFamily="34" charset="0"/>
                <a:ea typeface="Calibri" pitchFamily="34" charset="-122"/>
                <a:cs typeface="Calibri" pitchFamily="34" charset="-120"/>
              </a:rPr>
              <a:t>Primeras comisiones</a:t>
            </a:r>
            <a:endParaRPr lang="en-US" sz="1100" dirty="0"/>
          </a:p>
          <a:p>
            <a:pPr algn="ctr" indent="0" marL="0">
              <a:lnSpc>
                <a:spcPts val="1500"/>
              </a:lnSpc>
              <a:buNone/>
            </a:pPr>
            <a:r>
              <a:rPr lang="en-US" sz="1100" dirty="0">
                <a:solidFill>
                  <a:srgbClr val="E9F0EC"/>
                </a:solidFill>
                <a:latin typeface="Calibri" pitchFamily="34" charset="0"/>
                <a:ea typeface="Calibri" pitchFamily="34" charset="-122"/>
                <a:cs typeface="Calibri" pitchFamily="34" charset="-120"/>
              </a:rPr>
              <a:t>cobradas</a:t>
            </a:r>
            <a:endParaRPr lang="en-US" sz="1100" dirty="0"/>
          </a:p>
        </p:txBody>
      </p:sp>
      <p:sp>
        <p:nvSpPr>
          <p:cNvPr id="20" name="Text 18"/>
          <p:cNvSpPr txBox="1"/>
          <p:nvPr/>
        </p:nvSpPr>
        <p:spPr>
          <a:xfrm>
            <a:off x="640080" y="4343400"/>
            <a:ext cx="5486400" cy="914400"/>
          </a:xfrm>
          <a:prstGeom prst="rect">
            <a:avLst/>
          </a:prstGeom>
          <a:noFill/>
          <a:ln/>
        </p:spPr>
        <p:txBody>
          <a:bodyPr wrap="square" lIns="0" tIns="0" rIns="0" bIns="0" rtlCol="0" anchor="ctr"/>
          <a:lstStyle/>
          <a:p>
            <a:pPr indent="0" marL="0">
              <a:lnSpc>
                <a:spcPts val="1900"/>
              </a:lnSpc>
              <a:buNone/>
            </a:pPr>
            <a:r>
              <a:rPr lang="en-US" sz="1300" dirty="0">
                <a:solidFill>
                  <a:srgbClr val="E9F0EC"/>
                </a:solidFill>
                <a:latin typeface="Calibri" pitchFamily="34" charset="0"/>
                <a:ea typeface="Calibri" pitchFamily="34" charset="-122"/>
                <a:cs typeface="Calibri" pitchFamily="34" charset="-120"/>
              </a:rPr>
              <a:t>Quien nos llegue en marzo pidiendo entrar en agosto es, casi siempre, un caso del ingreso siguiente. Decírselo con honestidad es lo que gana al cliente.</a:t>
            </a:r>
            <a:endParaRPr lang="en-US" sz="1300" dirty="0"/>
          </a:p>
        </p:txBody>
      </p:sp>
      <p:sp>
        <p:nvSpPr>
          <p:cNvPr id="21" name="Text 19"/>
          <p:cNvSpPr txBox="1"/>
          <p:nvPr/>
        </p:nvSpPr>
        <p:spPr>
          <a:xfrm>
            <a:off x="6492240" y="4343400"/>
            <a:ext cx="5029200" cy="914400"/>
          </a:xfrm>
          <a:prstGeom prst="rect">
            <a:avLst/>
          </a:prstGeom>
          <a:noFill/>
          <a:ln/>
        </p:spPr>
        <p:txBody>
          <a:bodyPr wrap="square" lIns="0" tIns="0" rIns="0" bIns="0" rtlCol="0" anchor="ctr"/>
          <a:lstStyle/>
          <a:p>
            <a:pPr indent="0" marL="0">
              <a:lnSpc>
                <a:spcPts val="1900"/>
              </a:lnSpc>
              <a:buNone/>
            </a:pPr>
            <a:r>
              <a:rPr lang="en-US" sz="1300" dirty="0">
                <a:solidFill>
                  <a:srgbClr val="D99B2B"/>
                </a:solidFill>
                <a:latin typeface="Calibri" pitchFamily="34" charset="0"/>
                <a:ea typeface="Calibri" pitchFamily="34" charset="-122"/>
                <a:cs typeface="Calibri" pitchFamily="34" charset="-120"/>
              </a:rPr>
              <a:t>Las escuelas de inglés y algunos community colleges tienen ingresos cada pocas semanas: sirven para facturar mucho antes, mientras madura el ciclo universitario. Ese es el argumento para empezar por ahí.</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28600"/>
          </a:xfrm>
          <a:prstGeom prst="rect">
            <a:avLst/>
          </a:prstGeom>
          <a:noFill/>
          <a:ln/>
        </p:spPr>
        <p:txBody>
          <a:bodyPr wrap="square" lIns="0" tIns="0" rIns="0" bIns="0" rtlCol="0" anchor="ctr"/>
          <a:lstStyle/>
          <a:p>
            <a:pPr indent="0" marL="0">
              <a:buNone/>
            </a:pPr>
            <a:r>
              <a:rPr lang="en-US" sz="1100" b="1" spc="200" kern="0" dirty="0">
                <a:solidFill>
                  <a:srgbClr val="6FA593"/>
                </a:solidFill>
                <a:latin typeface="Calibri" pitchFamily="34" charset="0"/>
                <a:ea typeface="Calibri" pitchFamily="34" charset="-122"/>
                <a:cs typeface="Calibri" pitchFamily="34" charset="-120"/>
              </a:rPr>
              <a:t>PLAN DE ARRANQUE</a:t>
            </a:r>
            <a:endParaRPr lang="en-US" sz="1100" dirty="0"/>
          </a:p>
        </p:txBody>
      </p:sp>
      <p:sp>
        <p:nvSpPr>
          <p:cNvPr id="3" name="Text 1"/>
          <p:cNvSpPr txBox="1"/>
          <p:nvPr/>
        </p:nvSpPr>
        <p:spPr>
          <a:xfrm>
            <a:off x="640080" y="621792"/>
            <a:ext cx="10911535" cy="658368"/>
          </a:xfrm>
          <a:prstGeom prst="rect">
            <a:avLst/>
          </a:prstGeom>
          <a:noFill/>
          <a:ln/>
        </p:spPr>
        <p:txBody>
          <a:bodyPr wrap="square" lIns="0" tIns="0" rIns="0" bIns="0" rtlCol="0" anchor="t"/>
          <a:lstStyle/>
          <a:p>
            <a:pPr indent="0" marL="0">
              <a:buNone/>
            </a:pPr>
            <a:r>
              <a:rPr lang="en-US" sz="3000" b="1" dirty="0">
                <a:solidFill>
                  <a:srgbClr val="1B4D42"/>
                </a:solidFill>
                <a:latin typeface="Cambria" pitchFamily="34" charset="0"/>
                <a:ea typeface="Cambria" pitchFamily="34" charset="-122"/>
                <a:cs typeface="Cambria" pitchFamily="34" charset="-120"/>
              </a:rPr>
              <a:t>Qué pasa en los próximos noventa días</a:t>
            </a:r>
            <a:endParaRPr lang="en-US" sz="3000" dirty="0"/>
          </a:p>
        </p:txBody>
      </p:sp>
      <p:sp>
        <p:nvSpPr>
          <p:cNvPr id="4" name="Shape 2"/>
          <p:cNvSpPr/>
          <p:nvPr/>
        </p:nvSpPr>
        <p:spPr>
          <a:xfrm>
            <a:off x="640080" y="1572768"/>
            <a:ext cx="3520440" cy="3794760"/>
          </a:xfrm>
          <a:prstGeom prst="roundRect">
            <a:avLst>
              <a:gd name="adj" fmla="val 1558"/>
            </a:avLst>
          </a:prstGeom>
          <a:solidFill>
            <a:srgbClr val="EAF0ED"/>
          </a:solidFill>
          <a:ln w="12700">
            <a:solidFill>
              <a:srgbClr val="EAF0ED"/>
            </a:solidFill>
            <a:prstDash val="solid"/>
          </a:ln>
        </p:spPr>
      </p:sp>
      <p:sp>
        <p:nvSpPr>
          <p:cNvPr id="5" name="Text 3"/>
          <p:cNvSpPr txBox="1"/>
          <p:nvPr/>
        </p:nvSpPr>
        <p:spPr>
          <a:xfrm>
            <a:off x="932688" y="1810512"/>
            <a:ext cx="2935224" cy="228600"/>
          </a:xfrm>
          <a:prstGeom prst="rect">
            <a:avLst/>
          </a:prstGeom>
          <a:noFill/>
          <a:ln/>
        </p:spPr>
        <p:txBody>
          <a:bodyPr wrap="square" lIns="0" tIns="0" rIns="0" bIns="0" rtlCol="0" anchor="ctr"/>
          <a:lstStyle/>
          <a:p>
            <a:pPr indent="0" marL="0">
              <a:buNone/>
            </a:pPr>
            <a:r>
              <a:rPr lang="en-US" sz="950" b="1" spc="140" kern="0" dirty="0">
                <a:solidFill>
                  <a:srgbClr val="6FA593"/>
                </a:solidFill>
                <a:latin typeface="Calibri" pitchFamily="34" charset="0"/>
                <a:ea typeface="Calibri" pitchFamily="34" charset="-122"/>
                <a:cs typeface="Calibri" pitchFamily="34" charset="-120"/>
              </a:rPr>
              <a:t>SEMANAS 1–4</a:t>
            </a:r>
            <a:endParaRPr lang="en-US" sz="950" dirty="0"/>
          </a:p>
        </p:txBody>
      </p:sp>
      <p:sp>
        <p:nvSpPr>
          <p:cNvPr id="6" name="Text 4"/>
          <p:cNvSpPr txBox="1"/>
          <p:nvPr/>
        </p:nvSpPr>
        <p:spPr>
          <a:xfrm>
            <a:off x="932688" y="2066544"/>
            <a:ext cx="2935224" cy="411480"/>
          </a:xfrm>
          <a:prstGeom prst="rect">
            <a:avLst/>
          </a:prstGeom>
          <a:noFill/>
          <a:ln/>
        </p:spPr>
        <p:txBody>
          <a:bodyPr wrap="square" lIns="0" tIns="0" rIns="0" bIns="0" rtlCol="0" anchor="ctr"/>
          <a:lstStyle/>
          <a:p>
            <a:pPr indent="0" marL="0">
              <a:buNone/>
            </a:pPr>
            <a:r>
              <a:rPr lang="en-US" sz="2400" b="1" dirty="0">
                <a:solidFill>
                  <a:srgbClr val="1B4D42"/>
                </a:solidFill>
                <a:latin typeface="Cambria" pitchFamily="34" charset="0"/>
                <a:ea typeface="Cambria" pitchFamily="34" charset="-122"/>
                <a:cs typeface="Cambria" pitchFamily="34" charset="-120"/>
              </a:rPr>
              <a:t>Existir</a:t>
            </a:r>
            <a:endParaRPr lang="en-US" sz="2400" dirty="0"/>
          </a:p>
        </p:txBody>
      </p:sp>
      <p:sp>
        <p:nvSpPr>
          <p:cNvPr id="7" name="Text 5"/>
          <p:cNvSpPr txBox="1"/>
          <p:nvPr/>
        </p:nvSpPr>
        <p:spPr>
          <a:xfrm>
            <a:off x="932688" y="2560320"/>
            <a:ext cx="2971800" cy="214884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Acuerdo de fundadores firmado por los tres</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Nombre, dominio y cuentas de redes</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LLC, EIN y cuenta bancaria</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Landing en línea y correo corporativo</a:t>
            </a:r>
            <a:endParaRPr lang="en-US" sz="1150" dirty="0"/>
          </a:p>
        </p:txBody>
      </p:sp>
      <p:sp>
        <p:nvSpPr>
          <p:cNvPr id="8" name="Text 6"/>
          <p:cNvSpPr txBox="1"/>
          <p:nvPr/>
        </p:nvSpPr>
        <p:spPr>
          <a:xfrm>
            <a:off x="932688" y="4892040"/>
            <a:ext cx="2935224" cy="320040"/>
          </a:xfrm>
          <a:prstGeom prst="rect">
            <a:avLst/>
          </a:prstGeom>
          <a:noFill/>
          <a:ln/>
        </p:spPr>
        <p:txBody>
          <a:bodyPr wrap="square" lIns="0" tIns="0" rIns="0" bIns="0" rtlCol="0" anchor="ctr"/>
          <a:lstStyle/>
          <a:p>
            <a:pPr indent="0" marL="0">
              <a:buNone/>
            </a:pPr>
            <a:r>
              <a:rPr lang="en-US" sz="1000" b="1" dirty="0">
                <a:solidFill>
                  <a:srgbClr val="1B4D42"/>
                </a:solidFill>
                <a:latin typeface="Calibri" pitchFamily="34" charset="0"/>
                <a:ea typeface="Calibri" pitchFamily="34" charset="-122"/>
                <a:cs typeface="Calibri" pitchFamily="34" charset="-120"/>
              </a:rPr>
              <a:t>Socio MX lidera · los tres deciden</a:t>
            </a:r>
            <a:endParaRPr lang="en-US" sz="1000" dirty="0"/>
          </a:p>
        </p:txBody>
      </p:sp>
      <p:sp>
        <p:nvSpPr>
          <p:cNvPr id="9" name="Shape 7"/>
          <p:cNvSpPr/>
          <p:nvPr/>
        </p:nvSpPr>
        <p:spPr>
          <a:xfrm>
            <a:off x="4544568" y="1572768"/>
            <a:ext cx="3520440" cy="3794760"/>
          </a:xfrm>
          <a:prstGeom prst="roundRect">
            <a:avLst>
              <a:gd name="adj" fmla="val 1558"/>
            </a:avLst>
          </a:prstGeom>
          <a:solidFill>
            <a:srgbClr val="EAF0ED"/>
          </a:solidFill>
          <a:ln w="12700">
            <a:solidFill>
              <a:srgbClr val="EAF0ED"/>
            </a:solidFill>
            <a:prstDash val="solid"/>
          </a:ln>
        </p:spPr>
      </p:sp>
      <p:sp>
        <p:nvSpPr>
          <p:cNvPr id="10" name="Text 8"/>
          <p:cNvSpPr txBox="1"/>
          <p:nvPr/>
        </p:nvSpPr>
        <p:spPr>
          <a:xfrm>
            <a:off x="4837176" y="1810512"/>
            <a:ext cx="2935224" cy="228600"/>
          </a:xfrm>
          <a:prstGeom prst="rect">
            <a:avLst/>
          </a:prstGeom>
          <a:noFill/>
          <a:ln/>
        </p:spPr>
        <p:txBody>
          <a:bodyPr wrap="square" lIns="0" tIns="0" rIns="0" bIns="0" rtlCol="0" anchor="ctr"/>
          <a:lstStyle/>
          <a:p>
            <a:pPr indent="0" marL="0">
              <a:buNone/>
            </a:pPr>
            <a:r>
              <a:rPr lang="en-US" sz="950" b="1" spc="140" kern="0" dirty="0">
                <a:solidFill>
                  <a:srgbClr val="6FA593"/>
                </a:solidFill>
                <a:latin typeface="Calibri" pitchFamily="34" charset="0"/>
                <a:ea typeface="Calibri" pitchFamily="34" charset="-122"/>
                <a:cs typeface="Calibri" pitchFamily="34" charset="-120"/>
              </a:rPr>
              <a:t>SEMANAS 4–10</a:t>
            </a:r>
            <a:endParaRPr lang="en-US" sz="950" dirty="0"/>
          </a:p>
        </p:txBody>
      </p:sp>
      <p:sp>
        <p:nvSpPr>
          <p:cNvPr id="11" name="Text 9"/>
          <p:cNvSpPr txBox="1"/>
          <p:nvPr/>
        </p:nvSpPr>
        <p:spPr>
          <a:xfrm>
            <a:off x="4837176" y="2066544"/>
            <a:ext cx="2935224" cy="411480"/>
          </a:xfrm>
          <a:prstGeom prst="rect">
            <a:avLst/>
          </a:prstGeom>
          <a:noFill/>
          <a:ln/>
        </p:spPr>
        <p:txBody>
          <a:bodyPr wrap="square" lIns="0" tIns="0" rIns="0" bIns="0" rtlCol="0" anchor="ctr"/>
          <a:lstStyle/>
          <a:p>
            <a:pPr indent="0" marL="0">
              <a:buNone/>
            </a:pPr>
            <a:r>
              <a:rPr lang="en-US" sz="2400" b="1" dirty="0">
                <a:solidFill>
                  <a:srgbClr val="1B4D42"/>
                </a:solidFill>
                <a:latin typeface="Cambria" pitchFamily="34" charset="0"/>
                <a:ea typeface="Cambria" pitchFamily="34" charset="-122"/>
                <a:cs typeface="Cambria" pitchFamily="34" charset="-120"/>
              </a:rPr>
              <a:t>Firmar</a:t>
            </a:r>
            <a:endParaRPr lang="en-US" sz="2400" dirty="0"/>
          </a:p>
        </p:txBody>
      </p:sp>
      <p:sp>
        <p:nvSpPr>
          <p:cNvPr id="12" name="Text 10"/>
          <p:cNvSpPr txBox="1"/>
          <p:nvPr/>
        </p:nvSpPr>
        <p:spPr>
          <a:xfrm>
            <a:off x="4837176" y="2560320"/>
            <a:ext cx="2971800" cy="214884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8 a 12 acuerdos con escuelas de inglés y community colleges</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Alta de perfil en ICEF</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Carta de presentación en inglés</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Primer contacto con un pathway provider</a:t>
            </a:r>
            <a:endParaRPr lang="en-US" sz="1150" dirty="0"/>
          </a:p>
        </p:txBody>
      </p:sp>
      <p:sp>
        <p:nvSpPr>
          <p:cNvPr id="13" name="Text 11"/>
          <p:cNvSpPr txBox="1"/>
          <p:nvPr/>
        </p:nvSpPr>
        <p:spPr>
          <a:xfrm>
            <a:off x="4837176" y="4892040"/>
            <a:ext cx="2935224" cy="320040"/>
          </a:xfrm>
          <a:prstGeom prst="rect">
            <a:avLst/>
          </a:prstGeom>
          <a:noFill/>
          <a:ln/>
        </p:spPr>
        <p:txBody>
          <a:bodyPr wrap="square" lIns="0" tIns="0" rIns="0" bIns="0" rtlCol="0" anchor="ctr"/>
          <a:lstStyle/>
          <a:p>
            <a:pPr indent="0" marL="0">
              <a:buNone/>
            </a:pPr>
            <a:r>
              <a:rPr lang="en-US" sz="1000" b="1" dirty="0">
                <a:solidFill>
                  <a:srgbClr val="1B4D42"/>
                </a:solidFill>
                <a:latin typeface="Calibri" pitchFamily="34" charset="0"/>
                <a:ea typeface="Calibri" pitchFamily="34" charset="-122"/>
                <a:cs typeface="Calibri" pitchFamily="34" charset="-120"/>
              </a:rPr>
              <a:t>Socio MX</a:t>
            </a:r>
            <a:endParaRPr lang="en-US" sz="1000" dirty="0"/>
          </a:p>
        </p:txBody>
      </p:sp>
      <p:sp>
        <p:nvSpPr>
          <p:cNvPr id="14" name="Shape 12"/>
          <p:cNvSpPr/>
          <p:nvPr/>
        </p:nvSpPr>
        <p:spPr>
          <a:xfrm>
            <a:off x="8449056" y="1572768"/>
            <a:ext cx="3520440" cy="3794760"/>
          </a:xfrm>
          <a:prstGeom prst="roundRect">
            <a:avLst>
              <a:gd name="adj" fmla="val 1558"/>
            </a:avLst>
          </a:prstGeom>
          <a:solidFill>
            <a:srgbClr val="EAF0ED"/>
          </a:solidFill>
          <a:ln w="12700">
            <a:solidFill>
              <a:srgbClr val="EAF0ED"/>
            </a:solidFill>
            <a:prstDash val="solid"/>
          </a:ln>
        </p:spPr>
      </p:sp>
      <p:sp>
        <p:nvSpPr>
          <p:cNvPr id="15" name="Text 13"/>
          <p:cNvSpPr txBox="1"/>
          <p:nvPr/>
        </p:nvSpPr>
        <p:spPr>
          <a:xfrm>
            <a:off x="8741664" y="1810512"/>
            <a:ext cx="2935224" cy="228600"/>
          </a:xfrm>
          <a:prstGeom prst="rect">
            <a:avLst/>
          </a:prstGeom>
          <a:noFill/>
          <a:ln/>
        </p:spPr>
        <p:txBody>
          <a:bodyPr wrap="square" lIns="0" tIns="0" rIns="0" bIns="0" rtlCol="0" anchor="ctr"/>
          <a:lstStyle/>
          <a:p>
            <a:pPr indent="0" marL="0">
              <a:buNone/>
            </a:pPr>
            <a:r>
              <a:rPr lang="en-US" sz="950" b="1" spc="140" kern="0" dirty="0">
                <a:solidFill>
                  <a:srgbClr val="6FA593"/>
                </a:solidFill>
                <a:latin typeface="Calibri" pitchFamily="34" charset="0"/>
                <a:ea typeface="Calibri" pitchFamily="34" charset="-122"/>
                <a:cs typeface="Calibri" pitchFamily="34" charset="-120"/>
              </a:rPr>
              <a:t>SEMANAS 5–12</a:t>
            </a:r>
            <a:endParaRPr lang="en-US" sz="950" dirty="0"/>
          </a:p>
        </p:txBody>
      </p:sp>
      <p:sp>
        <p:nvSpPr>
          <p:cNvPr id="16" name="Text 14"/>
          <p:cNvSpPr txBox="1"/>
          <p:nvPr/>
        </p:nvSpPr>
        <p:spPr>
          <a:xfrm>
            <a:off x="8741664" y="2066544"/>
            <a:ext cx="2935224" cy="411480"/>
          </a:xfrm>
          <a:prstGeom prst="rect">
            <a:avLst/>
          </a:prstGeom>
          <a:noFill/>
          <a:ln/>
        </p:spPr>
        <p:txBody>
          <a:bodyPr wrap="square" lIns="0" tIns="0" rIns="0" bIns="0" rtlCol="0" anchor="ctr"/>
          <a:lstStyle/>
          <a:p>
            <a:pPr indent="0" marL="0">
              <a:buNone/>
            </a:pPr>
            <a:r>
              <a:rPr lang="en-US" sz="2400" b="1" dirty="0">
                <a:solidFill>
                  <a:srgbClr val="1B4D42"/>
                </a:solidFill>
                <a:latin typeface="Cambria" pitchFamily="34" charset="0"/>
                <a:ea typeface="Cambria" pitchFamily="34" charset="-122"/>
                <a:cs typeface="Cambria" pitchFamily="34" charset="-120"/>
              </a:rPr>
              <a:t>Vender</a:t>
            </a:r>
            <a:endParaRPr lang="en-US" sz="2400" dirty="0"/>
          </a:p>
        </p:txBody>
      </p:sp>
      <p:sp>
        <p:nvSpPr>
          <p:cNvPr id="17" name="Text 15"/>
          <p:cNvSpPr txBox="1"/>
          <p:nvPr/>
        </p:nvSpPr>
        <p:spPr>
          <a:xfrm>
            <a:off x="8741664" y="2560320"/>
            <a:ext cx="2971800" cy="214884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Contrato al estudiante, aviso de privacidad y checklists</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CRM con las catorce etapas configuradas</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3 clientes de pago, uno por mercado</a:t>
            </a:r>
            <a:endParaRPr lang="en-US" sz="1150" dirty="0"/>
          </a:p>
          <a:p>
            <a:pPr marL="342900" indent="-342900">
              <a:lnSpc>
                <a:spcPts val="1500"/>
              </a:lnSpc>
              <a:spcAft>
                <a:spcPts val="800"/>
              </a:spcAft>
              <a:buSzPct val="100000"/>
              <a:buChar char="•"/>
            </a:pPr>
            <a:r>
              <a:rPr lang="en-US" sz="1150" dirty="0">
                <a:solidFill>
                  <a:srgbClr val="586B63"/>
                </a:solidFill>
                <a:latin typeface="Calibri" pitchFamily="34" charset="0"/>
                <a:ea typeface="Calibri" pitchFamily="34" charset="-122"/>
                <a:cs typeface="Calibri" pitchFamily="34" charset="-120"/>
              </a:rPr>
              <a:t>5 colegios en MX, 3 en CL y 3 en ES con charla agendada</a:t>
            </a:r>
            <a:endParaRPr lang="en-US" sz="1150" dirty="0"/>
          </a:p>
        </p:txBody>
      </p:sp>
      <p:sp>
        <p:nvSpPr>
          <p:cNvPr id="18" name="Text 16"/>
          <p:cNvSpPr txBox="1"/>
          <p:nvPr/>
        </p:nvSpPr>
        <p:spPr>
          <a:xfrm>
            <a:off x="8741664" y="4892040"/>
            <a:ext cx="2935224" cy="320040"/>
          </a:xfrm>
          <a:prstGeom prst="rect">
            <a:avLst/>
          </a:prstGeom>
          <a:noFill/>
          <a:ln/>
        </p:spPr>
        <p:txBody>
          <a:bodyPr wrap="square" lIns="0" tIns="0" rIns="0" bIns="0" rtlCol="0" anchor="ctr"/>
          <a:lstStyle/>
          <a:p>
            <a:pPr indent="0" marL="0">
              <a:buNone/>
            </a:pPr>
            <a:r>
              <a:rPr lang="en-US" sz="1000" b="1" dirty="0">
                <a:solidFill>
                  <a:srgbClr val="1B4D42"/>
                </a:solidFill>
                <a:latin typeface="Calibri" pitchFamily="34" charset="0"/>
                <a:ea typeface="Calibri" pitchFamily="34" charset="-122"/>
                <a:cs typeface="Calibri" pitchFamily="34" charset="-120"/>
              </a:rPr>
              <a:t>Los tres, cada uno en su mercado</a:t>
            </a:r>
            <a:endParaRPr lang="en-US" sz="1000" dirty="0"/>
          </a:p>
        </p:txBody>
      </p:sp>
      <p:sp>
        <p:nvSpPr>
          <p:cNvPr id="19" name="Text 17"/>
          <p:cNvSpPr txBox="1"/>
          <p:nvPr/>
        </p:nvSpPr>
        <p:spPr>
          <a:xfrm>
            <a:off x="640080" y="6291072"/>
            <a:ext cx="10911535" cy="274320"/>
          </a:xfrm>
          <a:prstGeom prst="rect">
            <a:avLst/>
          </a:prstGeom>
          <a:noFill/>
          <a:ln/>
        </p:spPr>
        <p:txBody>
          <a:bodyPr wrap="square" lIns="0" tIns="0" rIns="0" bIns="0" rtlCol="0" anchor="ctr"/>
          <a:lstStyle/>
          <a:p>
            <a:pPr indent="0" marL="0">
              <a:buNone/>
            </a:pPr>
            <a:r>
              <a:rPr lang="en-US" sz="1000" i="1" dirty="0">
                <a:solidFill>
                  <a:srgbClr val="586B63"/>
                </a:solidFill>
                <a:latin typeface="Calibri" pitchFamily="34" charset="0"/>
                <a:ea typeface="Calibri" pitchFamily="34" charset="-122"/>
                <a:cs typeface="Calibri" pitchFamily="34" charset="-120"/>
              </a:rPr>
              <a:t>Reunión semanal de 45 minutos, los tres, misma hora. Tres números en pantalla: leads nuevos, contratos firmados, alumnos por etapa.</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A25"/>
        </a:solidFill>
      </p:bgPr>
    </p:bg>
    <p:spTree>
      <p:nvGrpSpPr>
        <p:cNvPr id="1" name=""/>
        <p:cNvGrpSpPr/>
        <p:nvPr/>
      </p:nvGrpSpPr>
      <p:grpSpPr>
        <a:xfrm>
          <a:off x="0" y="0"/>
          <a:ext cx="0" cy="0"/>
          <a:chOff x="0" y="0"/>
          <a:chExt cx="0" cy="0"/>
        </a:xfrm>
      </p:grpSpPr>
      <p:sp>
        <p:nvSpPr>
          <p:cNvPr id="2" name="Text 0"/>
          <p:cNvSpPr txBox="1"/>
          <p:nvPr/>
        </p:nvSpPr>
        <p:spPr>
          <a:xfrm>
            <a:off x="640080" y="685800"/>
            <a:ext cx="7315200" cy="228600"/>
          </a:xfrm>
          <a:prstGeom prst="rect">
            <a:avLst/>
          </a:prstGeom>
          <a:noFill/>
          <a:ln/>
        </p:spPr>
        <p:txBody>
          <a:bodyPr wrap="square" lIns="0" tIns="0" rIns="0" bIns="0" rtlCol="0" anchor="ctr"/>
          <a:lstStyle/>
          <a:p>
            <a:pPr indent="0" marL="0">
              <a:buNone/>
            </a:pPr>
            <a:r>
              <a:rPr lang="en-US" sz="1100" b="1" spc="200" kern="0" dirty="0">
                <a:solidFill>
                  <a:srgbClr val="D99B2B"/>
                </a:solidFill>
                <a:latin typeface="Calibri" pitchFamily="34" charset="0"/>
                <a:ea typeface="Calibri" pitchFamily="34" charset="-122"/>
                <a:cs typeface="Calibri" pitchFamily="34" charset="-120"/>
              </a:rPr>
              <a:t>LO QUE DECIDIMOS HOY</a:t>
            </a:r>
            <a:endParaRPr lang="en-US" sz="1100" dirty="0"/>
          </a:p>
        </p:txBody>
      </p:sp>
      <p:sp>
        <p:nvSpPr>
          <p:cNvPr id="3" name="Text 1"/>
          <p:cNvSpPr txBox="1"/>
          <p:nvPr/>
        </p:nvSpPr>
        <p:spPr>
          <a:xfrm>
            <a:off x="640080" y="987552"/>
            <a:ext cx="91440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Ocho decisiones y arrancamos</a:t>
            </a:r>
            <a:endParaRPr lang="en-US" sz="3400" dirty="0"/>
          </a:p>
        </p:txBody>
      </p:sp>
      <p:sp>
        <p:nvSpPr>
          <p:cNvPr id="4" name="Shape 2"/>
          <p:cNvSpPr/>
          <p:nvPr/>
        </p:nvSpPr>
        <p:spPr>
          <a:xfrm>
            <a:off x="640080" y="1920240"/>
            <a:ext cx="384048" cy="384048"/>
          </a:xfrm>
          <a:prstGeom prst="ellipse">
            <a:avLst/>
          </a:prstGeom>
          <a:solidFill>
            <a:srgbClr val="D99B2B"/>
          </a:solidFill>
          <a:ln/>
        </p:spPr>
      </p:sp>
      <p:sp>
        <p:nvSpPr>
          <p:cNvPr id="5" name="Text 3"/>
          <p:cNvSpPr txBox="1"/>
          <p:nvPr/>
        </p:nvSpPr>
        <p:spPr>
          <a:xfrm>
            <a:off x="640080" y="1920240"/>
            <a:ext cx="384048" cy="384048"/>
          </a:xfrm>
          <a:prstGeom prst="rect">
            <a:avLst/>
          </a:prstGeom>
          <a:noFill/>
          <a:ln/>
        </p:spPr>
        <p:txBody>
          <a:bodyPr wrap="square" lIns="0" tIns="0" rIns="0" bIns="0" rtlCol="0" anchor="ctr"/>
          <a:lstStyle/>
          <a:p>
            <a:pPr algn="ctr" indent="0" marL="0">
              <a:buNone/>
            </a:pPr>
            <a:r>
              <a:rPr lang="en-US" sz="1100" b="1" dirty="0">
                <a:solidFill>
                  <a:srgbClr val="0F2A25"/>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1188720" y="1901952"/>
            <a:ext cx="4846320" cy="548640"/>
          </a:xfrm>
          <a:prstGeom prst="rect">
            <a:avLst/>
          </a:prstGeom>
          <a:noFill/>
          <a:ln/>
        </p:spPr>
        <p:txBody>
          <a:bodyPr wrap="square" lIns="0" tIns="0" rIns="0" bIns="0" rtlCol="0" anchor="ctr"/>
          <a:lstStyle/>
          <a:p>
            <a:pPr indent="0" marL="0">
              <a:lnSpc>
                <a:spcPts val="1800"/>
              </a:lnSpc>
              <a:buNone/>
            </a:pPr>
            <a:r>
              <a:rPr lang="en-US" sz="1300" dirty="0">
                <a:solidFill>
                  <a:srgbClr val="D99B2B"/>
                </a:solidFill>
                <a:latin typeface="Calibri" pitchFamily="34" charset="0"/>
                <a:ea typeface="Calibri" pitchFamily="34" charset="-122"/>
                <a:cs typeface="Calibri" pitchFamily="34" charset="-120"/>
              </a:rPr>
              <a:t>Dónde vive el socio con green card, y quién capta en México</a:t>
            </a:r>
            <a:endParaRPr lang="en-US" sz="1300" dirty="0"/>
          </a:p>
        </p:txBody>
      </p:sp>
      <p:sp>
        <p:nvSpPr>
          <p:cNvPr id="7" name="Shape 5"/>
          <p:cNvSpPr/>
          <p:nvPr/>
        </p:nvSpPr>
        <p:spPr>
          <a:xfrm>
            <a:off x="6263640" y="1920240"/>
            <a:ext cx="384048" cy="384048"/>
          </a:xfrm>
          <a:prstGeom prst="ellipse">
            <a:avLst/>
          </a:prstGeom>
          <a:solidFill>
            <a:srgbClr val="1B4D42"/>
          </a:solidFill>
          <a:ln/>
        </p:spPr>
      </p:sp>
      <p:sp>
        <p:nvSpPr>
          <p:cNvPr id="8" name="Text 6"/>
          <p:cNvSpPr txBox="1"/>
          <p:nvPr/>
        </p:nvSpPr>
        <p:spPr>
          <a:xfrm>
            <a:off x="6263640" y="19202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6812280" y="1901952"/>
            <a:ext cx="4846320" cy="548640"/>
          </a:xfrm>
          <a:prstGeom prst="rect">
            <a:avLst/>
          </a:prstGeom>
          <a:noFill/>
          <a:ln/>
        </p:spPr>
        <p:txBody>
          <a:bodyPr wrap="square" lIns="0" tIns="0" rIns="0" bIns="0" rtlCol="0" anchor="ctr"/>
          <a:lstStyle/>
          <a:p>
            <a:pPr indent="0" marL="0">
              <a:lnSpc>
                <a:spcPts val="1800"/>
              </a:lnSpc>
              <a:buNone/>
            </a:pPr>
            <a:r>
              <a:rPr lang="en-US" sz="1300" dirty="0">
                <a:solidFill>
                  <a:srgbClr val="E9F0EC"/>
                </a:solidFill>
                <a:latin typeface="Calibri" pitchFamily="34" charset="0"/>
                <a:ea typeface="Calibri" pitchFamily="34" charset="-122"/>
                <a:cs typeface="Calibri" pitchFamily="34" charset="-120"/>
              </a:rPr>
              <a:t>Nombre y marca, que funcione en los tres mercados y en inglés</a:t>
            </a:r>
            <a:endParaRPr lang="en-US" sz="1300" dirty="0"/>
          </a:p>
        </p:txBody>
      </p:sp>
      <p:sp>
        <p:nvSpPr>
          <p:cNvPr id="10" name="Shape 8"/>
          <p:cNvSpPr/>
          <p:nvPr/>
        </p:nvSpPr>
        <p:spPr>
          <a:xfrm>
            <a:off x="640080" y="2761488"/>
            <a:ext cx="384048" cy="384048"/>
          </a:xfrm>
          <a:prstGeom prst="ellipse">
            <a:avLst/>
          </a:prstGeom>
          <a:solidFill>
            <a:srgbClr val="1B4D42"/>
          </a:solidFill>
          <a:ln/>
        </p:spPr>
      </p:sp>
      <p:sp>
        <p:nvSpPr>
          <p:cNvPr id="11" name="Text 9"/>
          <p:cNvSpPr txBox="1"/>
          <p:nvPr/>
        </p:nvSpPr>
        <p:spPr>
          <a:xfrm>
            <a:off x="640080" y="276148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1188720" y="2743200"/>
            <a:ext cx="4846320" cy="548640"/>
          </a:xfrm>
          <a:prstGeom prst="rect">
            <a:avLst/>
          </a:prstGeom>
          <a:noFill/>
          <a:ln/>
        </p:spPr>
        <p:txBody>
          <a:bodyPr wrap="square" lIns="0" tIns="0" rIns="0" bIns="0" rtlCol="0" anchor="ctr"/>
          <a:lstStyle/>
          <a:p>
            <a:pPr indent="0" marL="0">
              <a:lnSpc>
                <a:spcPts val="1800"/>
              </a:lnSpc>
              <a:buNone/>
            </a:pPr>
            <a:r>
              <a:rPr lang="en-US" sz="1300" dirty="0">
                <a:solidFill>
                  <a:srgbClr val="E9F0EC"/>
                </a:solidFill>
                <a:latin typeface="Calibri" pitchFamily="34" charset="0"/>
                <a:ea typeface="Calibri" pitchFamily="34" charset="-122"/>
                <a:cs typeface="Calibri" pitchFamily="34" charset="-120"/>
              </a:rPr>
              <a:t>Estado de constitución de la LLC — Florida por defecto</a:t>
            </a:r>
            <a:endParaRPr lang="en-US" sz="1300" dirty="0"/>
          </a:p>
        </p:txBody>
      </p:sp>
      <p:sp>
        <p:nvSpPr>
          <p:cNvPr id="13" name="Shape 11"/>
          <p:cNvSpPr/>
          <p:nvPr/>
        </p:nvSpPr>
        <p:spPr>
          <a:xfrm>
            <a:off x="6263640" y="2761488"/>
            <a:ext cx="384048" cy="384048"/>
          </a:xfrm>
          <a:prstGeom prst="ellipse">
            <a:avLst/>
          </a:prstGeom>
          <a:solidFill>
            <a:srgbClr val="1B4D42"/>
          </a:solidFill>
          <a:ln/>
        </p:spPr>
      </p:sp>
      <p:sp>
        <p:nvSpPr>
          <p:cNvPr id="14" name="Text 12"/>
          <p:cNvSpPr txBox="1"/>
          <p:nvPr/>
        </p:nvSpPr>
        <p:spPr>
          <a:xfrm>
            <a:off x="6263640" y="276148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6812280" y="2743200"/>
            <a:ext cx="4846320" cy="548640"/>
          </a:xfrm>
          <a:prstGeom prst="rect">
            <a:avLst/>
          </a:prstGeom>
          <a:noFill/>
          <a:ln/>
        </p:spPr>
        <p:txBody>
          <a:bodyPr wrap="square" lIns="0" tIns="0" rIns="0" bIns="0" rtlCol="0" anchor="ctr"/>
          <a:lstStyle/>
          <a:p>
            <a:pPr indent="0" marL="0">
              <a:lnSpc>
                <a:spcPts val="1800"/>
              </a:lnSpc>
              <a:buNone/>
            </a:pPr>
            <a:r>
              <a:rPr lang="en-US" sz="1300" dirty="0">
                <a:solidFill>
                  <a:srgbClr val="E9F0EC"/>
                </a:solidFill>
                <a:latin typeface="Calibri" pitchFamily="34" charset="0"/>
                <a:ea typeface="Calibri" pitchFamily="34" charset="-122"/>
                <a:cs typeface="Calibri" pitchFamily="34" charset="-120"/>
              </a:rPr>
              <a:t>Opción A u Opción B, y con qué cifra se dispara la conversión</a:t>
            </a:r>
            <a:endParaRPr lang="en-US" sz="1300" dirty="0"/>
          </a:p>
        </p:txBody>
      </p:sp>
      <p:sp>
        <p:nvSpPr>
          <p:cNvPr id="16" name="Shape 14"/>
          <p:cNvSpPr/>
          <p:nvPr/>
        </p:nvSpPr>
        <p:spPr>
          <a:xfrm>
            <a:off x="640080" y="3602736"/>
            <a:ext cx="384048" cy="384048"/>
          </a:xfrm>
          <a:prstGeom prst="ellipse">
            <a:avLst/>
          </a:prstGeom>
          <a:solidFill>
            <a:srgbClr val="1B4D42"/>
          </a:solidFill>
          <a:ln/>
        </p:spPr>
      </p:sp>
      <p:sp>
        <p:nvSpPr>
          <p:cNvPr id="17" name="Text 15"/>
          <p:cNvSpPr txBox="1"/>
          <p:nvPr/>
        </p:nvSpPr>
        <p:spPr>
          <a:xfrm>
            <a:off x="640080" y="360273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8" name="Text 16"/>
          <p:cNvSpPr txBox="1"/>
          <p:nvPr/>
        </p:nvSpPr>
        <p:spPr>
          <a:xfrm>
            <a:off x="1188720" y="3584448"/>
            <a:ext cx="4846320" cy="548640"/>
          </a:xfrm>
          <a:prstGeom prst="rect">
            <a:avLst/>
          </a:prstGeom>
          <a:noFill/>
          <a:ln/>
        </p:spPr>
        <p:txBody>
          <a:bodyPr wrap="square" lIns="0" tIns="0" rIns="0" bIns="0" rtlCol="0" anchor="ctr"/>
          <a:lstStyle/>
          <a:p>
            <a:pPr indent="0" marL="0">
              <a:lnSpc>
                <a:spcPts val="1800"/>
              </a:lnSpc>
              <a:buNone/>
            </a:pPr>
            <a:r>
              <a:rPr lang="en-US" sz="1300" dirty="0">
                <a:solidFill>
                  <a:srgbClr val="E9F0EC"/>
                </a:solidFill>
                <a:latin typeface="Calibri" pitchFamily="34" charset="0"/>
                <a:ea typeface="Calibri" pitchFamily="34" charset="-122"/>
                <a:cs typeface="Calibri" pitchFamily="34" charset="-120"/>
              </a:rPr>
              <a:t>Cuánto pone cada uno, y si entra como capital o como préstamo</a:t>
            </a:r>
            <a:endParaRPr lang="en-US" sz="1300" dirty="0"/>
          </a:p>
        </p:txBody>
      </p:sp>
      <p:sp>
        <p:nvSpPr>
          <p:cNvPr id="19" name="Shape 17"/>
          <p:cNvSpPr/>
          <p:nvPr/>
        </p:nvSpPr>
        <p:spPr>
          <a:xfrm>
            <a:off x="6263640" y="3602736"/>
            <a:ext cx="384048" cy="384048"/>
          </a:xfrm>
          <a:prstGeom prst="ellipse">
            <a:avLst/>
          </a:prstGeom>
          <a:solidFill>
            <a:srgbClr val="1B4D42"/>
          </a:solidFill>
          <a:ln/>
        </p:spPr>
      </p:sp>
      <p:sp>
        <p:nvSpPr>
          <p:cNvPr id="20" name="Text 18"/>
          <p:cNvSpPr txBox="1"/>
          <p:nvPr/>
        </p:nvSpPr>
        <p:spPr>
          <a:xfrm>
            <a:off x="6263640" y="360273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1" name="Text 19"/>
          <p:cNvSpPr txBox="1"/>
          <p:nvPr/>
        </p:nvSpPr>
        <p:spPr>
          <a:xfrm>
            <a:off x="6812280" y="3584448"/>
            <a:ext cx="4846320" cy="548640"/>
          </a:xfrm>
          <a:prstGeom prst="rect">
            <a:avLst/>
          </a:prstGeom>
          <a:noFill/>
          <a:ln/>
        </p:spPr>
        <p:txBody>
          <a:bodyPr wrap="square" lIns="0" tIns="0" rIns="0" bIns="0" rtlCol="0" anchor="ctr"/>
          <a:lstStyle/>
          <a:p>
            <a:pPr indent="0" marL="0">
              <a:lnSpc>
                <a:spcPts val="1800"/>
              </a:lnSpc>
              <a:buNone/>
            </a:pPr>
            <a:r>
              <a:rPr lang="en-US" sz="1300" dirty="0">
                <a:solidFill>
                  <a:srgbClr val="E9F0EC"/>
                </a:solidFill>
                <a:latin typeface="Calibri" pitchFamily="34" charset="0"/>
                <a:ea typeface="Calibri" pitchFamily="34" charset="-122"/>
                <a:cs typeface="Calibri" pitchFamily="34" charset="-120"/>
              </a:rPr>
              <a:t>Horas semanales reales de cada uno, dichas en voz alta</a:t>
            </a:r>
            <a:endParaRPr lang="en-US" sz="1300" dirty="0"/>
          </a:p>
        </p:txBody>
      </p:sp>
      <p:sp>
        <p:nvSpPr>
          <p:cNvPr id="22" name="Shape 20"/>
          <p:cNvSpPr/>
          <p:nvPr/>
        </p:nvSpPr>
        <p:spPr>
          <a:xfrm>
            <a:off x="640080" y="4443984"/>
            <a:ext cx="384048" cy="384048"/>
          </a:xfrm>
          <a:prstGeom prst="ellipse">
            <a:avLst/>
          </a:prstGeom>
          <a:solidFill>
            <a:srgbClr val="1B4D42"/>
          </a:solidFill>
          <a:ln/>
        </p:spPr>
      </p:sp>
      <p:sp>
        <p:nvSpPr>
          <p:cNvPr id="23" name="Text 21"/>
          <p:cNvSpPr txBox="1"/>
          <p:nvPr/>
        </p:nvSpPr>
        <p:spPr>
          <a:xfrm>
            <a:off x="640080" y="444398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4" name="Text 22"/>
          <p:cNvSpPr txBox="1"/>
          <p:nvPr/>
        </p:nvSpPr>
        <p:spPr>
          <a:xfrm>
            <a:off x="1188720" y="4425696"/>
            <a:ext cx="4846320" cy="548640"/>
          </a:xfrm>
          <a:prstGeom prst="rect">
            <a:avLst/>
          </a:prstGeom>
          <a:noFill/>
          <a:ln/>
        </p:spPr>
        <p:txBody>
          <a:bodyPr wrap="square" lIns="0" tIns="0" rIns="0" bIns="0" rtlCol="0" anchor="ctr"/>
          <a:lstStyle/>
          <a:p>
            <a:pPr indent="0" marL="0">
              <a:lnSpc>
                <a:spcPts val="1800"/>
              </a:lnSpc>
              <a:buNone/>
            </a:pPr>
            <a:r>
              <a:rPr lang="en-US" sz="1300" dirty="0">
                <a:solidFill>
                  <a:srgbClr val="E9F0EC"/>
                </a:solidFill>
                <a:latin typeface="Calibri" pitchFamily="34" charset="0"/>
                <a:ea typeface="Calibri" pitchFamily="34" charset="-122"/>
                <a:cs typeface="Calibri" pitchFamily="34" charset="-120"/>
              </a:rPr>
              <a:t>Si el 25 % de prima de originación nos cuadra a los tres</a:t>
            </a:r>
            <a:endParaRPr lang="en-US" sz="1300" dirty="0"/>
          </a:p>
        </p:txBody>
      </p:sp>
      <p:sp>
        <p:nvSpPr>
          <p:cNvPr id="25" name="Shape 23"/>
          <p:cNvSpPr/>
          <p:nvPr/>
        </p:nvSpPr>
        <p:spPr>
          <a:xfrm>
            <a:off x="6263640" y="4443984"/>
            <a:ext cx="384048" cy="384048"/>
          </a:xfrm>
          <a:prstGeom prst="ellipse">
            <a:avLst/>
          </a:prstGeom>
          <a:solidFill>
            <a:srgbClr val="1B4D42"/>
          </a:solidFill>
          <a:ln/>
        </p:spPr>
      </p:sp>
      <p:sp>
        <p:nvSpPr>
          <p:cNvPr id="26" name="Text 24"/>
          <p:cNvSpPr txBox="1"/>
          <p:nvPr/>
        </p:nvSpPr>
        <p:spPr>
          <a:xfrm>
            <a:off x="6263640" y="444398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7" name="Text 25"/>
          <p:cNvSpPr txBox="1"/>
          <p:nvPr/>
        </p:nvSpPr>
        <p:spPr>
          <a:xfrm>
            <a:off x="6812280" y="4425696"/>
            <a:ext cx="4846320" cy="548640"/>
          </a:xfrm>
          <a:prstGeom prst="rect">
            <a:avLst/>
          </a:prstGeom>
          <a:noFill/>
          <a:ln/>
        </p:spPr>
        <p:txBody>
          <a:bodyPr wrap="square" lIns="0" tIns="0" rIns="0" bIns="0" rtlCol="0" anchor="ctr"/>
          <a:lstStyle/>
          <a:p>
            <a:pPr indent="0" marL="0">
              <a:lnSpc>
                <a:spcPts val="1800"/>
              </a:lnSpc>
              <a:buNone/>
            </a:pPr>
            <a:r>
              <a:rPr lang="en-US" sz="1300" dirty="0">
                <a:solidFill>
                  <a:srgbClr val="E9F0EC"/>
                </a:solidFill>
                <a:latin typeface="Calibri" pitchFamily="34" charset="0"/>
                <a:ea typeface="Calibri" pitchFamily="34" charset="-122"/>
                <a:cs typeface="Calibri" pitchFamily="34" charset="-120"/>
              </a:rPr>
              <a:t>Presupuesto de publicidad del primer semestre y quién lo opera</a:t>
            </a:r>
            <a:endParaRPr lang="en-US" sz="1300" dirty="0"/>
          </a:p>
        </p:txBody>
      </p:sp>
      <p:sp>
        <p:nvSpPr>
          <p:cNvPr id="28" name="Shape 26"/>
          <p:cNvSpPr/>
          <p:nvPr/>
        </p:nvSpPr>
        <p:spPr>
          <a:xfrm>
            <a:off x="640080" y="5742432"/>
            <a:ext cx="10911535" cy="0"/>
          </a:xfrm>
          <a:prstGeom prst="line">
            <a:avLst/>
          </a:prstGeom>
          <a:noFill/>
          <a:ln w="19050">
            <a:solidFill>
              <a:srgbClr val="1B4D42"/>
            </a:solidFill>
            <a:prstDash val="solid"/>
          </a:ln>
        </p:spPr>
      </p:sp>
      <p:sp>
        <p:nvSpPr>
          <p:cNvPr id="29" name="Text 27"/>
          <p:cNvSpPr txBox="1"/>
          <p:nvPr/>
        </p:nvSpPr>
        <p:spPr>
          <a:xfrm>
            <a:off x="640080" y="5897880"/>
            <a:ext cx="10881360" cy="365760"/>
          </a:xfrm>
          <a:prstGeom prst="rect">
            <a:avLst/>
          </a:prstGeom>
          <a:noFill/>
          <a:ln/>
        </p:spPr>
        <p:txBody>
          <a:bodyPr wrap="square" lIns="0" tIns="0" rIns="0" bIns="0" rtlCol="0" anchor="ctr"/>
          <a:lstStyle/>
          <a:p>
            <a:pPr indent="0" marL="0">
              <a:buNone/>
            </a:pPr>
            <a:r>
              <a:rPr lang="en-US" sz="1300" i="1" dirty="0">
                <a:solidFill>
                  <a:srgbClr val="6FA593"/>
                </a:solidFill>
                <a:latin typeface="Calibri" pitchFamily="34" charset="0"/>
                <a:ea typeface="Calibri" pitchFamily="34" charset="-122"/>
                <a:cs typeface="Calibri" pitchFamily="34" charset="-120"/>
              </a:rPr>
              <a:t>Todo lo demás ya está escrito en el plan. Esto es lo único que no puedo decidir yo solo.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fundacional — agencia de estudiantes internacionales</dc:title>
  <dc:subject>PptxGenJS Presentation</dc:subject>
  <dc:creator>Vía Norte</dc:creator>
  <cp:lastModifiedBy>Vía Norte</cp:lastModifiedBy>
  <cp:revision>1</cp:revision>
  <dcterms:created xsi:type="dcterms:W3CDTF">2026-09-05T18:01:20Z</dcterms:created>
  <dcterms:modified xsi:type="dcterms:W3CDTF">2026-09-05T18:01:20Z</dcterms:modified>
</cp:coreProperties>
</file>